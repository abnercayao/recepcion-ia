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informe ético-regulatorio del sistema Recepción-IA. El informe evalúa un agente conversacional que atiende el primer contacto de pacientes de clínicas dentales y estéticas por WhatsApp y por llamada telefónica. Aclaración de partida: el sistema está diseñado y especificado, no implementado.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sistema fue concebido como herramienta comercial, pero el inventario de datos demuestra que trata datos sensibles de salud de forma inevitable, y biométricos en cuanto se activa la voz. De este hecho se deriva todo el régimen de cumplimiento. Nota: la organización actúa como encargado del tratamiento; la clínica es titular del banco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marco metodológico del informe, tomado del curso. La lectura práctica: la gobernanza no se diseña contra la ley, se diseña contra el sesgo. La ley es el piso; la gobernanza es lo que convierte ese piso en conducta cotidiana.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sesgos identificados. El dominante es el del reconocimiento del habla, porque convierte un sesgo técnico de selección de datos en un sesgo sistémico de acceso. Por eso proponemos medir la tasa de error por segmento de hablante ANTES del despliegue, no como métrica de seguimiento.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hallazgo más material de este bloque está verificado en la documentación del proveedor: sus términos establecen que las conversaciones son grabadas y pueden compartirse con ellos y con sus proveedores externos de modelos de lenguaje. En un contexto clínico eso significa que la descripción de una dolencia podría alimentar el entrenamiento de terceros. Es la razón de usar Custom LLM y desactivar la retención de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conclusión transversal del análisis de riesgos y la que justifica que la capa de voz tenga su propia auditoría previa.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normas concentran el riesgo legal. El reglamento de datos vigente desde marzo de 2025 y el de IA desde enero de 2026: el proyecto nace bajo el marco nuevo, que es una ventaja porque no hay operación previa que adecuar. Sanciones de 0.5 a 100 UIT: con la UIT 2026 en S/ 5,500, el tope se sitúa en el orden de S/ 550,000 — para un emprendimiento de este tamaño, una sanción grave es la terminación del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gobernanza es la parte donde más nos separamos de los modelos de referencia. Un organigrama de comité en una empresa de dos personas es teatro de gobernanza. Distribuimos la responsabilidad y situamos la supervisión fuera: la clínica aprueba el contenido clínico y es titular de los datos, y hay revisión legal externa.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fases: dos antes del despliegue y dos después. La fase 4 y el muestreo aleatorio de conversaciones aprobadas son el control que rompe la circularidad de usar IA para evaluar IA. Sin ese muestreo, el evaluador converge hacia aprobar sus propios errores sistemáticos.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la postura del equipo. La fluidez del modelo produce una impresión de competencia clínica que no tiene, y la voz agudiza esa confusión: por eso la transparencia no es un requisito formal sino una condición sustantiva del uso legítimo en salud. Existe además una tensión estructural entre la métrica comercial y el interés del paciente, que no se resuelve con una declaración: se contiene con una restricción de diseño.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10725912" cy="274320"/>
          </a:xfrm>
          <a:prstGeom prst="rect">
            <a:avLst/>
          </a:prstGeom>
          <a:noFill/>
          <a:ln/>
        </p:spPr>
        <p:txBody>
          <a:bodyPr wrap="square" lIns="0" tIns="0" rIns="0" bIns="0" rtlCol="0" anchor="t"/>
          <a:lstStyle/>
          <a:p>
            <a:pPr algn="ctr" indent="0" marL="0">
              <a:buNone/>
            </a:pPr>
            <a:r>
              <a:rPr lang="en-US" sz="1300" b="1" spc="100" kern="0" dirty="0">
                <a:solidFill>
                  <a:srgbClr val="17A398"/>
                </a:solidFill>
                <a:latin typeface="Calibri" pitchFamily="34" charset="0"/>
                <a:ea typeface="Calibri" pitchFamily="34" charset="-122"/>
                <a:cs typeface="Calibri" pitchFamily="34" charset="-120"/>
              </a:rPr>
              <a:t>UNIVERSIDAD NACIONAL MAYOR DE SAN MARCOS</a:t>
            </a:r>
            <a:endParaRPr lang="en-US" sz="1300" dirty="0"/>
          </a:p>
        </p:txBody>
      </p:sp>
      <p:sp>
        <p:nvSpPr>
          <p:cNvPr id="3" name="Text 1"/>
          <p:cNvSpPr/>
          <p:nvPr/>
        </p:nvSpPr>
        <p:spPr>
          <a:xfrm>
            <a:off x="731520" y="749808"/>
            <a:ext cx="10725912" cy="274320"/>
          </a:xfrm>
          <a:prstGeom prst="rect">
            <a:avLst/>
          </a:prstGeom>
          <a:noFill/>
          <a:ln/>
        </p:spPr>
        <p:txBody>
          <a:bodyPr wrap="square" lIns="0" tIns="0" rIns="0" bIns="0" rtlCol="0" anchor="t"/>
          <a:lstStyle/>
          <a:p>
            <a:pPr algn="ctr" indent="0" marL="0">
              <a:buNone/>
            </a:pPr>
            <a:r>
              <a:rPr lang="en-US" sz="1150" dirty="0">
                <a:solidFill>
                  <a:srgbClr val="7F7F7F"/>
                </a:solidFill>
                <a:latin typeface="Calibri" pitchFamily="34" charset="0"/>
                <a:ea typeface="Calibri" pitchFamily="34" charset="-122"/>
                <a:cs typeface="Calibri" pitchFamily="34" charset="-120"/>
              </a:rPr>
              <a:t>Maestría de especialización en Inteligencia Artificial para la Administración</a:t>
            </a:r>
            <a:endParaRPr lang="en-US" sz="1150" dirty="0"/>
          </a:p>
        </p:txBody>
      </p:sp>
      <p:sp>
        <p:nvSpPr>
          <p:cNvPr id="4" name="Text 2"/>
          <p:cNvSpPr/>
          <p:nvPr/>
        </p:nvSpPr>
        <p:spPr>
          <a:xfrm>
            <a:off x="731520" y="1417320"/>
            <a:ext cx="10725912" cy="256032"/>
          </a:xfrm>
          <a:prstGeom prst="rect">
            <a:avLst/>
          </a:prstGeom>
          <a:noFill/>
          <a:ln/>
        </p:spPr>
        <p:txBody>
          <a:bodyPr wrap="square" lIns="0" tIns="0" rIns="0" bIns="0" rtlCol="0" anchor="t"/>
          <a:lstStyle/>
          <a:p>
            <a:pPr algn="ctr" indent="0" marL="0">
              <a:buNone/>
            </a:pPr>
            <a:r>
              <a:rPr lang="en-US" sz="1150" b="1" spc="250" kern="0" dirty="0">
                <a:solidFill>
                  <a:srgbClr val="EFA733"/>
                </a:solidFill>
                <a:latin typeface="Calibri" pitchFamily="34" charset="0"/>
                <a:ea typeface="Calibri" pitchFamily="34" charset="-122"/>
                <a:cs typeface="Calibri" pitchFamily="34" charset="-120"/>
              </a:rPr>
              <a:t>SUSTENTACIÓN</a:t>
            </a:r>
            <a:endParaRPr lang="en-US" sz="1150" dirty="0"/>
          </a:p>
        </p:txBody>
      </p:sp>
      <p:sp>
        <p:nvSpPr>
          <p:cNvPr id="5" name="Text 3"/>
          <p:cNvSpPr/>
          <p:nvPr/>
        </p:nvSpPr>
        <p:spPr>
          <a:xfrm>
            <a:off x="731520" y="1737360"/>
            <a:ext cx="10725912" cy="640080"/>
          </a:xfrm>
          <a:prstGeom prst="rect">
            <a:avLst/>
          </a:prstGeom>
          <a:noFill/>
          <a:ln/>
        </p:spPr>
        <p:txBody>
          <a:bodyPr wrap="square" lIns="0" tIns="0" rIns="0" bIns="0" rtlCol="0" anchor="t"/>
          <a:lstStyle/>
          <a:p>
            <a:pPr algn="ctr" indent="0" marL="0">
              <a:buNone/>
            </a:pPr>
            <a:r>
              <a:rPr lang="en-US" sz="4000" b="1" dirty="0">
                <a:solidFill>
                  <a:srgbClr val="3F3F3F"/>
                </a:solidFill>
                <a:latin typeface="Calibri" pitchFamily="34" charset="0"/>
                <a:ea typeface="Calibri" pitchFamily="34" charset="-122"/>
                <a:cs typeface="Calibri" pitchFamily="34" charset="-120"/>
              </a:rPr>
              <a:t>INFORME ÉTICO-REGULATORIO</a:t>
            </a:r>
            <a:endParaRPr lang="en-US" sz="4000" dirty="0"/>
          </a:p>
        </p:txBody>
      </p:sp>
      <p:sp>
        <p:nvSpPr>
          <p:cNvPr id="6" name="Text 4"/>
          <p:cNvSpPr/>
          <p:nvPr/>
        </p:nvSpPr>
        <p:spPr>
          <a:xfrm>
            <a:off x="1280160" y="2395728"/>
            <a:ext cx="9628632" cy="685800"/>
          </a:xfrm>
          <a:prstGeom prst="rect">
            <a:avLst/>
          </a:prstGeom>
          <a:noFill/>
          <a:ln/>
        </p:spPr>
        <p:txBody>
          <a:bodyPr wrap="square" lIns="0" tIns="0" rIns="0" bIns="0" rtlCol="0" anchor="t"/>
          <a:lstStyle/>
          <a:p>
            <a:pPr algn="ctr" indent="0" marL="0">
              <a:lnSpc>
                <a:spcPts val="2200"/>
              </a:lnSpc>
              <a:buNone/>
            </a:pPr>
            <a:r>
              <a:rPr lang="en-US" sz="1400" i="1" dirty="0">
                <a:solidFill>
                  <a:srgbClr val="5A5A5A"/>
                </a:solidFill>
                <a:latin typeface="Calibri" pitchFamily="34" charset="0"/>
                <a:ea typeface="Calibri" pitchFamily="34" charset="-122"/>
                <a:cs typeface="Calibri" pitchFamily="34" charset="-120"/>
              </a:rPr>
              <a:t>Sistema Recepción-IA  ·  agente conversacional multicanal con IA generativa</a:t>
            </a:r>
            <a:endParaRPr lang="en-US" sz="1400" dirty="0"/>
          </a:p>
          <a:p>
            <a:pPr algn="ctr" indent="0" marL="0">
              <a:lnSpc>
                <a:spcPts val="2200"/>
              </a:lnSpc>
              <a:buNone/>
            </a:pPr>
            <a:r>
              <a:rPr lang="en-US" sz="1400" i="1" dirty="0">
                <a:solidFill>
                  <a:srgbClr val="5A5A5A"/>
                </a:solidFill>
                <a:latin typeface="Calibri" pitchFamily="34" charset="0"/>
                <a:ea typeface="Calibri" pitchFamily="34" charset="-122"/>
                <a:cs typeface="Calibri" pitchFamily="34" charset="-120"/>
              </a:rPr>
              <a:t>para clínicas dentales y de medicina estética</a:t>
            </a:r>
            <a:endParaRPr lang="en-US" sz="1400" dirty="0"/>
          </a:p>
        </p:txBody>
      </p:sp>
      <p:sp>
        <p:nvSpPr>
          <p:cNvPr id="7" name="Shape 5"/>
          <p:cNvSpPr/>
          <p:nvPr/>
        </p:nvSpPr>
        <p:spPr>
          <a:xfrm>
            <a:off x="2665476" y="3310128"/>
            <a:ext cx="1874520" cy="128016"/>
          </a:xfrm>
          <a:prstGeom prst="roundRect">
            <a:avLst>
              <a:gd name="adj" fmla="val 50000"/>
            </a:avLst>
          </a:prstGeom>
          <a:solidFill>
            <a:srgbClr val="17A398"/>
          </a:solidFill>
          <a:ln/>
        </p:spPr>
      </p:sp>
      <p:sp>
        <p:nvSpPr>
          <p:cNvPr id="8" name="Shape 6"/>
          <p:cNvSpPr/>
          <p:nvPr/>
        </p:nvSpPr>
        <p:spPr>
          <a:xfrm>
            <a:off x="4631436" y="3310128"/>
            <a:ext cx="1417320" cy="128016"/>
          </a:xfrm>
          <a:prstGeom prst="roundRect">
            <a:avLst>
              <a:gd name="adj" fmla="val 50000"/>
            </a:avLst>
          </a:prstGeom>
          <a:solidFill>
            <a:srgbClr val="EFA733"/>
          </a:solidFill>
          <a:ln/>
        </p:spPr>
      </p:sp>
      <p:sp>
        <p:nvSpPr>
          <p:cNvPr id="9" name="Shape 7"/>
          <p:cNvSpPr/>
          <p:nvPr/>
        </p:nvSpPr>
        <p:spPr>
          <a:xfrm>
            <a:off x="6140196" y="3310128"/>
            <a:ext cx="1417320" cy="128016"/>
          </a:xfrm>
          <a:prstGeom prst="roundRect">
            <a:avLst>
              <a:gd name="adj" fmla="val 50000"/>
            </a:avLst>
          </a:prstGeom>
          <a:solidFill>
            <a:srgbClr val="C0453D"/>
          </a:solidFill>
          <a:ln/>
        </p:spPr>
      </p:sp>
      <p:sp>
        <p:nvSpPr>
          <p:cNvPr id="10" name="Shape 8"/>
          <p:cNvSpPr/>
          <p:nvPr/>
        </p:nvSpPr>
        <p:spPr>
          <a:xfrm>
            <a:off x="7648956" y="3310128"/>
            <a:ext cx="1874520" cy="128016"/>
          </a:xfrm>
          <a:prstGeom prst="roundRect">
            <a:avLst>
              <a:gd name="adj" fmla="val 50000"/>
            </a:avLst>
          </a:prstGeom>
          <a:solidFill>
            <a:srgbClr val="8DC03F"/>
          </a:solidFill>
          <a:ln/>
        </p:spPr>
      </p:sp>
      <p:sp>
        <p:nvSpPr>
          <p:cNvPr id="11" name="Text 9"/>
          <p:cNvSpPr/>
          <p:nvPr/>
        </p:nvSpPr>
        <p:spPr>
          <a:xfrm>
            <a:off x="1234440" y="3931920"/>
            <a:ext cx="4572000" cy="228600"/>
          </a:xfrm>
          <a:prstGeom prst="rect">
            <a:avLst/>
          </a:prstGeom>
          <a:noFill/>
          <a:ln/>
        </p:spPr>
        <p:txBody>
          <a:bodyPr wrap="square" lIns="0" tIns="0" rIns="0" bIns="0" rtlCol="0" anchor="t"/>
          <a:lstStyle/>
          <a:p>
            <a:pPr indent="0" marL="0">
              <a:buNone/>
            </a:pPr>
            <a:r>
              <a:rPr lang="en-US" sz="1050" b="1" spc="120" kern="0" dirty="0">
                <a:solidFill>
                  <a:srgbClr val="17A398"/>
                </a:solidFill>
                <a:latin typeface="Calibri" pitchFamily="34" charset="0"/>
                <a:ea typeface="Calibri" pitchFamily="34" charset="-122"/>
                <a:cs typeface="Calibri" pitchFamily="34" charset="-120"/>
              </a:rPr>
              <a:t>Curso</a:t>
            </a:r>
            <a:endParaRPr lang="en-US" sz="1050" dirty="0"/>
          </a:p>
        </p:txBody>
      </p:sp>
      <p:sp>
        <p:nvSpPr>
          <p:cNvPr id="12" name="Text 10"/>
          <p:cNvSpPr/>
          <p:nvPr/>
        </p:nvSpPr>
        <p:spPr>
          <a:xfrm>
            <a:off x="1234440" y="4169664"/>
            <a:ext cx="4572000" cy="274320"/>
          </a:xfrm>
          <a:prstGeom prst="rect">
            <a:avLst/>
          </a:prstGeom>
          <a:noFill/>
          <a:ln/>
        </p:spPr>
        <p:txBody>
          <a:bodyPr wrap="square" lIns="0" tIns="0" rIns="0" bIns="0" rtlCol="0" anchor="t"/>
          <a:lstStyle/>
          <a:p>
            <a:pPr indent="0" marL="0">
              <a:buNone/>
            </a:pPr>
            <a:r>
              <a:rPr lang="en-US" sz="1300" dirty="0">
                <a:solidFill>
                  <a:srgbClr val="3F3F3F"/>
                </a:solidFill>
                <a:latin typeface="Calibri" pitchFamily="34" charset="0"/>
                <a:ea typeface="Calibri" pitchFamily="34" charset="-122"/>
                <a:cs typeface="Calibri" pitchFamily="34" charset="-120"/>
              </a:rPr>
              <a:t>IA Generativa para la Toma de Decisiones</a:t>
            </a:r>
            <a:endParaRPr lang="en-US" sz="1300" dirty="0"/>
          </a:p>
        </p:txBody>
      </p:sp>
      <p:sp>
        <p:nvSpPr>
          <p:cNvPr id="13" name="Text 11"/>
          <p:cNvSpPr/>
          <p:nvPr/>
        </p:nvSpPr>
        <p:spPr>
          <a:xfrm>
            <a:off x="6172200" y="3931920"/>
            <a:ext cx="4572000" cy="228600"/>
          </a:xfrm>
          <a:prstGeom prst="rect">
            <a:avLst/>
          </a:prstGeom>
          <a:noFill/>
          <a:ln/>
        </p:spPr>
        <p:txBody>
          <a:bodyPr wrap="square" lIns="0" tIns="0" rIns="0" bIns="0" rtlCol="0" anchor="t"/>
          <a:lstStyle/>
          <a:p>
            <a:pPr indent="0" marL="0">
              <a:buNone/>
            </a:pPr>
            <a:r>
              <a:rPr lang="en-US" sz="1050" b="1" spc="120" kern="0" dirty="0">
                <a:solidFill>
                  <a:srgbClr val="17A398"/>
                </a:solidFill>
                <a:latin typeface="Calibri" pitchFamily="34" charset="0"/>
                <a:ea typeface="Calibri" pitchFamily="34" charset="-122"/>
                <a:cs typeface="Calibri" pitchFamily="34" charset="-120"/>
              </a:rPr>
              <a:t>Docente</a:t>
            </a:r>
            <a:endParaRPr lang="en-US" sz="1050" dirty="0"/>
          </a:p>
        </p:txBody>
      </p:sp>
      <p:sp>
        <p:nvSpPr>
          <p:cNvPr id="14" name="Text 12"/>
          <p:cNvSpPr/>
          <p:nvPr/>
        </p:nvSpPr>
        <p:spPr>
          <a:xfrm>
            <a:off x="6172200" y="4169664"/>
            <a:ext cx="4572000" cy="274320"/>
          </a:xfrm>
          <a:prstGeom prst="rect">
            <a:avLst/>
          </a:prstGeom>
          <a:noFill/>
          <a:ln/>
        </p:spPr>
        <p:txBody>
          <a:bodyPr wrap="square" lIns="0" tIns="0" rIns="0" bIns="0" rtlCol="0" anchor="t"/>
          <a:lstStyle/>
          <a:p>
            <a:pPr indent="0" marL="0">
              <a:buNone/>
            </a:pPr>
            <a:r>
              <a:rPr lang="en-US" sz="1300" dirty="0">
                <a:solidFill>
                  <a:srgbClr val="3F3F3F"/>
                </a:solidFill>
                <a:latin typeface="Calibri" pitchFamily="34" charset="0"/>
                <a:ea typeface="Calibri" pitchFamily="34" charset="-122"/>
                <a:cs typeface="Calibri" pitchFamily="34" charset="-120"/>
              </a:rPr>
              <a:t>Victor Cadenas</a:t>
            </a:r>
            <a:endParaRPr lang="en-US" sz="1300" dirty="0"/>
          </a:p>
        </p:txBody>
      </p:sp>
      <p:sp>
        <p:nvSpPr>
          <p:cNvPr id="15" name="Text 13"/>
          <p:cNvSpPr/>
          <p:nvPr/>
        </p:nvSpPr>
        <p:spPr>
          <a:xfrm>
            <a:off x="1234440" y="4754880"/>
            <a:ext cx="9692640" cy="228600"/>
          </a:xfrm>
          <a:prstGeom prst="rect">
            <a:avLst/>
          </a:prstGeom>
          <a:noFill/>
          <a:ln/>
        </p:spPr>
        <p:txBody>
          <a:bodyPr wrap="square" lIns="0" tIns="0" rIns="0" bIns="0" rtlCol="0" anchor="t"/>
          <a:lstStyle/>
          <a:p>
            <a:pPr indent="0" marL="0">
              <a:buNone/>
            </a:pPr>
            <a:r>
              <a:rPr lang="en-US" sz="1050" b="1" spc="120" kern="0" dirty="0">
                <a:solidFill>
                  <a:srgbClr val="17A398"/>
                </a:solidFill>
                <a:latin typeface="Calibri" pitchFamily="34" charset="0"/>
                <a:ea typeface="Calibri" pitchFamily="34" charset="-122"/>
                <a:cs typeface="Calibri" pitchFamily="34" charset="-120"/>
              </a:rPr>
              <a:t>Integrantes</a:t>
            </a:r>
            <a:endParaRPr lang="en-US" sz="1050" dirty="0"/>
          </a:p>
        </p:txBody>
      </p:sp>
      <p:sp>
        <p:nvSpPr>
          <p:cNvPr id="16" name="Text 14"/>
          <p:cNvSpPr/>
          <p:nvPr/>
        </p:nvSpPr>
        <p:spPr>
          <a:xfrm>
            <a:off x="1234440" y="4992624"/>
            <a:ext cx="4572000" cy="274320"/>
          </a:xfrm>
          <a:prstGeom prst="rect">
            <a:avLst/>
          </a:prstGeom>
          <a:noFill/>
          <a:ln/>
        </p:spPr>
        <p:txBody>
          <a:bodyPr wrap="square" lIns="0" tIns="0" rIns="0" bIns="0" rtlCol="0" anchor="t"/>
          <a:lstStyle/>
          <a:p>
            <a:pPr indent="0" marL="0">
              <a:buNone/>
            </a:pPr>
            <a:r>
              <a:rPr lang="en-US" sz="1300" dirty="0">
                <a:solidFill>
                  <a:srgbClr val="3F3F3F"/>
                </a:solidFill>
                <a:latin typeface="Calibri" pitchFamily="34" charset="0"/>
                <a:ea typeface="Calibri" pitchFamily="34" charset="-122"/>
                <a:cs typeface="Calibri" pitchFamily="34" charset="-120"/>
              </a:rPr>
              <a:t>Auccapuclla Garcia, Chirstiann Miguel</a:t>
            </a:r>
            <a:endParaRPr lang="en-US" sz="1300" dirty="0"/>
          </a:p>
        </p:txBody>
      </p:sp>
      <p:sp>
        <p:nvSpPr>
          <p:cNvPr id="17" name="Text 15"/>
          <p:cNvSpPr/>
          <p:nvPr/>
        </p:nvSpPr>
        <p:spPr>
          <a:xfrm>
            <a:off x="6172200" y="4992624"/>
            <a:ext cx="4572000" cy="274320"/>
          </a:xfrm>
          <a:prstGeom prst="rect">
            <a:avLst/>
          </a:prstGeom>
          <a:noFill/>
          <a:ln/>
        </p:spPr>
        <p:txBody>
          <a:bodyPr wrap="square" lIns="0" tIns="0" rIns="0" bIns="0" rtlCol="0" anchor="t"/>
          <a:lstStyle/>
          <a:p>
            <a:pPr indent="0" marL="0">
              <a:buNone/>
            </a:pPr>
            <a:r>
              <a:rPr lang="en-US" sz="1300" dirty="0">
                <a:solidFill>
                  <a:srgbClr val="3F3F3F"/>
                </a:solidFill>
                <a:latin typeface="Calibri" pitchFamily="34" charset="0"/>
                <a:ea typeface="Calibri" pitchFamily="34" charset="-122"/>
                <a:cs typeface="Calibri" pitchFamily="34" charset="-120"/>
              </a:rPr>
              <a:t>Cayao Fernández, Abner</a:t>
            </a:r>
            <a:endParaRPr lang="en-US" sz="1300" dirty="0"/>
          </a:p>
        </p:txBody>
      </p:sp>
      <p:sp>
        <p:nvSpPr>
          <p:cNvPr id="18" name="Shape 16"/>
          <p:cNvSpPr/>
          <p:nvPr/>
        </p:nvSpPr>
        <p:spPr>
          <a:xfrm>
            <a:off x="1234440" y="5943600"/>
            <a:ext cx="9720072" cy="14630"/>
          </a:xfrm>
          <a:prstGeom prst="rect">
            <a:avLst/>
          </a:prstGeom>
          <a:solidFill>
            <a:srgbClr val="C9C9C9"/>
          </a:solidFill>
          <a:ln/>
        </p:spPr>
      </p:sp>
      <p:sp>
        <p:nvSpPr>
          <p:cNvPr id="19" name="Text 17"/>
          <p:cNvSpPr/>
          <p:nvPr/>
        </p:nvSpPr>
        <p:spPr>
          <a:xfrm>
            <a:off x="731520" y="6108192"/>
            <a:ext cx="10725912" cy="274320"/>
          </a:xfrm>
          <a:prstGeom prst="rect">
            <a:avLst/>
          </a:prstGeom>
          <a:noFill/>
          <a:ln/>
        </p:spPr>
        <p:txBody>
          <a:bodyPr wrap="square" lIns="0" tIns="0" rIns="0" bIns="0" rtlCol="0" anchor="t"/>
          <a:lstStyle/>
          <a:p>
            <a:pPr algn="ctr" indent="0" marL="0">
              <a:buNone/>
            </a:pPr>
            <a:r>
              <a:rPr lang="en-US" sz="1100" dirty="0">
                <a:solidFill>
                  <a:srgbClr val="7F7F7F"/>
                </a:solidFill>
                <a:latin typeface="Calibri" pitchFamily="34" charset="0"/>
                <a:ea typeface="Calibri" pitchFamily="34" charset="-122"/>
                <a:cs typeface="Calibri" pitchFamily="34" charset="-120"/>
              </a:rPr>
              <a:t>Lima, julio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El sistema evaluado y los datos que procesa</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Shape 2"/>
          <p:cNvSpPr/>
          <p:nvPr/>
        </p:nvSpPr>
        <p:spPr>
          <a:xfrm>
            <a:off x="640080" y="1234440"/>
            <a:ext cx="2926080" cy="566928"/>
          </a:xfrm>
          <a:prstGeom prst="roundRect">
            <a:avLst>
              <a:gd name="adj" fmla="val 12903"/>
            </a:avLst>
          </a:prstGeom>
          <a:solidFill>
            <a:srgbClr val="17A398"/>
          </a:solidFill>
          <a:ln w="12700">
            <a:solidFill>
              <a:srgbClr val="17A398"/>
            </a:solidFill>
            <a:prstDash val="solid"/>
          </a:ln>
        </p:spPr>
      </p:sp>
      <p:sp>
        <p:nvSpPr>
          <p:cNvPr id="5" name="Text 3"/>
          <p:cNvSpPr/>
          <p:nvPr/>
        </p:nvSpPr>
        <p:spPr>
          <a:xfrm>
            <a:off x="640080" y="1234440"/>
            <a:ext cx="292608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WhatsApp  ·  texto</a:t>
            </a:r>
            <a:endParaRPr lang="en-US" sz="1250" dirty="0"/>
          </a:p>
        </p:txBody>
      </p:sp>
      <p:sp>
        <p:nvSpPr>
          <p:cNvPr id="6" name="Shape 4"/>
          <p:cNvSpPr/>
          <p:nvPr/>
        </p:nvSpPr>
        <p:spPr>
          <a:xfrm>
            <a:off x="640080" y="2002536"/>
            <a:ext cx="2926080" cy="566928"/>
          </a:xfrm>
          <a:prstGeom prst="roundRect">
            <a:avLst>
              <a:gd name="adj" fmla="val 12903"/>
            </a:avLst>
          </a:prstGeom>
          <a:solidFill>
            <a:srgbClr val="EFA733"/>
          </a:solidFill>
          <a:ln w="12700">
            <a:solidFill>
              <a:srgbClr val="EFA733"/>
            </a:solidFill>
            <a:prstDash val="solid"/>
          </a:ln>
        </p:spPr>
      </p:sp>
      <p:sp>
        <p:nvSpPr>
          <p:cNvPr id="7" name="Text 5"/>
          <p:cNvSpPr/>
          <p:nvPr/>
        </p:nvSpPr>
        <p:spPr>
          <a:xfrm>
            <a:off x="640080" y="2002536"/>
            <a:ext cx="292608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Llamada telefónica  ·  voz</a:t>
            </a:r>
            <a:endParaRPr lang="en-US" sz="1250" dirty="0"/>
          </a:p>
        </p:txBody>
      </p:sp>
      <p:sp>
        <p:nvSpPr>
          <p:cNvPr id="8" name="Shape 6"/>
          <p:cNvSpPr/>
          <p:nvPr/>
        </p:nvSpPr>
        <p:spPr>
          <a:xfrm>
            <a:off x="3703320" y="1527048"/>
            <a:ext cx="685800" cy="713232"/>
          </a:xfrm>
          <a:prstGeom prst="chevron">
            <a:avLst/>
          </a:prstGeom>
          <a:solidFill>
            <a:srgbClr val="C9C9C9"/>
          </a:solidFill>
          <a:ln/>
        </p:spPr>
      </p:sp>
      <p:sp>
        <p:nvSpPr>
          <p:cNvPr id="9" name="Shape 7"/>
          <p:cNvSpPr/>
          <p:nvPr/>
        </p:nvSpPr>
        <p:spPr>
          <a:xfrm>
            <a:off x="4526280" y="1216152"/>
            <a:ext cx="3200400" cy="1371600"/>
          </a:xfrm>
          <a:prstGeom prst="roundRect">
            <a:avLst>
              <a:gd name="adj" fmla="val 4000"/>
            </a:avLst>
          </a:prstGeom>
          <a:solidFill>
            <a:srgbClr val="F4F6F7"/>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0" name="Text 8"/>
          <p:cNvSpPr/>
          <p:nvPr/>
        </p:nvSpPr>
        <p:spPr>
          <a:xfrm>
            <a:off x="4526280" y="1417320"/>
            <a:ext cx="3200400" cy="274320"/>
          </a:xfrm>
          <a:prstGeom prst="rect">
            <a:avLst/>
          </a:prstGeom>
          <a:noFill/>
          <a:ln/>
        </p:spPr>
        <p:txBody>
          <a:bodyPr wrap="square" lIns="0" tIns="0" rIns="0" bIns="0" rtlCol="0" anchor="t"/>
          <a:lstStyle/>
          <a:p>
            <a:pPr algn="ctr" indent="0" marL="0">
              <a:buNone/>
            </a:pPr>
            <a:r>
              <a:rPr lang="en-US" sz="1300" b="1" spc="100" kern="0" dirty="0">
                <a:solidFill>
                  <a:srgbClr val="3F3F3F"/>
                </a:solidFill>
                <a:latin typeface="Calibri" pitchFamily="34" charset="0"/>
                <a:ea typeface="Calibri" pitchFamily="34" charset="-122"/>
                <a:cs typeface="Calibri" pitchFamily="34" charset="-120"/>
              </a:rPr>
              <a:t>NÚCLEO ÚNICO</a:t>
            </a:r>
            <a:endParaRPr lang="en-US" sz="1300" dirty="0"/>
          </a:p>
        </p:txBody>
      </p:sp>
      <p:sp>
        <p:nvSpPr>
          <p:cNvPr id="11" name="Text 9"/>
          <p:cNvSpPr/>
          <p:nvPr/>
        </p:nvSpPr>
        <p:spPr>
          <a:xfrm>
            <a:off x="4526280" y="1737360"/>
            <a:ext cx="3200400" cy="640080"/>
          </a:xfrm>
          <a:prstGeom prst="rect">
            <a:avLst/>
          </a:prstGeom>
          <a:noFill/>
          <a:ln/>
        </p:spPr>
        <p:txBody>
          <a:bodyPr wrap="square" lIns="0" tIns="0" rIns="0" bIns="0" rtlCol="0" anchor="t"/>
          <a:lstStyle/>
          <a:p>
            <a:pPr algn="ctr" indent="0" marL="0">
              <a:lnSpc>
                <a:spcPts val="1600"/>
              </a:lnSpc>
              <a:buNone/>
            </a:pPr>
            <a:r>
              <a:rPr lang="en-US" sz="1100" dirty="0">
                <a:solidFill>
                  <a:srgbClr val="5A5A5A"/>
                </a:solidFill>
                <a:latin typeface="Calibri" pitchFamily="34" charset="0"/>
                <a:ea typeface="Calibri" pitchFamily="34" charset="-122"/>
                <a:cs typeface="Calibri" pitchFamily="34" charset="-120"/>
              </a:rPr>
              <a:t>Un prompt maestro · un RAG</a:t>
            </a:r>
            <a:endParaRPr lang="en-US" sz="1100" dirty="0"/>
          </a:p>
          <a:p>
            <a:pPr algn="ctr" indent="0" marL="0">
              <a:lnSpc>
                <a:spcPts val="1600"/>
              </a:lnSpc>
              <a:buNone/>
            </a:pPr>
            <a:r>
              <a:rPr lang="en-US" sz="1100" dirty="0">
                <a:solidFill>
                  <a:srgbClr val="5A5A5A"/>
                </a:solidFill>
                <a:latin typeface="Calibri" pitchFamily="34" charset="0"/>
                <a:ea typeface="Calibri" pitchFamily="34" charset="-122"/>
                <a:cs typeface="Calibri" pitchFamily="34" charset="-120"/>
              </a:rPr>
              <a:t>unas herramientas · un historial</a:t>
            </a:r>
            <a:endParaRPr lang="en-US" sz="1100" dirty="0"/>
          </a:p>
        </p:txBody>
      </p:sp>
      <p:sp>
        <p:nvSpPr>
          <p:cNvPr id="12" name="Shape 10"/>
          <p:cNvSpPr/>
          <p:nvPr/>
        </p:nvSpPr>
        <p:spPr>
          <a:xfrm>
            <a:off x="7863840" y="1527048"/>
            <a:ext cx="685800" cy="713232"/>
          </a:xfrm>
          <a:prstGeom prst="chevron">
            <a:avLst/>
          </a:prstGeom>
          <a:solidFill>
            <a:srgbClr val="C9C9C9"/>
          </a:solidFill>
          <a:ln/>
        </p:spPr>
      </p:sp>
      <p:sp>
        <p:nvSpPr>
          <p:cNvPr id="13" name="Shape 11"/>
          <p:cNvSpPr/>
          <p:nvPr/>
        </p:nvSpPr>
        <p:spPr>
          <a:xfrm>
            <a:off x="8686800" y="1453896"/>
            <a:ext cx="2834640" cy="868680"/>
          </a:xfrm>
          <a:prstGeom prst="roundRect">
            <a:avLst>
              <a:gd name="adj" fmla="val 8421"/>
            </a:avLst>
          </a:prstGeom>
          <a:solidFill>
            <a:srgbClr val="3F3F3F"/>
          </a:solidFill>
          <a:ln w="12700">
            <a:solidFill>
              <a:srgbClr val="3F3F3F"/>
            </a:solidFill>
            <a:prstDash val="solid"/>
          </a:ln>
        </p:spPr>
      </p:sp>
      <p:sp>
        <p:nvSpPr>
          <p:cNvPr id="14" name="Text 12"/>
          <p:cNvSpPr/>
          <p:nvPr/>
        </p:nvSpPr>
        <p:spPr>
          <a:xfrm>
            <a:off x="8686800" y="1563624"/>
            <a:ext cx="2834640" cy="274320"/>
          </a:xfrm>
          <a:prstGeom prst="rect">
            <a:avLst/>
          </a:prstGeom>
          <a:noFill/>
          <a:ln/>
        </p:spPr>
        <p:txBody>
          <a:bodyPr wrap="square" lIns="0" tIns="0" rIns="0" bIns="0" rtlCol="0" anchor="t"/>
          <a:lstStyle/>
          <a:p>
            <a:pPr algn="ctr" indent="0" marL="0">
              <a:buNone/>
            </a:pPr>
            <a:r>
              <a:rPr lang="en-US" sz="1400" b="1" spc="150" kern="0" dirty="0">
                <a:solidFill>
                  <a:srgbClr val="FFFFFF"/>
                </a:solidFill>
                <a:latin typeface="Calibri" pitchFamily="34" charset="0"/>
                <a:ea typeface="Calibri" pitchFamily="34" charset="-122"/>
                <a:cs typeface="Calibri" pitchFamily="34" charset="-120"/>
              </a:rPr>
              <a:t>CLAUDE</a:t>
            </a:r>
            <a:endParaRPr lang="en-US" sz="1400" dirty="0"/>
          </a:p>
        </p:txBody>
      </p:sp>
      <p:sp>
        <p:nvSpPr>
          <p:cNvPr id="15" name="Text 13"/>
          <p:cNvSpPr/>
          <p:nvPr/>
        </p:nvSpPr>
        <p:spPr>
          <a:xfrm>
            <a:off x="8686800" y="1874520"/>
            <a:ext cx="2834640" cy="274320"/>
          </a:xfrm>
          <a:prstGeom prst="rect">
            <a:avLst/>
          </a:prstGeom>
          <a:noFill/>
          <a:ln/>
        </p:spPr>
        <p:txBody>
          <a:bodyPr wrap="square" lIns="0" tIns="0" rIns="0" bIns="0" rtlCol="0" anchor="t"/>
          <a:lstStyle/>
          <a:p>
            <a:pPr algn="ctr" indent="0" marL="0">
              <a:buNone/>
            </a:pPr>
            <a:r>
              <a:rPr lang="en-US" sz="1050" dirty="0">
                <a:solidFill>
                  <a:srgbClr val="D6DADA"/>
                </a:solidFill>
                <a:latin typeface="Calibri" pitchFamily="34" charset="0"/>
                <a:ea typeface="Calibri" pitchFamily="34" charset="-122"/>
                <a:cs typeface="Calibri" pitchFamily="34" charset="-120"/>
              </a:rPr>
              <a:t>el cerebro, en ambos canales</a:t>
            </a:r>
            <a:endParaRPr lang="en-US" sz="1050" dirty="0"/>
          </a:p>
        </p:txBody>
      </p:sp>
      <p:sp>
        <p:nvSpPr>
          <p:cNvPr id="16" name="Text 14"/>
          <p:cNvSpPr/>
          <p:nvPr/>
        </p:nvSpPr>
        <p:spPr>
          <a:xfrm>
            <a:off x="640080" y="2724912"/>
            <a:ext cx="10881360" cy="274320"/>
          </a:xfrm>
          <a:prstGeom prst="rect">
            <a:avLst/>
          </a:prstGeom>
          <a:noFill/>
          <a:ln/>
        </p:spPr>
        <p:txBody>
          <a:bodyPr wrap="square" lIns="0" tIns="0" rIns="0" bIns="0" rtlCol="0" anchor="t"/>
          <a:lstStyle/>
          <a:p>
            <a:pPr algn="ctr" indent="0" marL="0">
              <a:buNone/>
            </a:pPr>
            <a:r>
              <a:rPr lang="en-US" sz="1050" i="1" dirty="0">
                <a:solidFill>
                  <a:srgbClr val="7F7F7F"/>
                </a:solidFill>
                <a:latin typeface="Calibri" pitchFamily="34" charset="0"/>
                <a:ea typeface="Calibri" pitchFamily="34" charset="-122"/>
                <a:cs typeface="Calibri" pitchFamily="34" charset="-120"/>
              </a:rPr>
              <a:t>ElevenLabs aporta solo oído, turnos y voz mediante Custom LLM. El razonamiento nunca sale del núcleo propio.</a:t>
            </a:r>
            <a:endParaRPr lang="en-US" sz="1050" dirty="0"/>
          </a:p>
        </p:txBody>
      </p:sp>
      <p:sp>
        <p:nvSpPr>
          <p:cNvPr id="17" name="Shape 15"/>
          <p:cNvSpPr/>
          <p:nvPr/>
        </p:nvSpPr>
        <p:spPr>
          <a:xfrm>
            <a:off x="640080" y="3291840"/>
            <a:ext cx="10908792" cy="713232"/>
          </a:xfrm>
          <a:prstGeom prst="roundRect">
            <a:avLst>
              <a:gd name="adj" fmla="val 10256"/>
            </a:avLst>
          </a:prstGeom>
          <a:solidFill>
            <a:srgbClr val="C0453D"/>
          </a:solidFill>
          <a:ln w="12700">
            <a:solidFill>
              <a:srgbClr val="C0453D"/>
            </a:solidFill>
            <a:prstDash val="solid"/>
          </a:ln>
        </p:spPr>
      </p:sp>
      <p:sp>
        <p:nvSpPr>
          <p:cNvPr id="18" name="Text 16"/>
          <p:cNvSpPr/>
          <p:nvPr/>
        </p:nvSpPr>
        <p:spPr>
          <a:xfrm>
            <a:off x="640080" y="3291840"/>
            <a:ext cx="10908792"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Hallazgo que condiciona todo el informe:  el sistema trata datos sensibles de salud de forma inevitable</a:t>
            </a:r>
            <a:endParaRPr lang="en-US" sz="1400" dirty="0"/>
          </a:p>
        </p:txBody>
      </p:sp>
      <p:sp>
        <p:nvSpPr>
          <p:cNvPr id="19" name="Shape 17"/>
          <p:cNvSpPr/>
          <p:nvPr/>
        </p:nvSpPr>
        <p:spPr>
          <a:xfrm>
            <a:off x="640080" y="4315968"/>
            <a:ext cx="3447288" cy="1810512"/>
          </a:xfrm>
          <a:prstGeom prst="roundRect">
            <a:avLst>
              <a:gd name="adj" fmla="val 3030"/>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0" name="Shape 18"/>
          <p:cNvSpPr/>
          <p:nvPr/>
        </p:nvSpPr>
        <p:spPr>
          <a:xfrm>
            <a:off x="896112" y="4553712"/>
            <a:ext cx="310896" cy="310896"/>
          </a:xfrm>
          <a:prstGeom prst="roundRect">
            <a:avLst>
              <a:gd name="adj" fmla="val 29412"/>
            </a:avLst>
          </a:prstGeom>
          <a:solidFill>
            <a:srgbClr val="17A398"/>
          </a:solidFill>
          <a:ln/>
        </p:spPr>
      </p:sp>
      <p:sp>
        <p:nvSpPr>
          <p:cNvPr id="21" name="Text 19"/>
          <p:cNvSpPr/>
          <p:nvPr/>
        </p:nvSpPr>
        <p:spPr>
          <a:xfrm>
            <a:off x="1325880" y="4562856"/>
            <a:ext cx="2560320" cy="292608"/>
          </a:xfrm>
          <a:prstGeom prst="rect">
            <a:avLst/>
          </a:prstGeom>
          <a:noFill/>
          <a:ln/>
        </p:spPr>
        <p:txBody>
          <a:bodyPr wrap="square" lIns="0" tIns="0" rIns="0" bIns="0" rtlCol="0" anchor="t"/>
          <a:lstStyle/>
          <a:p>
            <a:pPr indent="0" marL="0">
              <a:buNone/>
            </a:pPr>
            <a:r>
              <a:rPr lang="en-US" sz="1250" b="1" dirty="0">
                <a:solidFill>
                  <a:srgbClr val="17A398"/>
                </a:solidFill>
                <a:latin typeface="Calibri" pitchFamily="34" charset="0"/>
                <a:ea typeface="Calibri" pitchFamily="34" charset="-122"/>
                <a:cs typeface="Calibri" pitchFamily="34" charset="-120"/>
              </a:rPr>
              <a:t>Dato personal</a:t>
            </a:r>
            <a:endParaRPr lang="en-US" sz="1250" dirty="0"/>
          </a:p>
        </p:txBody>
      </p:sp>
      <p:sp>
        <p:nvSpPr>
          <p:cNvPr id="22" name="Text 20"/>
          <p:cNvSpPr/>
          <p:nvPr/>
        </p:nvSpPr>
        <p:spPr>
          <a:xfrm>
            <a:off x="896112" y="4983480"/>
            <a:ext cx="2962656" cy="10058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Teléfono, nombre, fecha y sede de la cita. Identificador y clave de continuidad entre canales.</a:t>
            </a:r>
            <a:endParaRPr lang="en-US" sz="1100" dirty="0"/>
          </a:p>
        </p:txBody>
      </p:sp>
      <p:sp>
        <p:nvSpPr>
          <p:cNvPr id="23" name="Shape 21"/>
          <p:cNvSpPr/>
          <p:nvPr/>
        </p:nvSpPr>
        <p:spPr>
          <a:xfrm>
            <a:off x="4370832" y="4315968"/>
            <a:ext cx="3447288" cy="1810512"/>
          </a:xfrm>
          <a:prstGeom prst="roundRect">
            <a:avLst>
              <a:gd name="adj" fmla="val 3030"/>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4" name="Shape 22"/>
          <p:cNvSpPr/>
          <p:nvPr/>
        </p:nvSpPr>
        <p:spPr>
          <a:xfrm>
            <a:off x="4626864" y="4553712"/>
            <a:ext cx="310896" cy="310896"/>
          </a:xfrm>
          <a:prstGeom prst="roundRect">
            <a:avLst>
              <a:gd name="adj" fmla="val 29412"/>
            </a:avLst>
          </a:prstGeom>
          <a:solidFill>
            <a:srgbClr val="EFA733"/>
          </a:solidFill>
          <a:ln/>
        </p:spPr>
      </p:sp>
      <p:sp>
        <p:nvSpPr>
          <p:cNvPr id="25" name="Text 23"/>
          <p:cNvSpPr/>
          <p:nvPr/>
        </p:nvSpPr>
        <p:spPr>
          <a:xfrm>
            <a:off x="5056632" y="4562856"/>
            <a:ext cx="2560320" cy="292608"/>
          </a:xfrm>
          <a:prstGeom prst="rect">
            <a:avLst/>
          </a:prstGeom>
          <a:noFill/>
          <a:ln/>
        </p:spPr>
        <p:txBody>
          <a:bodyPr wrap="square" lIns="0" tIns="0" rIns="0" bIns="0" rtlCol="0" anchor="t"/>
          <a:lstStyle/>
          <a:p>
            <a:pPr indent="0" marL="0">
              <a:buNone/>
            </a:pPr>
            <a:r>
              <a:rPr lang="en-US" sz="1250" b="1" dirty="0">
                <a:solidFill>
                  <a:srgbClr val="EFA733"/>
                </a:solidFill>
                <a:latin typeface="Calibri" pitchFamily="34" charset="0"/>
                <a:ea typeface="Calibri" pitchFamily="34" charset="-122"/>
                <a:cs typeface="Calibri" pitchFamily="34" charset="-120"/>
              </a:rPr>
              <a:t>Dato sensible · salud</a:t>
            </a:r>
            <a:endParaRPr lang="en-US" sz="1250" dirty="0"/>
          </a:p>
        </p:txBody>
      </p:sp>
      <p:sp>
        <p:nvSpPr>
          <p:cNvPr id="26" name="Text 24"/>
          <p:cNvSpPr/>
          <p:nvPr/>
        </p:nvSpPr>
        <p:spPr>
          <a:xfrm>
            <a:off x="4626864" y="4983480"/>
            <a:ext cx="2962656" cy="10058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El paciente revela su dolencia en el primer mensaje sin que el agente la pida. Es propiedad del dominio, no un defecto.</a:t>
            </a:r>
            <a:endParaRPr lang="en-US" sz="1100" dirty="0"/>
          </a:p>
        </p:txBody>
      </p:sp>
      <p:sp>
        <p:nvSpPr>
          <p:cNvPr id="27" name="Shape 25"/>
          <p:cNvSpPr/>
          <p:nvPr/>
        </p:nvSpPr>
        <p:spPr>
          <a:xfrm>
            <a:off x="8101584" y="4315968"/>
            <a:ext cx="3447288" cy="1810512"/>
          </a:xfrm>
          <a:prstGeom prst="roundRect">
            <a:avLst>
              <a:gd name="adj" fmla="val 3030"/>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8" name="Shape 26"/>
          <p:cNvSpPr/>
          <p:nvPr/>
        </p:nvSpPr>
        <p:spPr>
          <a:xfrm>
            <a:off x="8357616" y="4553712"/>
            <a:ext cx="310896" cy="310896"/>
          </a:xfrm>
          <a:prstGeom prst="roundRect">
            <a:avLst>
              <a:gd name="adj" fmla="val 29412"/>
            </a:avLst>
          </a:prstGeom>
          <a:solidFill>
            <a:srgbClr val="C0453D"/>
          </a:solidFill>
          <a:ln/>
        </p:spPr>
      </p:sp>
      <p:sp>
        <p:nvSpPr>
          <p:cNvPr id="29" name="Text 27"/>
          <p:cNvSpPr/>
          <p:nvPr/>
        </p:nvSpPr>
        <p:spPr>
          <a:xfrm>
            <a:off x="8787384" y="4562856"/>
            <a:ext cx="2560320" cy="292608"/>
          </a:xfrm>
          <a:prstGeom prst="rect">
            <a:avLst/>
          </a:prstGeom>
          <a:noFill/>
          <a:ln/>
        </p:spPr>
        <p:txBody>
          <a:bodyPr wrap="square" lIns="0" tIns="0" rIns="0" bIns="0" rtlCol="0" anchor="t"/>
          <a:lstStyle/>
          <a:p>
            <a:pPr indent="0" marL="0">
              <a:buNone/>
            </a:pPr>
            <a:r>
              <a:rPr lang="en-US" sz="1250" b="1" dirty="0">
                <a:solidFill>
                  <a:srgbClr val="C0453D"/>
                </a:solidFill>
                <a:latin typeface="Calibri" pitchFamily="34" charset="0"/>
                <a:ea typeface="Calibri" pitchFamily="34" charset="-122"/>
                <a:cs typeface="Calibri" pitchFamily="34" charset="-120"/>
              </a:rPr>
              <a:t>Dato biométrico · voz</a:t>
            </a:r>
            <a:endParaRPr lang="en-US" sz="1250" dirty="0"/>
          </a:p>
        </p:txBody>
      </p:sp>
      <p:sp>
        <p:nvSpPr>
          <p:cNvPr id="30" name="Text 28"/>
          <p:cNvSpPr/>
          <p:nvPr/>
        </p:nvSpPr>
        <p:spPr>
          <a:xfrm>
            <a:off x="8357616" y="4983480"/>
            <a:ext cx="2962656" cy="10058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La grabación de la llamada es un identificador biométrico asociado a un dato de salud: la combinación más protegida.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Marco de análisis: los cuatro pilares de la IA responsable</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Text 2"/>
          <p:cNvSpPr/>
          <p:nvPr/>
        </p:nvSpPr>
        <p:spPr>
          <a:xfrm>
            <a:off x="822960" y="1097280"/>
            <a:ext cx="10543032" cy="274320"/>
          </a:xfrm>
          <a:prstGeom prst="rect">
            <a:avLst/>
          </a:prstGeom>
          <a:noFill/>
          <a:ln/>
        </p:spPr>
        <p:txBody>
          <a:bodyPr wrap="square" lIns="0" tIns="0" rIns="0" bIns="0" rtlCol="0" anchor="t"/>
          <a:lstStyle/>
          <a:p>
            <a:pPr algn="ctr" indent="0" marL="0">
              <a:buNone/>
            </a:pPr>
            <a:r>
              <a:rPr lang="en-US" sz="1200" i="1" dirty="0">
                <a:solidFill>
                  <a:srgbClr val="7F7F7F"/>
                </a:solidFill>
                <a:latin typeface="Calibri" pitchFamily="34" charset="0"/>
                <a:ea typeface="Calibri" pitchFamily="34" charset="-122"/>
                <a:cs typeface="Calibri" pitchFamily="34" charset="-120"/>
              </a:rPr>
              <a:t>No son cuatro temas paralelos: son una cadena causal. Adoptarla como método impide tratar la ética como una declaración final.</a:t>
            </a:r>
            <a:endParaRPr lang="en-US" sz="1200" dirty="0"/>
          </a:p>
        </p:txBody>
      </p:sp>
      <p:sp>
        <p:nvSpPr>
          <p:cNvPr id="5" name="Shape 3"/>
          <p:cNvSpPr/>
          <p:nvPr/>
        </p:nvSpPr>
        <p:spPr>
          <a:xfrm>
            <a:off x="498348" y="1600200"/>
            <a:ext cx="2606040" cy="2907792"/>
          </a:xfrm>
          <a:prstGeom prst="roundRect">
            <a:avLst>
              <a:gd name="adj" fmla="val 2105"/>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6" name="Shape 4"/>
          <p:cNvSpPr/>
          <p:nvPr/>
        </p:nvSpPr>
        <p:spPr>
          <a:xfrm>
            <a:off x="1517904" y="1783080"/>
            <a:ext cx="566928" cy="566928"/>
          </a:xfrm>
          <a:prstGeom prst="ellipse">
            <a:avLst/>
          </a:prstGeom>
          <a:solidFill>
            <a:srgbClr val="17A398"/>
          </a:solidFill>
          <a:ln w="12700">
            <a:solidFill>
              <a:srgbClr val="17A398"/>
            </a:solidFill>
            <a:prstDash val="solid"/>
          </a:ln>
        </p:spPr>
      </p:sp>
      <p:sp>
        <p:nvSpPr>
          <p:cNvPr id="7" name="Text 5"/>
          <p:cNvSpPr/>
          <p:nvPr/>
        </p:nvSpPr>
        <p:spPr>
          <a:xfrm>
            <a:off x="1517904" y="17830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498348" y="2487168"/>
            <a:ext cx="2606040" cy="274320"/>
          </a:xfrm>
          <a:prstGeom prst="rect">
            <a:avLst/>
          </a:prstGeom>
          <a:noFill/>
          <a:ln/>
        </p:spPr>
        <p:txBody>
          <a:bodyPr wrap="square" lIns="0" tIns="0" rIns="0" bIns="0" rtlCol="0" anchor="t"/>
          <a:lstStyle/>
          <a:p>
            <a:pPr algn="ctr" indent="0" marL="0">
              <a:buNone/>
            </a:pPr>
            <a:r>
              <a:rPr lang="en-US" sz="1400" b="1" spc="100" kern="0" dirty="0">
                <a:solidFill>
                  <a:srgbClr val="17A398"/>
                </a:solidFill>
                <a:latin typeface="Calibri" pitchFamily="34" charset="0"/>
                <a:ea typeface="Calibri" pitchFamily="34" charset="-122"/>
                <a:cs typeface="Calibri" pitchFamily="34" charset="-120"/>
              </a:rPr>
              <a:t>SESGO</a:t>
            </a:r>
            <a:endParaRPr lang="en-US" sz="1400" dirty="0"/>
          </a:p>
        </p:txBody>
      </p:sp>
      <p:sp>
        <p:nvSpPr>
          <p:cNvPr id="9" name="Text 7"/>
          <p:cNvSpPr/>
          <p:nvPr/>
        </p:nvSpPr>
        <p:spPr>
          <a:xfrm>
            <a:off x="498348" y="2788920"/>
            <a:ext cx="2606040" cy="274320"/>
          </a:xfrm>
          <a:prstGeom prst="rect">
            <a:avLst/>
          </a:prstGeom>
          <a:noFill/>
          <a:ln/>
        </p:spPr>
        <p:txBody>
          <a:bodyPr wrap="square" lIns="0" tIns="0" rIns="0" bIns="0" rtlCol="0" anchor="t"/>
          <a:lstStyle/>
          <a:p>
            <a:pPr algn="ctr" indent="0" marL="0">
              <a:buNone/>
            </a:pPr>
            <a:r>
              <a:rPr lang="en-US" sz="1100" i="1" dirty="0">
                <a:solidFill>
                  <a:srgbClr val="7F7F7F"/>
                </a:solidFill>
                <a:latin typeface="Calibri" pitchFamily="34" charset="0"/>
                <a:ea typeface="Calibri" pitchFamily="34" charset="-122"/>
                <a:cs typeface="Calibri" pitchFamily="34" charset="-120"/>
              </a:rPr>
              <a:t>Sesgo latente</a:t>
            </a:r>
            <a:endParaRPr lang="en-US" sz="1100" dirty="0"/>
          </a:p>
        </p:txBody>
      </p:sp>
      <p:sp>
        <p:nvSpPr>
          <p:cNvPr id="10" name="Shape 8"/>
          <p:cNvSpPr/>
          <p:nvPr/>
        </p:nvSpPr>
        <p:spPr>
          <a:xfrm>
            <a:off x="1481328" y="3154680"/>
            <a:ext cx="640080" cy="14630"/>
          </a:xfrm>
          <a:prstGeom prst="rect">
            <a:avLst/>
          </a:prstGeom>
          <a:solidFill>
            <a:srgbClr val="DFE3E3"/>
          </a:solidFill>
          <a:ln/>
        </p:spPr>
      </p:sp>
      <p:sp>
        <p:nvSpPr>
          <p:cNvPr id="11" name="Text 9"/>
          <p:cNvSpPr/>
          <p:nvPr/>
        </p:nvSpPr>
        <p:spPr>
          <a:xfrm>
            <a:off x="726948" y="3319272"/>
            <a:ext cx="2148840" cy="1371600"/>
          </a:xfrm>
          <a:prstGeom prst="rect">
            <a:avLst/>
          </a:prstGeom>
          <a:noFill/>
          <a:ln/>
        </p:spPr>
        <p:txBody>
          <a:bodyPr wrap="square" lIns="0" tIns="0" rIns="0" bIns="0" rtlCol="0" anchor="t"/>
          <a:lstStyle/>
          <a:p>
            <a:pPr algn="l" indent="0" marL="0">
              <a:lnSpc>
                <a:spcPts val="1600"/>
              </a:lnSpc>
              <a:buNone/>
            </a:pPr>
            <a:r>
              <a:rPr lang="en-US" sz="1100" dirty="0">
                <a:solidFill>
                  <a:srgbClr val="5A5A5A"/>
                </a:solidFill>
                <a:latin typeface="Calibri" pitchFamily="34" charset="0"/>
                <a:ea typeface="Calibri" pitchFamily="34" charset="-122"/>
                <a:cs typeface="Calibri" pitchFamily="34" charset="-120"/>
              </a:rPr>
              <a:t>Error de reconocimiento del habla por variedad dialectal; base de conocimiento sesgada al marketing.</a:t>
            </a:r>
            <a:endParaRPr lang="en-US" sz="1100" dirty="0"/>
          </a:p>
        </p:txBody>
      </p:sp>
      <p:sp>
        <p:nvSpPr>
          <p:cNvPr id="12" name="Shape 10"/>
          <p:cNvSpPr/>
          <p:nvPr/>
        </p:nvSpPr>
        <p:spPr>
          <a:xfrm>
            <a:off x="3122676" y="2926080"/>
            <a:ext cx="237744" cy="566928"/>
          </a:xfrm>
          <a:prstGeom prst="chevron">
            <a:avLst/>
          </a:prstGeom>
          <a:solidFill>
            <a:srgbClr val="17A398"/>
          </a:solidFill>
          <a:ln/>
        </p:spPr>
      </p:sp>
      <p:sp>
        <p:nvSpPr>
          <p:cNvPr id="13" name="Shape 11"/>
          <p:cNvSpPr/>
          <p:nvPr/>
        </p:nvSpPr>
        <p:spPr>
          <a:xfrm>
            <a:off x="3360420" y="1600200"/>
            <a:ext cx="2606040" cy="2907792"/>
          </a:xfrm>
          <a:prstGeom prst="roundRect">
            <a:avLst>
              <a:gd name="adj" fmla="val 2105"/>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4" name="Shape 12"/>
          <p:cNvSpPr/>
          <p:nvPr/>
        </p:nvSpPr>
        <p:spPr>
          <a:xfrm>
            <a:off x="4379976" y="1783080"/>
            <a:ext cx="566928" cy="566928"/>
          </a:xfrm>
          <a:prstGeom prst="ellipse">
            <a:avLst/>
          </a:prstGeom>
          <a:solidFill>
            <a:srgbClr val="EFA733"/>
          </a:solidFill>
          <a:ln w="12700">
            <a:solidFill>
              <a:srgbClr val="EFA733"/>
            </a:solidFill>
            <a:prstDash val="solid"/>
          </a:ln>
        </p:spPr>
      </p:sp>
      <p:sp>
        <p:nvSpPr>
          <p:cNvPr id="15" name="Text 13"/>
          <p:cNvSpPr/>
          <p:nvPr/>
        </p:nvSpPr>
        <p:spPr>
          <a:xfrm>
            <a:off x="4379976" y="17830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4"/>
          <p:cNvSpPr/>
          <p:nvPr/>
        </p:nvSpPr>
        <p:spPr>
          <a:xfrm>
            <a:off x="3360420" y="2487168"/>
            <a:ext cx="2606040" cy="274320"/>
          </a:xfrm>
          <a:prstGeom prst="rect">
            <a:avLst/>
          </a:prstGeom>
          <a:noFill/>
          <a:ln/>
        </p:spPr>
        <p:txBody>
          <a:bodyPr wrap="square" lIns="0" tIns="0" rIns="0" bIns="0" rtlCol="0" anchor="t"/>
          <a:lstStyle/>
          <a:p>
            <a:pPr algn="ctr" indent="0" marL="0">
              <a:buNone/>
            </a:pPr>
            <a:r>
              <a:rPr lang="en-US" sz="1400" b="1" spc="100" kern="0" dirty="0">
                <a:solidFill>
                  <a:srgbClr val="EFA733"/>
                </a:solidFill>
                <a:latin typeface="Calibri" pitchFamily="34" charset="0"/>
                <a:ea typeface="Calibri" pitchFamily="34" charset="-122"/>
                <a:cs typeface="Calibri" pitchFamily="34" charset="-120"/>
              </a:rPr>
              <a:t>RIESGO</a:t>
            </a:r>
            <a:endParaRPr lang="en-US" sz="1400" dirty="0"/>
          </a:p>
        </p:txBody>
      </p:sp>
      <p:sp>
        <p:nvSpPr>
          <p:cNvPr id="17" name="Text 15"/>
          <p:cNvSpPr/>
          <p:nvPr/>
        </p:nvSpPr>
        <p:spPr>
          <a:xfrm>
            <a:off x="3360420" y="2788920"/>
            <a:ext cx="2606040" cy="274320"/>
          </a:xfrm>
          <a:prstGeom prst="rect">
            <a:avLst/>
          </a:prstGeom>
          <a:noFill/>
          <a:ln/>
        </p:spPr>
        <p:txBody>
          <a:bodyPr wrap="square" lIns="0" tIns="0" rIns="0" bIns="0" rtlCol="0" anchor="t"/>
          <a:lstStyle/>
          <a:p>
            <a:pPr algn="ctr" indent="0" marL="0">
              <a:buNone/>
            </a:pPr>
            <a:r>
              <a:rPr lang="en-US" sz="1100" i="1" dirty="0">
                <a:solidFill>
                  <a:srgbClr val="7F7F7F"/>
                </a:solidFill>
                <a:latin typeface="Calibri" pitchFamily="34" charset="0"/>
                <a:ea typeface="Calibri" pitchFamily="34" charset="-122"/>
                <a:cs typeface="Calibri" pitchFamily="34" charset="-120"/>
              </a:rPr>
              <a:t>Dispara el riesgo</a:t>
            </a:r>
            <a:endParaRPr lang="en-US" sz="1100" dirty="0"/>
          </a:p>
        </p:txBody>
      </p:sp>
      <p:sp>
        <p:nvSpPr>
          <p:cNvPr id="18" name="Shape 16"/>
          <p:cNvSpPr/>
          <p:nvPr/>
        </p:nvSpPr>
        <p:spPr>
          <a:xfrm>
            <a:off x="4343400" y="3154680"/>
            <a:ext cx="640080" cy="14630"/>
          </a:xfrm>
          <a:prstGeom prst="rect">
            <a:avLst/>
          </a:prstGeom>
          <a:solidFill>
            <a:srgbClr val="DFE3E3"/>
          </a:solidFill>
          <a:ln/>
        </p:spPr>
      </p:sp>
      <p:sp>
        <p:nvSpPr>
          <p:cNvPr id="19" name="Text 17"/>
          <p:cNvSpPr/>
          <p:nvPr/>
        </p:nvSpPr>
        <p:spPr>
          <a:xfrm>
            <a:off x="3589020" y="3319272"/>
            <a:ext cx="2148840" cy="1371600"/>
          </a:xfrm>
          <a:prstGeom prst="rect">
            <a:avLst/>
          </a:prstGeom>
          <a:noFill/>
          <a:ln/>
        </p:spPr>
        <p:txBody>
          <a:bodyPr wrap="square" lIns="0" tIns="0" rIns="0" bIns="0" rtlCol="0" anchor="t"/>
          <a:lstStyle/>
          <a:p>
            <a:pPr algn="l" indent="0" marL="0">
              <a:lnSpc>
                <a:spcPts val="1600"/>
              </a:lnSpc>
              <a:buNone/>
            </a:pPr>
            <a:r>
              <a:rPr lang="en-US" sz="1100" dirty="0">
                <a:solidFill>
                  <a:srgbClr val="5A5A5A"/>
                </a:solidFill>
                <a:latin typeface="Calibri" pitchFamily="34" charset="0"/>
                <a:ea typeface="Calibri" pitchFamily="34" charset="-122"/>
                <a:cs typeface="Calibri" pitchFamily="34" charset="-120"/>
              </a:rPr>
              <a:t>Alucinación irreversible en canal sincrónico; frontera del acto médico; urgencia no detectada.</a:t>
            </a:r>
            <a:endParaRPr lang="en-US" sz="1100" dirty="0"/>
          </a:p>
        </p:txBody>
      </p:sp>
      <p:sp>
        <p:nvSpPr>
          <p:cNvPr id="20" name="Shape 18"/>
          <p:cNvSpPr/>
          <p:nvPr/>
        </p:nvSpPr>
        <p:spPr>
          <a:xfrm>
            <a:off x="5984748" y="2926080"/>
            <a:ext cx="237744" cy="566928"/>
          </a:xfrm>
          <a:prstGeom prst="chevron">
            <a:avLst/>
          </a:prstGeom>
          <a:solidFill>
            <a:srgbClr val="EFA733"/>
          </a:solidFill>
          <a:ln/>
        </p:spPr>
      </p:sp>
      <p:sp>
        <p:nvSpPr>
          <p:cNvPr id="21" name="Shape 19"/>
          <p:cNvSpPr/>
          <p:nvPr/>
        </p:nvSpPr>
        <p:spPr>
          <a:xfrm>
            <a:off x="6222492" y="1600200"/>
            <a:ext cx="2606040" cy="2907792"/>
          </a:xfrm>
          <a:prstGeom prst="roundRect">
            <a:avLst>
              <a:gd name="adj" fmla="val 2105"/>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2" name="Shape 20"/>
          <p:cNvSpPr/>
          <p:nvPr/>
        </p:nvSpPr>
        <p:spPr>
          <a:xfrm>
            <a:off x="7242048" y="1783080"/>
            <a:ext cx="566928" cy="566928"/>
          </a:xfrm>
          <a:prstGeom prst="ellipse">
            <a:avLst/>
          </a:prstGeom>
          <a:solidFill>
            <a:srgbClr val="C0453D"/>
          </a:solidFill>
          <a:ln w="12700">
            <a:solidFill>
              <a:srgbClr val="C0453D"/>
            </a:solidFill>
            <a:prstDash val="solid"/>
          </a:ln>
        </p:spPr>
      </p:sp>
      <p:sp>
        <p:nvSpPr>
          <p:cNvPr id="23" name="Text 21"/>
          <p:cNvSpPr/>
          <p:nvPr/>
        </p:nvSpPr>
        <p:spPr>
          <a:xfrm>
            <a:off x="7242048" y="17830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4" name="Text 22"/>
          <p:cNvSpPr/>
          <p:nvPr/>
        </p:nvSpPr>
        <p:spPr>
          <a:xfrm>
            <a:off x="6222492" y="2487168"/>
            <a:ext cx="2606040" cy="274320"/>
          </a:xfrm>
          <a:prstGeom prst="rect">
            <a:avLst/>
          </a:prstGeom>
          <a:noFill/>
          <a:ln/>
        </p:spPr>
        <p:txBody>
          <a:bodyPr wrap="square" lIns="0" tIns="0" rIns="0" bIns="0" rtlCol="0" anchor="t"/>
          <a:lstStyle/>
          <a:p>
            <a:pPr algn="ctr" indent="0" marL="0">
              <a:buNone/>
            </a:pPr>
            <a:r>
              <a:rPr lang="en-US" sz="1400" b="1" spc="100" kern="0" dirty="0">
                <a:solidFill>
                  <a:srgbClr val="C0453D"/>
                </a:solidFill>
                <a:latin typeface="Calibri" pitchFamily="34" charset="0"/>
                <a:ea typeface="Calibri" pitchFamily="34" charset="-122"/>
                <a:cs typeface="Calibri" pitchFamily="34" charset="-120"/>
              </a:rPr>
              <a:t>REGULACIÓN</a:t>
            </a:r>
            <a:endParaRPr lang="en-US" sz="1400" dirty="0"/>
          </a:p>
        </p:txBody>
      </p:sp>
      <p:sp>
        <p:nvSpPr>
          <p:cNvPr id="25" name="Text 23"/>
          <p:cNvSpPr/>
          <p:nvPr/>
        </p:nvSpPr>
        <p:spPr>
          <a:xfrm>
            <a:off x="6222492" y="2788920"/>
            <a:ext cx="2606040" cy="274320"/>
          </a:xfrm>
          <a:prstGeom prst="rect">
            <a:avLst/>
          </a:prstGeom>
          <a:noFill/>
          <a:ln/>
        </p:spPr>
        <p:txBody>
          <a:bodyPr wrap="square" lIns="0" tIns="0" rIns="0" bIns="0" rtlCol="0" anchor="t"/>
          <a:lstStyle/>
          <a:p>
            <a:pPr algn="ctr" indent="0" marL="0">
              <a:buNone/>
            </a:pPr>
            <a:r>
              <a:rPr lang="en-US" sz="1100" i="1" dirty="0">
                <a:solidFill>
                  <a:srgbClr val="7F7F7F"/>
                </a:solidFill>
                <a:latin typeface="Calibri" pitchFamily="34" charset="0"/>
                <a:ea typeface="Calibri" pitchFamily="34" charset="-122"/>
                <a:cs typeface="Calibri" pitchFamily="34" charset="-120"/>
              </a:rPr>
              <a:t>Exige regulación</a:t>
            </a:r>
            <a:endParaRPr lang="en-US" sz="1100" dirty="0"/>
          </a:p>
        </p:txBody>
      </p:sp>
      <p:sp>
        <p:nvSpPr>
          <p:cNvPr id="26" name="Shape 24"/>
          <p:cNvSpPr/>
          <p:nvPr/>
        </p:nvSpPr>
        <p:spPr>
          <a:xfrm>
            <a:off x="7205472" y="3154680"/>
            <a:ext cx="640080" cy="14630"/>
          </a:xfrm>
          <a:prstGeom prst="rect">
            <a:avLst/>
          </a:prstGeom>
          <a:solidFill>
            <a:srgbClr val="DFE3E3"/>
          </a:solidFill>
          <a:ln/>
        </p:spPr>
      </p:sp>
      <p:sp>
        <p:nvSpPr>
          <p:cNvPr id="27" name="Text 25"/>
          <p:cNvSpPr/>
          <p:nvPr/>
        </p:nvSpPr>
        <p:spPr>
          <a:xfrm>
            <a:off x="6451092" y="3319272"/>
            <a:ext cx="2148840" cy="1371600"/>
          </a:xfrm>
          <a:prstGeom prst="rect">
            <a:avLst/>
          </a:prstGeom>
          <a:noFill/>
          <a:ln/>
        </p:spPr>
        <p:txBody>
          <a:bodyPr wrap="square" lIns="0" tIns="0" rIns="0" bIns="0" rtlCol="0" anchor="t"/>
          <a:lstStyle/>
          <a:p>
            <a:pPr algn="l" indent="0" marL="0">
              <a:lnSpc>
                <a:spcPts val="1600"/>
              </a:lnSpc>
              <a:buNone/>
            </a:pPr>
            <a:r>
              <a:rPr lang="en-US" sz="1100" dirty="0">
                <a:solidFill>
                  <a:srgbClr val="5A5A5A"/>
                </a:solidFill>
                <a:latin typeface="Calibri" pitchFamily="34" charset="0"/>
                <a:ea typeface="Calibri" pitchFamily="34" charset="-122"/>
                <a:cs typeface="Calibri" pitchFamily="34" charset="-120"/>
              </a:rPr>
              <a:t>Ley 29733 y D.S. 016-2024-JUS; Ley 31814 y D.S. 115-2025-PCM; Ley General de Salud.</a:t>
            </a:r>
            <a:endParaRPr lang="en-US" sz="1100" dirty="0"/>
          </a:p>
        </p:txBody>
      </p:sp>
      <p:sp>
        <p:nvSpPr>
          <p:cNvPr id="28" name="Shape 26"/>
          <p:cNvSpPr/>
          <p:nvPr/>
        </p:nvSpPr>
        <p:spPr>
          <a:xfrm>
            <a:off x="8846820" y="2926080"/>
            <a:ext cx="237744" cy="566928"/>
          </a:xfrm>
          <a:prstGeom prst="chevron">
            <a:avLst/>
          </a:prstGeom>
          <a:solidFill>
            <a:srgbClr val="C0453D"/>
          </a:solidFill>
          <a:ln/>
        </p:spPr>
      </p:sp>
      <p:sp>
        <p:nvSpPr>
          <p:cNvPr id="29" name="Shape 27"/>
          <p:cNvSpPr/>
          <p:nvPr/>
        </p:nvSpPr>
        <p:spPr>
          <a:xfrm>
            <a:off x="9084564" y="1600200"/>
            <a:ext cx="2606040" cy="2907792"/>
          </a:xfrm>
          <a:prstGeom prst="roundRect">
            <a:avLst>
              <a:gd name="adj" fmla="val 2105"/>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30" name="Shape 28"/>
          <p:cNvSpPr/>
          <p:nvPr/>
        </p:nvSpPr>
        <p:spPr>
          <a:xfrm>
            <a:off x="10104120" y="1783080"/>
            <a:ext cx="566928" cy="566928"/>
          </a:xfrm>
          <a:prstGeom prst="ellipse">
            <a:avLst/>
          </a:prstGeom>
          <a:solidFill>
            <a:srgbClr val="8DC03F"/>
          </a:solidFill>
          <a:ln w="12700">
            <a:solidFill>
              <a:srgbClr val="8DC03F"/>
            </a:solidFill>
            <a:prstDash val="solid"/>
          </a:ln>
        </p:spPr>
      </p:sp>
      <p:sp>
        <p:nvSpPr>
          <p:cNvPr id="31" name="Text 29"/>
          <p:cNvSpPr/>
          <p:nvPr/>
        </p:nvSpPr>
        <p:spPr>
          <a:xfrm>
            <a:off x="10104120" y="17830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2" name="Text 30"/>
          <p:cNvSpPr/>
          <p:nvPr/>
        </p:nvSpPr>
        <p:spPr>
          <a:xfrm>
            <a:off x="9084564" y="2487168"/>
            <a:ext cx="2606040" cy="274320"/>
          </a:xfrm>
          <a:prstGeom prst="rect">
            <a:avLst/>
          </a:prstGeom>
          <a:noFill/>
          <a:ln/>
        </p:spPr>
        <p:txBody>
          <a:bodyPr wrap="square" lIns="0" tIns="0" rIns="0" bIns="0" rtlCol="0" anchor="t"/>
          <a:lstStyle/>
          <a:p>
            <a:pPr algn="ctr" indent="0" marL="0">
              <a:buNone/>
            </a:pPr>
            <a:r>
              <a:rPr lang="en-US" sz="1400" b="1" spc="100" kern="0" dirty="0">
                <a:solidFill>
                  <a:srgbClr val="8DC03F"/>
                </a:solidFill>
                <a:latin typeface="Calibri" pitchFamily="34" charset="0"/>
                <a:ea typeface="Calibri" pitchFamily="34" charset="-122"/>
                <a:cs typeface="Calibri" pitchFamily="34" charset="-120"/>
              </a:rPr>
              <a:t>GOBERNANZA</a:t>
            </a:r>
            <a:endParaRPr lang="en-US" sz="1400" dirty="0"/>
          </a:p>
        </p:txBody>
      </p:sp>
      <p:sp>
        <p:nvSpPr>
          <p:cNvPr id="33" name="Text 31"/>
          <p:cNvSpPr/>
          <p:nvPr/>
        </p:nvSpPr>
        <p:spPr>
          <a:xfrm>
            <a:off x="9084564" y="2788920"/>
            <a:ext cx="2606040" cy="274320"/>
          </a:xfrm>
          <a:prstGeom prst="rect">
            <a:avLst/>
          </a:prstGeom>
          <a:noFill/>
          <a:ln/>
        </p:spPr>
        <p:txBody>
          <a:bodyPr wrap="square" lIns="0" tIns="0" rIns="0" bIns="0" rtlCol="0" anchor="t"/>
          <a:lstStyle/>
          <a:p>
            <a:pPr algn="ctr" indent="0" marL="0">
              <a:buNone/>
            </a:pPr>
            <a:r>
              <a:rPr lang="en-US" sz="1100" i="1" dirty="0">
                <a:solidFill>
                  <a:srgbClr val="7F7F7F"/>
                </a:solidFill>
                <a:latin typeface="Calibri" pitchFamily="34" charset="0"/>
                <a:ea typeface="Calibri" pitchFamily="34" charset="-122"/>
                <a:cs typeface="Calibri" pitchFamily="34" charset="-120"/>
              </a:rPr>
              <a:t>Activa la gobernanza</a:t>
            </a:r>
            <a:endParaRPr lang="en-US" sz="1100" dirty="0"/>
          </a:p>
        </p:txBody>
      </p:sp>
      <p:sp>
        <p:nvSpPr>
          <p:cNvPr id="34" name="Shape 32"/>
          <p:cNvSpPr/>
          <p:nvPr/>
        </p:nvSpPr>
        <p:spPr>
          <a:xfrm>
            <a:off x="10067544" y="3154680"/>
            <a:ext cx="640080" cy="14630"/>
          </a:xfrm>
          <a:prstGeom prst="rect">
            <a:avLst/>
          </a:prstGeom>
          <a:solidFill>
            <a:srgbClr val="DFE3E3"/>
          </a:solidFill>
          <a:ln/>
        </p:spPr>
      </p:sp>
      <p:sp>
        <p:nvSpPr>
          <p:cNvPr id="35" name="Text 33"/>
          <p:cNvSpPr/>
          <p:nvPr/>
        </p:nvSpPr>
        <p:spPr>
          <a:xfrm>
            <a:off x="9313164" y="3319272"/>
            <a:ext cx="2148840" cy="1371600"/>
          </a:xfrm>
          <a:prstGeom prst="rect">
            <a:avLst/>
          </a:prstGeom>
          <a:noFill/>
          <a:ln/>
        </p:spPr>
        <p:txBody>
          <a:bodyPr wrap="square" lIns="0" tIns="0" rIns="0" bIns="0" rtlCol="0" anchor="t"/>
          <a:lstStyle/>
          <a:p>
            <a:pPr algn="l" indent="0" marL="0">
              <a:lnSpc>
                <a:spcPts val="1600"/>
              </a:lnSpc>
              <a:buNone/>
            </a:pPr>
            <a:r>
              <a:rPr lang="en-US" sz="1100" dirty="0">
                <a:solidFill>
                  <a:srgbClr val="5A5A5A"/>
                </a:solidFill>
                <a:latin typeface="Calibri" pitchFamily="34" charset="0"/>
                <a:ea typeface="Calibri" pitchFamily="34" charset="-122"/>
                <a:cs typeface="Calibri" pitchFamily="34" charset="-120"/>
              </a:rPr>
              <a:t>Modelo proporcional, aprobación escrita del contenido clínico, auditoría con muestreo aleatorio.</a:t>
            </a:r>
            <a:endParaRPr lang="en-US" sz="1100" dirty="0"/>
          </a:p>
        </p:txBody>
      </p:sp>
      <p:sp>
        <p:nvSpPr>
          <p:cNvPr id="36" name="Shape 34"/>
          <p:cNvSpPr/>
          <p:nvPr/>
        </p:nvSpPr>
        <p:spPr>
          <a:xfrm>
            <a:off x="498348" y="4864608"/>
            <a:ext cx="11192256" cy="621792"/>
          </a:xfrm>
          <a:prstGeom prst="roundRect">
            <a:avLst>
              <a:gd name="adj" fmla="val 11765"/>
            </a:avLst>
          </a:prstGeom>
          <a:solidFill>
            <a:srgbClr val="F4F6F7"/>
          </a:solidFill>
          <a:ln w="12700">
            <a:solidFill>
              <a:srgbClr val="E2E6E6"/>
            </a:solidFill>
            <a:prstDash val="solid"/>
          </a:ln>
        </p:spPr>
      </p:sp>
      <p:sp>
        <p:nvSpPr>
          <p:cNvPr id="37" name="Text 35"/>
          <p:cNvSpPr/>
          <p:nvPr/>
        </p:nvSpPr>
        <p:spPr>
          <a:xfrm>
            <a:off x="498348" y="4864608"/>
            <a:ext cx="11192256" cy="621792"/>
          </a:xfrm>
          <a:prstGeom prst="rect">
            <a:avLst/>
          </a:prstGeom>
          <a:noFill/>
          <a:ln/>
        </p:spPr>
        <p:txBody>
          <a:bodyPr wrap="square" lIns="0" tIns="0" rIns="0" bIns="0" rtlCol="0" anchor="ctr"/>
          <a:lstStyle/>
          <a:p>
            <a:pPr algn="ctr" indent="0" marL="0">
              <a:buNone/>
            </a:pPr>
            <a:r>
              <a:rPr lang="en-US" sz="1200" b="1" dirty="0">
                <a:solidFill>
                  <a:srgbClr val="3F3F3F"/>
                </a:solidFill>
                <a:latin typeface="Calibri" pitchFamily="34" charset="0"/>
                <a:ea typeface="Calibri" pitchFamily="34" charset="-122"/>
                <a:cs typeface="Calibri" pitchFamily="34" charset="-120"/>
              </a:rPr>
              <a:t>El ciclo se cierra: la gobernanza vuelve a actuar sobre el sesgo original mediante auditorías periódicas</a:t>
            </a:r>
            <a:endParaRPr lang="en-US" sz="1200" dirty="0"/>
          </a:p>
        </p:txBody>
      </p:sp>
      <p:sp>
        <p:nvSpPr>
          <p:cNvPr id="38" name="Text 36"/>
          <p:cNvSpPr/>
          <p:nvPr/>
        </p:nvSpPr>
        <p:spPr>
          <a:xfrm>
            <a:off x="822960" y="5742432"/>
            <a:ext cx="10543032" cy="274320"/>
          </a:xfrm>
          <a:prstGeom prst="rect">
            <a:avLst/>
          </a:prstGeom>
          <a:noFill/>
          <a:ln/>
        </p:spPr>
        <p:txBody>
          <a:bodyPr wrap="square" lIns="0" tIns="0" rIns="0" bIns="0" rtlCol="0" anchor="t"/>
          <a:lstStyle/>
          <a:p>
            <a:pPr algn="ctr" indent="0" marL="0">
              <a:buNone/>
            </a:pPr>
            <a:r>
              <a:rPr lang="en-US" sz="1100" i="1" dirty="0">
                <a:solidFill>
                  <a:srgbClr val="7F7F7F"/>
                </a:solidFill>
                <a:latin typeface="Calibri" pitchFamily="34" charset="0"/>
                <a:ea typeface="Calibri" pitchFamily="34" charset="-122"/>
                <a:cs typeface="Calibri" pitchFamily="34" charset="-120"/>
              </a:rPr>
              <a:t>La regulación fija el piso mínimo obligatorio; la gobernanza es el estándar que la organización decide alcanzar.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Riesgo ético I: sesgo algorítmico</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Shape 2"/>
          <p:cNvSpPr/>
          <p:nvPr/>
        </p:nvSpPr>
        <p:spPr>
          <a:xfrm>
            <a:off x="640080" y="1143000"/>
            <a:ext cx="4709160" cy="4892040"/>
          </a:xfrm>
          <a:prstGeom prst="roundRect">
            <a:avLst>
              <a:gd name="adj" fmla="val 1165"/>
            </a:avLst>
          </a:prstGeom>
          <a:solidFill>
            <a:srgbClr val="FBF1F0"/>
          </a:solidFill>
          <a:ln w="12700">
            <a:solidFill>
              <a:srgbClr val="E8C9C6"/>
            </a:solidFill>
            <a:prstDash val="solid"/>
          </a:ln>
          <a:effectLst>
            <a:outerShdw sx="100000" sy="100000" kx="0" ky="0" algn="bl" rotWithShape="0" blurRad="76200" dist="12700" dir="5400000">
              <a:srgbClr val="9AA0A0">
                <a:alpha val="25000"/>
              </a:srgbClr>
            </a:outerShdw>
          </a:effectLst>
        </p:spPr>
      </p:sp>
      <p:sp>
        <p:nvSpPr>
          <p:cNvPr id="5" name="Text 3"/>
          <p:cNvSpPr/>
          <p:nvPr/>
        </p:nvSpPr>
        <p:spPr>
          <a:xfrm>
            <a:off x="960120" y="1417320"/>
            <a:ext cx="4114800" cy="256032"/>
          </a:xfrm>
          <a:prstGeom prst="rect">
            <a:avLst/>
          </a:prstGeom>
          <a:noFill/>
          <a:ln/>
        </p:spPr>
        <p:txBody>
          <a:bodyPr wrap="square" lIns="0" tIns="0" rIns="0" bIns="0" rtlCol="0" anchor="t"/>
          <a:lstStyle/>
          <a:p>
            <a:pPr indent="0" marL="0">
              <a:buNone/>
            </a:pPr>
            <a:r>
              <a:rPr lang="en-US" sz="1050" b="1" spc="150" kern="0" dirty="0">
                <a:solidFill>
                  <a:srgbClr val="C0453D"/>
                </a:solidFill>
                <a:latin typeface="Calibri" pitchFamily="34" charset="0"/>
                <a:ea typeface="Calibri" pitchFamily="34" charset="-122"/>
                <a:cs typeface="Calibri" pitchFamily="34" charset="-120"/>
              </a:rPr>
              <a:t>EL SESGO DOMINANTE</a:t>
            </a:r>
            <a:endParaRPr lang="en-US" sz="1050" dirty="0"/>
          </a:p>
        </p:txBody>
      </p:sp>
      <p:sp>
        <p:nvSpPr>
          <p:cNvPr id="6" name="Text 4"/>
          <p:cNvSpPr/>
          <p:nvPr/>
        </p:nvSpPr>
        <p:spPr>
          <a:xfrm>
            <a:off x="960120" y="1719072"/>
            <a:ext cx="4114800" cy="685800"/>
          </a:xfrm>
          <a:prstGeom prst="rect">
            <a:avLst/>
          </a:prstGeom>
          <a:noFill/>
          <a:ln/>
        </p:spPr>
        <p:txBody>
          <a:bodyPr wrap="square" lIns="0" tIns="0" rIns="0" bIns="0" rtlCol="0" anchor="t"/>
          <a:lstStyle/>
          <a:p>
            <a:pPr indent="0" marL="0">
              <a:lnSpc>
                <a:spcPts val="2400"/>
              </a:lnSpc>
              <a:buNone/>
            </a:pPr>
            <a:r>
              <a:rPr lang="en-US" sz="1900" b="1" dirty="0">
                <a:solidFill>
                  <a:srgbClr val="3F3F3F"/>
                </a:solidFill>
                <a:latin typeface="Calibri" pitchFamily="34" charset="0"/>
                <a:ea typeface="Calibri" pitchFamily="34" charset="-122"/>
                <a:cs typeface="Calibri" pitchFamily="34" charset="-120"/>
              </a:rPr>
              <a:t>Reconocimiento del habla por variedad dialectal</a:t>
            </a:r>
            <a:endParaRPr lang="en-US" sz="1900" dirty="0"/>
          </a:p>
        </p:txBody>
      </p:sp>
      <p:sp>
        <p:nvSpPr>
          <p:cNvPr id="7" name="Shape 5"/>
          <p:cNvSpPr/>
          <p:nvPr/>
        </p:nvSpPr>
        <p:spPr>
          <a:xfrm>
            <a:off x="960120" y="2542032"/>
            <a:ext cx="685800" cy="27432"/>
          </a:xfrm>
          <a:prstGeom prst="rect">
            <a:avLst/>
          </a:prstGeom>
          <a:solidFill>
            <a:srgbClr val="C0453D"/>
          </a:solidFill>
          <a:ln/>
        </p:spPr>
      </p:sp>
      <p:sp>
        <p:nvSpPr>
          <p:cNvPr id="8" name="Text 6"/>
          <p:cNvSpPr/>
          <p:nvPr/>
        </p:nvSpPr>
        <p:spPr>
          <a:xfrm>
            <a:off x="960120" y="2743200"/>
            <a:ext cx="4069080" cy="1691640"/>
          </a:xfrm>
          <a:prstGeom prst="rect">
            <a:avLst/>
          </a:prstGeom>
          <a:noFill/>
          <a:ln/>
        </p:spPr>
        <p:txBody>
          <a:bodyPr wrap="square" lIns="0" tIns="0" rIns="0" bIns="0" rtlCol="0" anchor="t"/>
          <a:lstStyle/>
          <a:p>
            <a:pPr indent="0" marL="0">
              <a:lnSpc>
                <a:spcPts val="1800"/>
              </a:lnSpc>
              <a:buNone/>
            </a:pPr>
            <a:r>
              <a:rPr lang="en-US" sz="1200" dirty="0">
                <a:solidFill>
                  <a:srgbClr val="5A5A5A"/>
                </a:solidFill>
                <a:latin typeface="Calibri" pitchFamily="34" charset="0"/>
                <a:ea typeface="Calibri" pitchFamily="34" charset="-122"/>
                <a:cs typeface="Calibri" pitchFamily="34" charset="-120"/>
              </a:rPr>
              <a:t>Los modelos de reconocimiento del habla se entrenan con variedades estándar del castellano. En el Perú, la tasa de error es previsiblemente mayor para hablantes con sustrato andino o amazónico, bilingües quechua-castellano, adultos mayores y personas con prótesis dental — que por definición del negocio son el público de una clínica dental.</a:t>
            </a:r>
            <a:endParaRPr lang="en-US" sz="1200" dirty="0"/>
          </a:p>
        </p:txBody>
      </p:sp>
      <p:sp>
        <p:nvSpPr>
          <p:cNvPr id="9" name="Shape 7"/>
          <p:cNvSpPr/>
          <p:nvPr/>
        </p:nvSpPr>
        <p:spPr>
          <a:xfrm>
            <a:off x="960120" y="4526280"/>
            <a:ext cx="4069080" cy="1143000"/>
          </a:xfrm>
          <a:prstGeom prst="roundRect">
            <a:avLst>
              <a:gd name="adj" fmla="val 6400"/>
            </a:avLst>
          </a:prstGeom>
          <a:solidFill>
            <a:srgbClr val="C0453D"/>
          </a:solidFill>
          <a:ln/>
        </p:spPr>
      </p:sp>
      <p:sp>
        <p:nvSpPr>
          <p:cNvPr id="10" name="Text 8"/>
          <p:cNvSpPr/>
          <p:nvPr/>
        </p:nvSpPr>
        <p:spPr>
          <a:xfrm>
            <a:off x="960120" y="4526280"/>
            <a:ext cx="4069080" cy="1143000"/>
          </a:xfrm>
          <a:prstGeom prst="rect">
            <a:avLst/>
          </a:prstGeom>
          <a:noFill/>
          <a:ln/>
        </p:spPr>
        <p:txBody>
          <a:bodyPr wrap="square" lIns="0" tIns="0" rIns="0" bIns="0" rtlCol="0" anchor="ctr"/>
          <a:lstStyle/>
          <a:p>
            <a:pPr algn="ctr" indent="0" marL="0">
              <a:lnSpc>
                <a:spcPts val="1800"/>
              </a:lnSpc>
              <a:buNone/>
            </a:pPr>
            <a:r>
              <a:rPr lang="en-US" sz="1250" b="1" dirty="0">
                <a:solidFill>
                  <a:srgbClr val="FFFFFF"/>
                </a:solidFill>
                <a:latin typeface="Calibri" pitchFamily="34" charset="0"/>
                <a:ea typeface="Calibri" pitchFamily="34" charset="-122"/>
                <a:cs typeface="Calibri" pitchFamily="34" charset="-120"/>
              </a:rPr>
              <a:t>Un sesgo computacional se vuelve sistémico:</a:t>
            </a:r>
            <a:endParaRPr lang="en-US" sz="1250" dirty="0"/>
          </a:p>
          <a:p>
            <a:pPr algn="ctr" indent="0" marL="0">
              <a:lnSpc>
                <a:spcPts val="1800"/>
              </a:lnSpc>
              <a:buNone/>
            </a:pPr>
            <a:r>
              <a:rPr lang="en-US" sz="1250" b="1" dirty="0">
                <a:solidFill>
                  <a:srgbClr val="FFFFFF"/>
                </a:solidFill>
                <a:latin typeface="Calibri" pitchFamily="34" charset="0"/>
                <a:ea typeface="Calibri" pitchFamily="34" charset="-122"/>
                <a:cs typeface="Calibri" pitchFamily="34" charset="-120"/>
              </a:rPr>
              <a:t>el paciente al que el sistema no entiende</a:t>
            </a:r>
            <a:endParaRPr lang="en-US" sz="1250" dirty="0"/>
          </a:p>
          <a:p>
            <a:pPr algn="ctr" indent="0" marL="0">
              <a:lnSpc>
                <a:spcPts val="1800"/>
              </a:lnSpc>
              <a:buNone/>
            </a:pPr>
            <a:r>
              <a:rPr lang="en-US" sz="1250" b="1" dirty="0">
                <a:solidFill>
                  <a:srgbClr val="FFFFFF"/>
                </a:solidFill>
                <a:latin typeface="Calibri" pitchFamily="34" charset="0"/>
                <a:ea typeface="Calibri" pitchFamily="34" charset="-122"/>
                <a:cs typeface="Calibri" pitchFamily="34" charset="-120"/>
              </a:rPr>
              <a:t>no consigue su cita.</a:t>
            </a:r>
            <a:endParaRPr lang="en-US" sz="1250" dirty="0"/>
          </a:p>
        </p:txBody>
      </p:sp>
      <p:sp>
        <p:nvSpPr>
          <p:cNvPr id="11" name="Shape 9"/>
          <p:cNvSpPr/>
          <p:nvPr/>
        </p:nvSpPr>
        <p:spPr>
          <a:xfrm>
            <a:off x="5623560" y="1143000"/>
            <a:ext cx="2788920" cy="2350008"/>
          </a:xfrm>
          <a:prstGeom prst="roundRect">
            <a:avLst>
              <a:gd name="adj" fmla="val 2335"/>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2" name="Shape 10"/>
          <p:cNvSpPr/>
          <p:nvPr/>
        </p:nvSpPr>
        <p:spPr>
          <a:xfrm>
            <a:off x="5861304" y="1399032"/>
            <a:ext cx="402336" cy="402336"/>
          </a:xfrm>
          <a:prstGeom prst="ellipse">
            <a:avLst/>
          </a:prstGeom>
          <a:solidFill>
            <a:srgbClr val="EFA733"/>
          </a:solidFill>
          <a:ln w="12700">
            <a:solidFill>
              <a:srgbClr val="EFA733"/>
            </a:solidFill>
            <a:prstDash val="solid"/>
          </a:ln>
        </p:spPr>
      </p:sp>
      <p:sp>
        <p:nvSpPr>
          <p:cNvPr id="13" name="Text 11"/>
          <p:cNvSpPr/>
          <p:nvPr/>
        </p:nvSpPr>
        <p:spPr>
          <a:xfrm>
            <a:off x="5861304" y="13990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6373368" y="1417320"/>
            <a:ext cx="1828800" cy="530352"/>
          </a:xfrm>
          <a:prstGeom prst="rect">
            <a:avLst/>
          </a:prstGeom>
          <a:noFill/>
          <a:ln/>
        </p:spPr>
        <p:txBody>
          <a:bodyPr wrap="square" lIns="0" tIns="0" rIns="0" bIns="0" rtlCol="0" anchor="t"/>
          <a:lstStyle/>
          <a:p>
            <a:pPr indent="0" marL="0">
              <a:lnSpc>
                <a:spcPts val="1600"/>
              </a:lnSpc>
              <a:buNone/>
            </a:pPr>
            <a:r>
              <a:rPr lang="en-US" sz="1250" b="1" dirty="0">
                <a:solidFill>
                  <a:srgbClr val="EFA733"/>
                </a:solidFill>
                <a:latin typeface="Calibri" pitchFamily="34" charset="0"/>
                <a:ea typeface="Calibri" pitchFamily="34" charset="-122"/>
                <a:cs typeface="Calibri" pitchFamily="34" charset="-120"/>
              </a:rPr>
              <a:t>Base de conocimiento</a:t>
            </a:r>
            <a:endParaRPr lang="en-US" sz="1250" dirty="0"/>
          </a:p>
        </p:txBody>
      </p:sp>
      <p:sp>
        <p:nvSpPr>
          <p:cNvPr id="15" name="Text 13"/>
          <p:cNvSpPr/>
          <p:nvPr/>
        </p:nvSpPr>
        <p:spPr>
          <a:xfrm>
            <a:off x="5861304" y="2075688"/>
            <a:ext cx="2331720" cy="1280160"/>
          </a:xfrm>
          <a:prstGeom prst="rect">
            <a:avLst/>
          </a:prstGeom>
          <a:noFill/>
          <a:ln/>
        </p:spPr>
        <p:txBody>
          <a:bodyPr wrap="square" lIns="0" tIns="0" rIns="0" bIns="0" rtlCol="0" anchor="t"/>
          <a:lstStyle/>
          <a:p>
            <a:pPr indent="0" marL="0">
              <a:lnSpc>
                <a:spcPts val="1800"/>
              </a:lnSpc>
              <a:buNone/>
            </a:pPr>
            <a:r>
              <a:rPr lang="en-US" sz="1150" dirty="0">
                <a:solidFill>
                  <a:srgbClr val="5A5A5A"/>
                </a:solidFill>
                <a:latin typeface="Calibri" pitchFamily="34" charset="0"/>
                <a:ea typeface="Calibri" pitchFamily="34" charset="-122"/>
                <a:cs typeface="Calibri" pitchFamily="34" charset="-120"/>
              </a:rPr>
              <a:t>Se genera desde el sitio web: material de marketing que sobre-representa los tratamientos de mayor margen.</a:t>
            </a:r>
            <a:endParaRPr lang="en-US" sz="1150" dirty="0"/>
          </a:p>
        </p:txBody>
      </p:sp>
      <p:sp>
        <p:nvSpPr>
          <p:cNvPr id="16" name="Shape 14"/>
          <p:cNvSpPr/>
          <p:nvPr/>
        </p:nvSpPr>
        <p:spPr>
          <a:xfrm>
            <a:off x="8659368" y="1143000"/>
            <a:ext cx="2788920" cy="2350008"/>
          </a:xfrm>
          <a:prstGeom prst="roundRect">
            <a:avLst>
              <a:gd name="adj" fmla="val 2335"/>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7" name="Shape 15"/>
          <p:cNvSpPr/>
          <p:nvPr/>
        </p:nvSpPr>
        <p:spPr>
          <a:xfrm>
            <a:off x="8897112" y="1399032"/>
            <a:ext cx="402336" cy="402336"/>
          </a:xfrm>
          <a:prstGeom prst="ellipse">
            <a:avLst/>
          </a:prstGeom>
          <a:solidFill>
            <a:srgbClr val="17A398"/>
          </a:solidFill>
          <a:ln w="12700">
            <a:solidFill>
              <a:srgbClr val="17A398"/>
            </a:solidFill>
            <a:prstDash val="solid"/>
          </a:ln>
        </p:spPr>
      </p:sp>
      <p:sp>
        <p:nvSpPr>
          <p:cNvPr id="18" name="Text 16"/>
          <p:cNvSpPr/>
          <p:nvPr/>
        </p:nvSpPr>
        <p:spPr>
          <a:xfrm>
            <a:off x="8897112" y="139903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9409176" y="1417320"/>
            <a:ext cx="1828800" cy="530352"/>
          </a:xfrm>
          <a:prstGeom prst="rect">
            <a:avLst/>
          </a:prstGeom>
          <a:noFill/>
          <a:ln/>
        </p:spPr>
        <p:txBody>
          <a:bodyPr wrap="square" lIns="0" tIns="0" rIns="0" bIns="0" rtlCol="0" anchor="t"/>
          <a:lstStyle/>
          <a:p>
            <a:pPr indent="0" marL="0">
              <a:lnSpc>
                <a:spcPts val="1600"/>
              </a:lnSpc>
              <a:buNone/>
            </a:pPr>
            <a:r>
              <a:rPr lang="en-US" sz="1250" b="1" dirty="0">
                <a:solidFill>
                  <a:srgbClr val="17A398"/>
                </a:solidFill>
                <a:latin typeface="Calibri" pitchFamily="34" charset="0"/>
                <a:ea typeface="Calibri" pitchFamily="34" charset="-122"/>
                <a:cs typeface="Calibri" pitchFamily="34" charset="-120"/>
              </a:rPr>
              <a:t>Calificación comercial</a:t>
            </a:r>
            <a:endParaRPr lang="en-US" sz="1250" dirty="0"/>
          </a:p>
        </p:txBody>
      </p:sp>
      <p:sp>
        <p:nvSpPr>
          <p:cNvPr id="20" name="Text 18"/>
          <p:cNvSpPr/>
          <p:nvPr/>
        </p:nvSpPr>
        <p:spPr>
          <a:xfrm>
            <a:off x="8897112" y="2075688"/>
            <a:ext cx="2331720" cy="1280160"/>
          </a:xfrm>
          <a:prstGeom prst="rect">
            <a:avLst/>
          </a:prstGeom>
          <a:noFill/>
          <a:ln/>
        </p:spPr>
        <p:txBody>
          <a:bodyPr wrap="square" lIns="0" tIns="0" rIns="0" bIns="0" rtlCol="0" anchor="t"/>
          <a:lstStyle/>
          <a:p>
            <a:pPr indent="0" marL="0">
              <a:lnSpc>
                <a:spcPts val="1800"/>
              </a:lnSpc>
              <a:buNone/>
            </a:pPr>
            <a:r>
              <a:rPr lang="en-US" sz="1150" dirty="0">
                <a:solidFill>
                  <a:srgbClr val="5A5A5A"/>
                </a:solidFill>
                <a:latin typeface="Calibri" pitchFamily="34" charset="0"/>
                <a:ea typeface="Calibri" pitchFamily="34" charset="-122"/>
                <a:cs typeface="Calibri" pitchFamily="34" charset="-120"/>
              </a:rPr>
              <a:t>Clasificar por capacidad de pago inferida produciría distinta atención. Se califica después, nunca durante.</a:t>
            </a:r>
            <a:endParaRPr lang="en-US" sz="1150" dirty="0"/>
          </a:p>
        </p:txBody>
      </p:sp>
      <p:sp>
        <p:nvSpPr>
          <p:cNvPr id="21" name="Shape 19"/>
          <p:cNvSpPr/>
          <p:nvPr/>
        </p:nvSpPr>
        <p:spPr>
          <a:xfrm>
            <a:off x="5623560" y="3685032"/>
            <a:ext cx="2788920" cy="2350008"/>
          </a:xfrm>
          <a:prstGeom prst="roundRect">
            <a:avLst>
              <a:gd name="adj" fmla="val 2335"/>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2" name="Shape 20"/>
          <p:cNvSpPr/>
          <p:nvPr/>
        </p:nvSpPr>
        <p:spPr>
          <a:xfrm>
            <a:off x="5861304" y="3941064"/>
            <a:ext cx="402336" cy="402336"/>
          </a:xfrm>
          <a:prstGeom prst="ellipse">
            <a:avLst/>
          </a:prstGeom>
          <a:solidFill>
            <a:srgbClr val="8DC03F"/>
          </a:solidFill>
          <a:ln w="12700">
            <a:solidFill>
              <a:srgbClr val="8DC03F"/>
            </a:solidFill>
            <a:prstDash val="solid"/>
          </a:ln>
        </p:spPr>
      </p:sp>
      <p:sp>
        <p:nvSpPr>
          <p:cNvPr id="23" name="Text 21"/>
          <p:cNvSpPr/>
          <p:nvPr/>
        </p:nvSpPr>
        <p:spPr>
          <a:xfrm>
            <a:off x="5861304" y="39410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6373368" y="3959352"/>
            <a:ext cx="1828800" cy="530352"/>
          </a:xfrm>
          <a:prstGeom prst="rect">
            <a:avLst/>
          </a:prstGeom>
          <a:noFill/>
          <a:ln/>
        </p:spPr>
        <p:txBody>
          <a:bodyPr wrap="square" lIns="0" tIns="0" rIns="0" bIns="0" rtlCol="0" anchor="t"/>
          <a:lstStyle/>
          <a:p>
            <a:pPr indent="0" marL="0">
              <a:lnSpc>
                <a:spcPts val="1600"/>
              </a:lnSpc>
              <a:buNone/>
            </a:pPr>
            <a:r>
              <a:rPr lang="en-US" sz="1250" b="1" dirty="0">
                <a:solidFill>
                  <a:srgbClr val="8DC03F"/>
                </a:solidFill>
                <a:latin typeface="Calibri" pitchFamily="34" charset="0"/>
                <a:ea typeface="Calibri" pitchFamily="34" charset="-122"/>
                <a:cs typeface="Calibri" pitchFamily="34" charset="-120"/>
              </a:rPr>
              <a:t>Género en la voz</a:t>
            </a:r>
            <a:endParaRPr lang="en-US" sz="1250" dirty="0"/>
          </a:p>
        </p:txBody>
      </p:sp>
      <p:sp>
        <p:nvSpPr>
          <p:cNvPr id="25" name="Text 23"/>
          <p:cNvSpPr/>
          <p:nvPr/>
        </p:nvSpPr>
        <p:spPr>
          <a:xfrm>
            <a:off x="5861304" y="4617720"/>
            <a:ext cx="2331720" cy="1280160"/>
          </a:xfrm>
          <a:prstGeom prst="rect">
            <a:avLst/>
          </a:prstGeom>
          <a:noFill/>
          <a:ln/>
        </p:spPr>
        <p:txBody>
          <a:bodyPr wrap="square" lIns="0" tIns="0" rIns="0" bIns="0" rtlCol="0" anchor="t"/>
          <a:lstStyle/>
          <a:p>
            <a:pPr indent="0" marL="0">
              <a:lnSpc>
                <a:spcPts val="1800"/>
              </a:lnSpc>
              <a:buNone/>
            </a:pPr>
            <a:r>
              <a:rPr lang="en-US" sz="1150" dirty="0">
                <a:solidFill>
                  <a:srgbClr val="5A5A5A"/>
                </a:solidFill>
                <a:latin typeface="Calibri" pitchFamily="34" charset="0"/>
                <a:ea typeface="Calibri" pitchFamily="34" charset="-122"/>
                <a:cs typeface="Calibri" pitchFamily="34" charset="-120"/>
              </a:rPr>
              <a:t>La voz femenina por defecto reproduce el estereotipo secretarial. Se decide y se declara, no se hereda.</a:t>
            </a:r>
            <a:endParaRPr lang="en-US" sz="1150" dirty="0"/>
          </a:p>
        </p:txBody>
      </p:sp>
      <p:sp>
        <p:nvSpPr>
          <p:cNvPr id="26" name="Shape 24"/>
          <p:cNvSpPr/>
          <p:nvPr/>
        </p:nvSpPr>
        <p:spPr>
          <a:xfrm>
            <a:off x="8659368" y="3685032"/>
            <a:ext cx="2788920" cy="2350008"/>
          </a:xfrm>
          <a:prstGeom prst="roundRect">
            <a:avLst>
              <a:gd name="adj" fmla="val 2335"/>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7" name="Shape 25"/>
          <p:cNvSpPr/>
          <p:nvPr/>
        </p:nvSpPr>
        <p:spPr>
          <a:xfrm>
            <a:off x="8897112" y="3941064"/>
            <a:ext cx="402336" cy="402336"/>
          </a:xfrm>
          <a:prstGeom prst="ellipse">
            <a:avLst/>
          </a:prstGeom>
          <a:solidFill>
            <a:srgbClr val="7F7F7F"/>
          </a:solidFill>
          <a:ln w="12700">
            <a:solidFill>
              <a:srgbClr val="7F7F7F"/>
            </a:solidFill>
            <a:prstDash val="solid"/>
          </a:ln>
        </p:spPr>
      </p:sp>
      <p:sp>
        <p:nvSpPr>
          <p:cNvPr id="28" name="Text 26"/>
          <p:cNvSpPr/>
          <p:nvPr/>
        </p:nvSpPr>
        <p:spPr>
          <a:xfrm>
            <a:off x="8897112" y="394106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9409176" y="3959352"/>
            <a:ext cx="1828800" cy="530352"/>
          </a:xfrm>
          <a:prstGeom prst="rect">
            <a:avLst/>
          </a:prstGeom>
          <a:noFill/>
          <a:ln/>
        </p:spPr>
        <p:txBody>
          <a:bodyPr wrap="square" lIns="0" tIns="0" rIns="0" bIns="0" rtlCol="0" anchor="t"/>
          <a:lstStyle/>
          <a:p>
            <a:pPr indent="0" marL="0">
              <a:lnSpc>
                <a:spcPts val="1600"/>
              </a:lnSpc>
              <a:buNone/>
            </a:pPr>
            <a:r>
              <a:rPr lang="en-US" sz="1250" b="1" dirty="0">
                <a:solidFill>
                  <a:srgbClr val="7F7F7F"/>
                </a:solidFill>
                <a:latin typeface="Calibri" pitchFamily="34" charset="0"/>
                <a:ea typeface="Calibri" pitchFamily="34" charset="-122"/>
                <a:cs typeface="Calibri" pitchFamily="34" charset="-120"/>
              </a:rPr>
              <a:t>Confirmación del equipo</a:t>
            </a:r>
            <a:endParaRPr lang="en-US" sz="1250" dirty="0"/>
          </a:p>
        </p:txBody>
      </p:sp>
      <p:sp>
        <p:nvSpPr>
          <p:cNvPr id="30" name="Text 28"/>
          <p:cNvSpPr/>
          <p:nvPr/>
        </p:nvSpPr>
        <p:spPr>
          <a:xfrm>
            <a:off x="8897112" y="4617720"/>
            <a:ext cx="2331720" cy="1280160"/>
          </a:xfrm>
          <a:prstGeom prst="rect">
            <a:avLst/>
          </a:prstGeom>
          <a:noFill/>
          <a:ln/>
        </p:spPr>
        <p:txBody>
          <a:bodyPr wrap="square" lIns="0" tIns="0" rIns="0" bIns="0" rtlCol="0" anchor="t"/>
          <a:lstStyle/>
          <a:p>
            <a:pPr indent="0" marL="0">
              <a:lnSpc>
                <a:spcPts val="1800"/>
              </a:lnSpc>
              <a:buNone/>
            </a:pPr>
            <a:r>
              <a:rPr lang="en-US" sz="1150" dirty="0">
                <a:solidFill>
                  <a:srgbClr val="5A5A5A"/>
                </a:solidFill>
                <a:latin typeface="Calibri" pitchFamily="34" charset="0"/>
                <a:ea typeface="Calibri" pitchFamily="34" charset="-122"/>
                <a:cs typeface="Calibri" pitchFamily="34" charset="-120"/>
              </a:rPr>
              <a:t>Se itera el prompt sobre los fallos que el evaluador ya reconoce; los que comparte con el sistema se consolidan.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Riesgo ético II: privacidad, dependencia e inyección de prompts</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Shape 2"/>
          <p:cNvSpPr/>
          <p:nvPr/>
        </p:nvSpPr>
        <p:spPr>
          <a:xfrm>
            <a:off x="420624" y="1188720"/>
            <a:ext cx="3611880" cy="4846320"/>
          </a:xfrm>
          <a:prstGeom prst="roundRect">
            <a:avLst>
              <a:gd name="adj" fmla="val 1519"/>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5" name="Shape 3"/>
          <p:cNvSpPr/>
          <p:nvPr/>
        </p:nvSpPr>
        <p:spPr>
          <a:xfrm>
            <a:off x="420624" y="1188720"/>
            <a:ext cx="3611880" cy="841248"/>
          </a:xfrm>
          <a:prstGeom prst="roundRect">
            <a:avLst>
              <a:gd name="adj" fmla="val 6522"/>
            </a:avLst>
          </a:prstGeom>
          <a:solidFill>
            <a:srgbClr val="17A398"/>
          </a:solidFill>
          <a:ln w="12700">
            <a:solidFill>
              <a:srgbClr val="17A398"/>
            </a:solidFill>
            <a:prstDash val="solid"/>
          </a:ln>
        </p:spPr>
      </p:sp>
      <p:sp>
        <p:nvSpPr>
          <p:cNvPr id="6" name="Shape 4"/>
          <p:cNvSpPr/>
          <p:nvPr/>
        </p:nvSpPr>
        <p:spPr>
          <a:xfrm>
            <a:off x="658368" y="1426464"/>
            <a:ext cx="384048" cy="384048"/>
          </a:xfrm>
          <a:prstGeom prst="ellipse">
            <a:avLst/>
          </a:prstGeom>
          <a:solidFill>
            <a:srgbClr val="FFFFFF"/>
          </a:solidFill>
          <a:ln w="12700">
            <a:solidFill>
              <a:srgbClr val="FFFFFF"/>
            </a:solidFill>
            <a:prstDash val="solid"/>
          </a:ln>
        </p:spPr>
      </p:sp>
      <p:sp>
        <p:nvSpPr>
          <p:cNvPr id="7" name="Text 5"/>
          <p:cNvSpPr/>
          <p:nvPr/>
        </p:nvSpPr>
        <p:spPr>
          <a:xfrm>
            <a:off x="658368" y="1426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658368" y="1426464"/>
            <a:ext cx="384048" cy="384048"/>
          </a:xfrm>
          <a:prstGeom prst="rect">
            <a:avLst/>
          </a:prstGeom>
          <a:noFill/>
          <a:ln/>
        </p:spPr>
        <p:txBody>
          <a:bodyPr wrap="square" lIns="0" tIns="0" rIns="0" bIns="0" rtlCol="0" anchor="ctr"/>
          <a:lstStyle/>
          <a:p>
            <a:pPr algn="ctr" indent="0" marL="0">
              <a:buNone/>
            </a:pPr>
            <a:r>
              <a:rPr lang="en-US" sz="1300" b="1" dirty="0">
                <a:solidFill>
                  <a:srgbClr val="17A398"/>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152144" y="1298448"/>
            <a:ext cx="2651760" cy="64008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Privacidad y confidencialidad</a:t>
            </a:r>
            <a:endParaRPr lang="en-US" sz="1350" dirty="0"/>
          </a:p>
        </p:txBody>
      </p:sp>
      <p:sp>
        <p:nvSpPr>
          <p:cNvPr id="10" name="Shape 8"/>
          <p:cNvSpPr/>
          <p:nvPr/>
        </p:nvSpPr>
        <p:spPr>
          <a:xfrm>
            <a:off x="676656" y="2368296"/>
            <a:ext cx="118872" cy="118872"/>
          </a:xfrm>
          <a:prstGeom prst="rect">
            <a:avLst/>
          </a:prstGeom>
          <a:solidFill>
            <a:srgbClr val="17A398"/>
          </a:solidFill>
          <a:ln/>
        </p:spPr>
      </p:sp>
      <p:sp>
        <p:nvSpPr>
          <p:cNvPr id="11" name="Text 9"/>
          <p:cNvSpPr/>
          <p:nvPr/>
        </p:nvSpPr>
        <p:spPr>
          <a:xfrm>
            <a:off x="923544" y="22677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La voz es dato biométrico: retención de audio desactivada por defecto.</a:t>
            </a:r>
            <a:endParaRPr lang="en-US" sz="1050" dirty="0"/>
          </a:p>
        </p:txBody>
      </p:sp>
      <p:sp>
        <p:nvSpPr>
          <p:cNvPr id="12" name="Shape 10"/>
          <p:cNvSpPr/>
          <p:nvPr/>
        </p:nvSpPr>
        <p:spPr>
          <a:xfrm>
            <a:off x="676656" y="3282696"/>
            <a:ext cx="118872" cy="118872"/>
          </a:xfrm>
          <a:prstGeom prst="rect">
            <a:avLst/>
          </a:prstGeom>
          <a:solidFill>
            <a:srgbClr val="17A398"/>
          </a:solidFill>
          <a:ln/>
        </p:spPr>
      </p:sp>
      <p:sp>
        <p:nvSpPr>
          <p:cNvPr id="13" name="Text 11"/>
          <p:cNvSpPr/>
          <p:nvPr/>
        </p:nvSpPr>
        <p:spPr>
          <a:xfrm>
            <a:off x="923544" y="31821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Una llamada atraviesa cuatro operadores extranjeros: telefonía, voz, modelo e infraestructura.</a:t>
            </a:r>
            <a:endParaRPr lang="en-US" sz="1050" dirty="0"/>
          </a:p>
        </p:txBody>
      </p:sp>
      <p:sp>
        <p:nvSpPr>
          <p:cNvPr id="14" name="Shape 12"/>
          <p:cNvSpPr/>
          <p:nvPr/>
        </p:nvSpPr>
        <p:spPr>
          <a:xfrm>
            <a:off x="676656" y="4197096"/>
            <a:ext cx="118872" cy="118872"/>
          </a:xfrm>
          <a:prstGeom prst="rect">
            <a:avLst/>
          </a:prstGeom>
          <a:solidFill>
            <a:srgbClr val="17A398"/>
          </a:solidFill>
          <a:ln/>
        </p:spPr>
      </p:sp>
      <p:sp>
        <p:nvSpPr>
          <p:cNvPr id="15" name="Text 13"/>
          <p:cNvSpPr/>
          <p:nvPr/>
        </p:nvSpPr>
        <p:spPr>
          <a:xfrm>
            <a:off x="923544" y="40965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Los términos del proveedor de voz prevén compartir las conversaciones con él y con proveedores externos de LLM.</a:t>
            </a:r>
            <a:endParaRPr lang="en-US" sz="1050" dirty="0"/>
          </a:p>
        </p:txBody>
      </p:sp>
      <p:sp>
        <p:nvSpPr>
          <p:cNvPr id="16" name="Shape 14"/>
          <p:cNvSpPr/>
          <p:nvPr/>
        </p:nvSpPr>
        <p:spPr>
          <a:xfrm>
            <a:off x="676656" y="5111496"/>
            <a:ext cx="118872" cy="118872"/>
          </a:xfrm>
          <a:prstGeom prst="rect">
            <a:avLst/>
          </a:prstGeom>
          <a:solidFill>
            <a:srgbClr val="17A398"/>
          </a:solidFill>
          <a:ln/>
        </p:spPr>
      </p:sp>
      <p:sp>
        <p:nvSpPr>
          <p:cNvPr id="17" name="Text 15"/>
          <p:cNvSpPr/>
          <p:nvPr/>
        </p:nvSpPr>
        <p:spPr>
          <a:xfrm>
            <a:off x="923544" y="50109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La minimización no se logra solo instruyendo al modelo: el paciente ofrece datos que no se le piden.</a:t>
            </a:r>
            <a:endParaRPr lang="en-US" sz="1050" dirty="0"/>
          </a:p>
        </p:txBody>
      </p:sp>
      <p:sp>
        <p:nvSpPr>
          <p:cNvPr id="18" name="Shape 16"/>
          <p:cNvSpPr/>
          <p:nvPr/>
        </p:nvSpPr>
        <p:spPr>
          <a:xfrm>
            <a:off x="4288536" y="1188720"/>
            <a:ext cx="3611880" cy="4846320"/>
          </a:xfrm>
          <a:prstGeom prst="roundRect">
            <a:avLst>
              <a:gd name="adj" fmla="val 1519"/>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9" name="Shape 17"/>
          <p:cNvSpPr/>
          <p:nvPr/>
        </p:nvSpPr>
        <p:spPr>
          <a:xfrm>
            <a:off x="4288536" y="1188720"/>
            <a:ext cx="3611880" cy="841248"/>
          </a:xfrm>
          <a:prstGeom prst="roundRect">
            <a:avLst>
              <a:gd name="adj" fmla="val 6522"/>
            </a:avLst>
          </a:prstGeom>
          <a:solidFill>
            <a:srgbClr val="EFA733"/>
          </a:solidFill>
          <a:ln w="12700">
            <a:solidFill>
              <a:srgbClr val="EFA733"/>
            </a:solidFill>
            <a:prstDash val="solid"/>
          </a:ln>
        </p:spPr>
      </p:sp>
      <p:sp>
        <p:nvSpPr>
          <p:cNvPr id="20" name="Shape 18"/>
          <p:cNvSpPr/>
          <p:nvPr/>
        </p:nvSpPr>
        <p:spPr>
          <a:xfrm>
            <a:off x="4526280" y="1426464"/>
            <a:ext cx="384048" cy="384048"/>
          </a:xfrm>
          <a:prstGeom prst="ellipse">
            <a:avLst/>
          </a:prstGeom>
          <a:solidFill>
            <a:srgbClr val="FFFFFF"/>
          </a:solidFill>
          <a:ln w="12700">
            <a:solidFill>
              <a:srgbClr val="FFFFFF"/>
            </a:solidFill>
            <a:prstDash val="solid"/>
          </a:ln>
        </p:spPr>
      </p:sp>
      <p:sp>
        <p:nvSpPr>
          <p:cNvPr id="21" name="Text 19"/>
          <p:cNvSpPr/>
          <p:nvPr/>
        </p:nvSpPr>
        <p:spPr>
          <a:xfrm>
            <a:off x="4526280" y="1426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p:nvPr/>
        </p:nvSpPr>
        <p:spPr>
          <a:xfrm>
            <a:off x="4526280" y="1426464"/>
            <a:ext cx="384048" cy="384048"/>
          </a:xfrm>
          <a:prstGeom prst="rect">
            <a:avLst/>
          </a:prstGeom>
          <a:noFill/>
          <a:ln/>
        </p:spPr>
        <p:txBody>
          <a:bodyPr wrap="square" lIns="0" tIns="0" rIns="0" bIns="0" rtlCol="0" anchor="ctr"/>
          <a:lstStyle/>
          <a:p>
            <a:pPr algn="ctr" indent="0" marL="0">
              <a:buNone/>
            </a:pPr>
            <a:r>
              <a:rPr lang="en-US" sz="1300" b="1" dirty="0">
                <a:solidFill>
                  <a:srgbClr val="EFA733"/>
                </a:solidFill>
                <a:latin typeface="Calibri" pitchFamily="34" charset="0"/>
                <a:ea typeface="Calibri" pitchFamily="34" charset="-122"/>
                <a:cs typeface="Calibri" pitchFamily="34" charset="-120"/>
              </a:rPr>
              <a:t>2</a:t>
            </a:r>
            <a:endParaRPr lang="en-US" sz="1300" dirty="0"/>
          </a:p>
        </p:txBody>
      </p:sp>
      <p:sp>
        <p:nvSpPr>
          <p:cNvPr id="23" name="Text 21"/>
          <p:cNvSpPr/>
          <p:nvPr/>
        </p:nvSpPr>
        <p:spPr>
          <a:xfrm>
            <a:off x="5020056" y="1298448"/>
            <a:ext cx="2651760" cy="64008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Dependencia tecnológica</a:t>
            </a:r>
            <a:endParaRPr lang="en-US" sz="1350" dirty="0"/>
          </a:p>
        </p:txBody>
      </p:sp>
      <p:sp>
        <p:nvSpPr>
          <p:cNvPr id="24" name="Shape 22"/>
          <p:cNvSpPr/>
          <p:nvPr/>
        </p:nvSpPr>
        <p:spPr>
          <a:xfrm>
            <a:off x="4544568" y="2368296"/>
            <a:ext cx="118872" cy="118872"/>
          </a:xfrm>
          <a:prstGeom prst="rect">
            <a:avLst/>
          </a:prstGeom>
          <a:solidFill>
            <a:srgbClr val="EFA733"/>
          </a:solidFill>
          <a:ln/>
        </p:spPr>
      </p:sp>
      <p:sp>
        <p:nvSpPr>
          <p:cNvPr id="25" name="Text 23"/>
          <p:cNvSpPr/>
          <p:nvPr/>
        </p:nvSpPr>
        <p:spPr>
          <a:xfrm>
            <a:off x="4791456" y="22677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La clínica pierde el procedimiento de atender el primer contacto. El modo de fallo debe ser volver a la operación manual.</a:t>
            </a:r>
            <a:endParaRPr lang="en-US" sz="1050" dirty="0"/>
          </a:p>
        </p:txBody>
      </p:sp>
      <p:sp>
        <p:nvSpPr>
          <p:cNvPr id="26" name="Shape 24"/>
          <p:cNvSpPr/>
          <p:nvPr/>
        </p:nvSpPr>
        <p:spPr>
          <a:xfrm>
            <a:off x="4544568" y="3282696"/>
            <a:ext cx="118872" cy="118872"/>
          </a:xfrm>
          <a:prstGeom prst="rect">
            <a:avLst/>
          </a:prstGeom>
          <a:solidFill>
            <a:srgbClr val="EFA733"/>
          </a:solidFill>
          <a:ln/>
        </p:spPr>
      </p:sp>
      <p:sp>
        <p:nvSpPr>
          <p:cNvPr id="27" name="Text 25"/>
          <p:cNvSpPr/>
          <p:nvPr/>
        </p:nvSpPr>
        <p:spPr>
          <a:xfrm>
            <a:off x="4791456" y="31821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Si la recepcionista solo recibe casos resueltos, deja de ejercitar el criterio para los difíciles.</a:t>
            </a:r>
            <a:endParaRPr lang="en-US" sz="1050" dirty="0"/>
          </a:p>
        </p:txBody>
      </p:sp>
      <p:sp>
        <p:nvSpPr>
          <p:cNvPr id="28" name="Shape 26"/>
          <p:cNvSpPr/>
          <p:nvPr/>
        </p:nvSpPr>
        <p:spPr>
          <a:xfrm>
            <a:off x="4544568" y="4197096"/>
            <a:ext cx="118872" cy="118872"/>
          </a:xfrm>
          <a:prstGeom prst="rect">
            <a:avLst/>
          </a:prstGeom>
          <a:solidFill>
            <a:srgbClr val="EFA733"/>
          </a:solidFill>
          <a:ln/>
        </p:spPr>
      </p:sp>
      <p:sp>
        <p:nvSpPr>
          <p:cNvPr id="29" name="Text 27"/>
          <p:cNvSpPr/>
          <p:nvPr/>
        </p:nvSpPr>
        <p:spPr>
          <a:xfrm>
            <a:off x="4791456" y="40965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Compromiso contractual: aumento de capacidad, nunca sustitución de personal.</a:t>
            </a:r>
            <a:endParaRPr lang="en-US" sz="1050" dirty="0"/>
          </a:p>
        </p:txBody>
      </p:sp>
      <p:sp>
        <p:nvSpPr>
          <p:cNvPr id="30" name="Shape 28"/>
          <p:cNvSpPr/>
          <p:nvPr/>
        </p:nvSpPr>
        <p:spPr>
          <a:xfrm>
            <a:off x="4544568" y="5111496"/>
            <a:ext cx="118872" cy="118872"/>
          </a:xfrm>
          <a:prstGeom prst="rect">
            <a:avLst/>
          </a:prstGeom>
          <a:solidFill>
            <a:srgbClr val="EFA733"/>
          </a:solidFill>
          <a:ln/>
        </p:spPr>
      </p:sp>
      <p:sp>
        <p:nvSpPr>
          <p:cNvPr id="31" name="Text 29"/>
          <p:cNvSpPr/>
          <p:nvPr/>
        </p:nvSpPr>
        <p:spPr>
          <a:xfrm>
            <a:off x="4791456" y="50109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Arquitectura agnóstica al modelo para contener la dependencia del proveedor.</a:t>
            </a:r>
            <a:endParaRPr lang="en-US" sz="1050" dirty="0"/>
          </a:p>
        </p:txBody>
      </p:sp>
      <p:sp>
        <p:nvSpPr>
          <p:cNvPr id="32" name="Shape 30"/>
          <p:cNvSpPr/>
          <p:nvPr/>
        </p:nvSpPr>
        <p:spPr>
          <a:xfrm>
            <a:off x="8156448" y="1188720"/>
            <a:ext cx="3611880" cy="4846320"/>
          </a:xfrm>
          <a:prstGeom prst="roundRect">
            <a:avLst>
              <a:gd name="adj" fmla="val 1519"/>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33" name="Shape 31"/>
          <p:cNvSpPr/>
          <p:nvPr/>
        </p:nvSpPr>
        <p:spPr>
          <a:xfrm>
            <a:off x="8156448" y="1188720"/>
            <a:ext cx="3611880" cy="841248"/>
          </a:xfrm>
          <a:prstGeom prst="roundRect">
            <a:avLst>
              <a:gd name="adj" fmla="val 6522"/>
            </a:avLst>
          </a:prstGeom>
          <a:solidFill>
            <a:srgbClr val="C0453D"/>
          </a:solidFill>
          <a:ln w="12700">
            <a:solidFill>
              <a:srgbClr val="C0453D"/>
            </a:solidFill>
            <a:prstDash val="solid"/>
          </a:ln>
        </p:spPr>
      </p:sp>
      <p:sp>
        <p:nvSpPr>
          <p:cNvPr id="34" name="Shape 32"/>
          <p:cNvSpPr/>
          <p:nvPr/>
        </p:nvSpPr>
        <p:spPr>
          <a:xfrm>
            <a:off x="8394192" y="1426464"/>
            <a:ext cx="384048" cy="384048"/>
          </a:xfrm>
          <a:prstGeom prst="ellipse">
            <a:avLst/>
          </a:prstGeom>
          <a:solidFill>
            <a:srgbClr val="FFFFFF"/>
          </a:solidFill>
          <a:ln w="12700">
            <a:solidFill>
              <a:srgbClr val="FFFFFF"/>
            </a:solidFill>
            <a:prstDash val="solid"/>
          </a:ln>
        </p:spPr>
      </p:sp>
      <p:sp>
        <p:nvSpPr>
          <p:cNvPr id="35" name="Text 33"/>
          <p:cNvSpPr/>
          <p:nvPr/>
        </p:nvSpPr>
        <p:spPr>
          <a:xfrm>
            <a:off x="8394192" y="1426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6" name="Text 34"/>
          <p:cNvSpPr/>
          <p:nvPr/>
        </p:nvSpPr>
        <p:spPr>
          <a:xfrm>
            <a:off x="8394192" y="1426464"/>
            <a:ext cx="384048" cy="384048"/>
          </a:xfrm>
          <a:prstGeom prst="rect">
            <a:avLst/>
          </a:prstGeom>
          <a:noFill/>
          <a:ln/>
        </p:spPr>
        <p:txBody>
          <a:bodyPr wrap="square" lIns="0" tIns="0" rIns="0" bIns="0" rtlCol="0" anchor="ctr"/>
          <a:lstStyle/>
          <a:p>
            <a:pPr algn="ctr" indent="0" marL="0">
              <a:buNone/>
            </a:pPr>
            <a:r>
              <a:rPr lang="en-US" sz="1300" b="1" dirty="0">
                <a:solidFill>
                  <a:srgbClr val="C0453D"/>
                </a:solidFill>
                <a:latin typeface="Calibri" pitchFamily="34" charset="0"/>
                <a:ea typeface="Calibri" pitchFamily="34" charset="-122"/>
                <a:cs typeface="Calibri" pitchFamily="34" charset="-120"/>
              </a:rPr>
              <a:t>3</a:t>
            </a:r>
            <a:endParaRPr lang="en-US" sz="1300" dirty="0"/>
          </a:p>
        </p:txBody>
      </p:sp>
      <p:sp>
        <p:nvSpPr>
          <p:cNvPr id="37" name="Text 35"/>
          <p:cNvSpPr/>
          <p:nvPr/>
        </p:nvSpPr>
        <p:spPr>
          <a:xfrm>
            <a:off x="8887968" y="1298448"/>
            <a:ext cx="2651760" cy="640080"/>
          </a:xfrm>
          <a:prstGeom prst="rect">
            <a:avLst/>
          </a:prstGeom>
          <a:noFill/>
          <a:ln/>
        </p:spPr>
        <p:txBody>
          <a:bodyPr wrap="square" lIns="0" tIns="0" rIns="0" bIns="0" rtlCol="0" anchor="ctr"/>
          <a:lstStyle/>
          <a:p>
            <a:pPr indent="0" marL="0">
              <a:lnSpc>
                <a:spcPts val="1700"/>
              </a:lnSpc>
              <a:buNone/>
            </a:pPr>
            <a:r>
              <a:rPr lang="en-US" sz="1350" b="1" dirty="0">
                <a:solidFill>
                  <a:srgbClr val="FFFFFF"/>
                </a:solidFill>
                <a:latin typeface="Calibri" pitchFamily="34" charset="0"/>
                <a:ea typeface="Calibri" pitchFamily="34" charset="-122"/>
                <a:cs typeface="Calibri" pitchFamily="34" charset="-120"/>
              </a:rPr>
              <a:t>Inyección de prompts</a:t>
            </a:r>
            <a:endParaRPr lang="en-US" sz="1350" dirty="0"/>
          </a:p>
        </p:txBody>
      </p:sp>
      <p:sp>
        <p:nvSpPr>
          <p:cNvPr id="38" name="Shape 36"/>
          <p:cNvSpPr/>
          <p:nvPr/>
        </p:nvSpPr>
        <p:spPr>
          <a:xfrm>
            <a:off x="8412480" y="2368296"/>
            <a:ext cx="118872" cy="118872"/>
          </a:xfrm>
          <a:prstGeom prst="rect">
            <a:avLst/>
          </a:prstGeom>
          <a:solidFill>
            <a:srgbClr val="C0453D"/>
          </a:solidFill>
          <a:ln/>
        </p:spPr>
      </p:sp>
      <p:sp>
        <p:nvSpPr>
          <p:cNvPr id="39" name="Text 37"/>
          <p:cNvSpPr/>
          <p:nvPr/>
        </p:nvSpPr>
        <p:spPr>
          <a:xfrm>
            <a:off x="8659368" y="22677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Directa: el paciente dicta instrucciones para obtener un precio cerrado o un diagnóstico.</a:t>
            </a:r>
            <a:endParaRPr lang="en-US" sz="1050" dirty="0"/>
          </a:p>
        </p:txBody>
      </p:sp>
      <p:sp>
        <p:nvSpPr>
          <p:cNvPr id="40" name="Shape 38"/>
          <p:cNvSpPr/>
          <p:nvPr/>
        </p:nvSpPr>
        <p:spPr>
          <a:xfrm>
            <a:off x="8412480" y="3282696"/>
            <a:ext cx="118872" cy="118872"/>
          </a:xfrm>
          <a:prstGeom prst="rect">
            <a:avLst/>
          </a:prstGeom>
          <a:solidFill>
            <a:srgbClr val="C0453D"/>
          </a:solidFill>
          <a:ln/>
        </p:spPr>
      </p:sp>
      <p:sp>
        <p:nvSpPr>
          <p:cNvPr id="41" name="Text 39"/>
          <p:cNvSpPr/>
          <p:nvPr/>
        </p:nvSpPr>
        <p:spPr>
          <a:xfrm>
            <a:off x="8659368" y="31821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Indirecta: la base se genera desde el sitio web de la clínica — contenido no confiable convertido en contexto.</a:t>
            </a:r>
            <a:endParaRPr lang="en-US" sz="1050" dirty="0"/>
          </a:p>
        </p:txBody>
      </p:sp>
      <p:sp>
        <p:nvSpPr>
          <p:cNvPr id="42" name="Shape 40"/>
          <p:cNvSpPr/>
          <p:nvPr/>
        </p:nvSpPr>
        <p:spPr>
          <a:xfrm>
            <a:off x="8412480" y="4197096"/>
            <a:ext cx="118872" cy="118872"/>
          </a:xfrm>
          <a:prstGeom prst="rect">
            <a:avLst/>
          </a:prstGeom>
          <a:solidFill>
            <a:srgbClr val="C0453D"/>
          </a:solidFill>
          <a:ln/>
        </p:spPr>
      </p:sp>
      <p:sp>
        <p:nvSpPr>
          <p:cNvPr id="43" name="Text 41"/>
          <p:cNvSpPr/>
          <p:nvPr/>
        </p:nvSpPr>
        <p:spPr>
          <a:xfrm>
            <a:off x="8659368" y="40965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Hacia herramientas: el daño no es lo que el agente dice, sino lo que ejecuta.</a:t>
            </a:r>
            <a:endParaRPr lang="en-US" sz="1050" dirty="0"/>
          </a:p>
        </p:txBody>
      </p:sp>
      <p:sp>
        <p:nvSpPr>
          <p:cNvPr id="44" name="Shape 42"/>
          <p:cNvSpPr/>
          <p:nvPr/>
        </p:nvSpPr>
        <p:spPr>
          <a:xfrm>
            <a:off x="8412480" y="5111496"/>
            <a:ext cx="118872" cy="118872"/>
          </a:xfrm>
          <a:prstGeom prst="rect">
            <a:avLst/>
          </a:prstGeom>
          <a:solidFill>
            <a:srgbClr val="C0453D"/>
          </a:solidFill>
          <a:ln/>
        </p:spPr>
      </p:sp>
      <p:sp>
        <p:nvSpPr>
          <p:cNvPr id="45" name="Text 43"/>
          <p:cNvSpPr/>
          <p:nvPr/>
        </p:nvSpPr>
        <p:spPr>
          <a:xfrm>
            <a:off x="8659368" y="5010912"/>
            <a:ext cx="2834640" cy="9144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Contención en tres capas: prompt, verificación de salida y validación en la herramienta.</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Qué cambia al añadir el canal de voz</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Text 2"/>
          <p:cNvSpPr/>
          <p:nvPr/>
        </p:nvSpPr>
        <p:spPr>
          <a:xfrm>
            <a:off x="822960" y="1097280"/>
            <a:ext cx="10543032" cy="274320"/>
          </a:xfrm>
          <a:prstGeom prst="rect">
            <a:avLst/>
          </a:prstGeom>
          <a:noFill/>
          <a:ln/>
        </p:spPr>
        <p:txBody>
          <a:bodyPr wrap="square" lIns="0" tIns="0" rIns="0" bIns="0" rtlCol="0" anchor="t"/>
          <a:lstStyle/>
          <a:p>
            <a:pPr algn="ctr" indent="0" marL="0">
              <a:buNone/>
            </a:pPr>
            <a:r>
              <a:rPr lang="en-US" sz="1250" i="1" dirty="0">
                <a:solidFill>
                  <a:srgbClr val="7F7F7F"/>
                </a:solidFill>
                <a:latin typeface="Calibri" pitchFamily="34" charset="0"/>
                <a:ea typeface="Calibri" pitchFamily="34" charset="-122"/>
                <a:cs typeface="Calibri" pitchFamily="34" charset="-120"/>
              </a:rPr>
              <a:t>La voz no añade un riesgo aislado: amplifica los tres más graves y agrega cuatro propios.</a:t>
            </a:r>
            <a:endParaRPr lang="en-US" sz="1250" dirty="0"/>
          </a:p>
        </p:txBody>
      </p:sp>
      <p:sp>
        <p:nvSpPr>
          <p:cNvPr id="5" name="Shape 3"/>
          <p:cNvSpPr/>
          <p:nvPr/>
        </p:nvSpPr>
        <p:spPr>
          <a:xfrm>
            <a:off x="640080" y="1572768"/>
            <a:ext cx="5440680" cy="4434840"/>
          </a:xfrm>
          <a:prstGeom prst="roundRect">
            <a:avLst>
              <a:gd name="adj" fmla="val 1237"/>
            </a:avLst>
          </a:prstGeom>
          <a:solidFill>
            <a:srgbClr val="FEF7EC"/>
          </a:solidFill>
          <a:ln w="12700">
            <a:solidFill>
              <a:srgbClr val="F0D9AE"/>
            </a:solidFill>
            <a:prstDash val="solid"/>
          </a:ln>
          <a:effectLst>
            <a:outerShdw sx="100000" sy="100000" kx="0" ky="0" algn="bl" rotWithShape="0" blurRad="76200" dist="12700" dir="5400000">
              <a:srgbClr val="9AA0A0">
                <a:alpha val="25000"/>
              </a:srgbClr>
            </a:outerShdw>
          </a:effectLst>
        </p:spPr>
      </p:sp>
      <p:sp>
        <p:nvSpPr>
          <p:cNvPr id="6" name="Shape 4"/>
          <p:cNvSpPr/>
          <p:nvPr/>
        </p:nvSpPr>
        <p:spPr>
          <a:xfrm>
            <a:off x="640080" y="1572768"/>
            <a:ext cx="5440680" cy="749808"/>
          </a:xfrm>
          <a:prstGeom prst="roundRect">
            <a:avLst>
              <a:gd name="adj" fmla="val 7317"/>
            </a:avLst>
          </a:prstGeom>
          <a:solidFill>
            <a:srgbClr val="EFA733"/>
          </a:solidFill>
          <a:ln w="12700">
            <a:solidFill>
              <a:srgbClr val="EFA733"/>
            </a:solidFill>
            <a:prstDash val="solid"/>
          </a:ln>
        </p:spPr>
      </p:sp>
      <p:sp>
        <p:nvSpPr>
          <p:cNvPr id="7" name="Text 5"/>
          <p:cNvSpPr/>
          <p:nvPr/>
        </p:nvSpPr>
        <p:spPr>
          <a:xfrm>
            <a:off x="640080" y="1572768"/>
            <a:ext cx="5440680"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AMPLIFICA  ·  3 riesgos que ya eran los más graves</a:t>
            </a:r>
            <a:endParaRPr lang="en-US" sz="1300" dirty="0"/>
          </a:p>
        </p:txBody>
      </p:sp>
      <p:sp>
        <p:nvSpPr>
          <p:cNvPr id="8" name="Shape 6"/>
          <p:cNvSpPr/>
          <p:nvPr/>
        </p:nvSpPr>
        <p:spPr>
          <a:xfrm>
            <a:off x="914400" y="2587752"/>
            <a:ext cx="274320" cy="329184"/>
          </a:xfrm>
          <a:prstGeom prst="chevron">
            <a:avLst/>
          </a:prstGeom>
          <a:solidFill>
            <a:srgbClr val="EFA733"/>
          </a:solidFill>
          <a:ln/>
        </p:spPr>
      </p:sp>
      <p:sp>
        <p:nvSpPr>
          <p:cNvPr id="9" name="Text 7"/>
          <p:cNvSpPr/>
          <p:nvPr/>
        </p:nvSpPr>
        <p:spPr>
          <a:xfrm>
            <a:off x="1298448" y="2542032"/>
            <a:ext cx="4480560" cy="292608"/>
          </a:xfrm>
          <a:prstGeom prst="rect">
            <a:avLst/>
          </a:prstGeom>
          <a:noFill/>
          <a:ln/>
        </p:spPr>
        <p:txBody>
          <a:bodyPr wrap="square" lIns="0" tIns="0" rIns="0" bIns="0" rtlCol="0" anchor="t"/>
          <a:lstStyle/>
          <a:p>
            <a:pPr indent="0" marL="0">
              <a:buNone/>
            </a:pPr>
            <a:r>
              <a:rPr lang="en-US" sz="1300" b="1" dirty="0">
                <a:solidFill>
                  <a:srgbClr val="3F3F3F"/>
                </a:solidFill>
                <a:latin typeface="Calibri" pitchFamily="34" charset="0"/>
                <a:ea typeface="Calibri" pitchFamily="34" charset="-122"/>
                <a:cs typeface="Calibri" pitchFamily="34" charset="-120"/>
              </a:rPr>
              <a:t>Alucinación</a:t>
            </a:r>
            <a:endParaRPr lang="en-US" sz="1300" dirty="0"/>
          </a:p>
        </p:txBody>
      </p:sp>
      <p:sp>
        <p:nvSpPr>
          <p:cNvPr id="10" name="Text 8"/>
          <p:cNvSpPr/>
          <p:nvPr/>
        </p:nvSpPr>
        <p:spPr>
          <a:xfrm>
            <a:off x="1298448" y="2852928"/>
            <a:ext cx="4480560" cy="7772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En texto el mensaje se corrige y el paciente relee. En voz, lo dicho ya se escuchó y no hay soporte verificable.</a:t>
            </a:r>
            <a:endParaRPr lang="en-US" sz="1100" dirty="0"/>
          </a:p>
        </p:txBody>
      </p:sp>
      <p:sp>
        <p:nvSpPr>
          <p:cNvPr id="11" name="Shape 9"/>
          <p:cNvSpPr/>
          <p:nvPr/>
        </p:nvSpPr>
        <p:spPr>
          <a:xfrm>
            <a:off x="914400" y="3703320"/>
            <a:ext cx="274320" cy="329184"/>
          </a:xfrm>
          <a:prstGeom prst="chevron">
            <a:avLst/>
          </a:prstGeom>
          <a:solidFill>
            <a:srgbClr val="EFA733"/>
          </a:solidFill>
          <a:ln/>
        </p:spPr>
      </p:sp>
      <p:sp>
        <p:nvSpPr>
          <p:cNvPr id="12" name="Text 10"/>
          <p:cNvSpPr/>
          <p:nvPr/>
        </p:nvSpPr>
        <p:spPr>
          <a:xfrm>
            <a:off x="1298448" y="3657600"/>
            <a:ext cx="4480560" cy="292608"/>
          </a:xfrm>
          <a:prstGeom prst="rect">
            <a:avLst/>
          </a:prstGeom>
          <a:noFill/>
          <a:ln/>
        </p:spPr>
        <p:txBody>
          <a:bodyPr wrap="square" lIns="0" tIns="0" rIns="0" bIns="0" rtlCol="0" anchor="t"/>
          <a:lstStyle/>
          <a:p>
            <a:pPr indent="0" marL="0">
              <a:buNone/>
            </a:pPr>
            <a:r>
              <a:rPr lang="en-US" sz="1300" b="1" dirty="0">
                <a:solidFill>
                  <a:srgbClr val="3F3F3F"/>
                </a:solidFill>
                <a:latin typeface="Calibri" pitchFamily="34" charset="0"/>
                <a:ea typeface="Calibri" pitchFamily="34" charset="-122"/>
                <a:cs typeface="Calibri" pitchFamily="34" charset="-120"/>
              </a:rPr>
              <a:t>Frontera del acto médico</a:t>
            </a:r>
            <a:endParaRPr lang="en-US" sz="1300" dirty="0"/>
          </a:p>
        </p:txBody>
      </p:sp>
      <p:sp>
        <p:nvSpPr>
          <p:cNvPr id="13" name="Text 11"/>
          <p:cNvSpPr/>
          <p:nvPr/>
        </p:nvSpPr>
        <p:spPr>
          <a:xfrm>
            <a:off x="1298448" y="3968496"/>
            <a:ext cx="4480560" cy="7772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La voz antropomorfiza: el paciente pregunta más y cree más lo que oye. La fluidez se confunde con competencia clínica.</a:t>
            </a:r>
            <a:endParaRPr lang="en-US" sz="1100" dirty="0"/>
          </a:p>
        </p:txBody>
      </p:sp>
      <p:sp>
        <p:nvSpPr>
          <p:cNvPr id="14" name="Shape 12"/>
          <p:cNvSpPr/>
          <p:nvPr/>
        </p:nvSpPr>
        <p:spPr>
          <a:xfrm>
            <a:off x="914400" y="4818888"/>
            <a:ext cx="274320" cy="329184"/>
          </a:xfrm>
          <a:prstGeom prst="chevron">
            <a:avLst/>
          </a:prstGeom>
          <a:solidFill>
            <a:srgbClr val="EFA733"/>
          </a:solidFill>
          <a:ln/>
        </p:spPr>
      </p:sp>
      <p:sp>
        <p:nvSpPr>
          <p:cNvPr id="15" name="Text 13"/>
          <p:cNvSpPr/>
          <p:nvPr/>
        </p:nvSpPr>
        <p:spPr>
          <a:xfrm>
            <a:off x="1298448" y="4773168"/>
            <a:ext cx="4480560" cy="292608"/>
          </a:xfrm>
          <a:prstGeom prst="rect">
            <a:avLst/>
          </a:prstGeom>
          <a:noFill/>
          <a:ln/>
        </p:spPr>
        <p:txBody>
          <a:bodyPr wrap="square" lIns="0" tIns="0" rIns="0" bIns="0" rtlCol="0" anchor="t"/>
          <a:lstStyle/>
          <a:p>
            <a:pPr indent="0" marL="0">
              <a:buNone/>
            </a:pPr>
            <a:r>
              <a:rPr lang="en-US" sz="1300" b="1" dirty="0">
                <a:solidFill>
                  <a:srgbClr val="3F3F3F"/>
                </a:solidFill>
                <a:latin typeface="Calibri" pitchFamily="34" charset="0"/>
                <a:ea typeface="Calibri" pitchFamily="34" charset="-122"/>
                <a:cs typeface="Calibri" pitchFamily="34" charset="-120"/>
              </a:rPr>
              <a:t>Urgencia médica</a:t>
            </a:r>
            <a:endParaRPr lang="en-US" sz="1300" dirty="0"/>
          </a:p>
        </p:txBody>
      </p:sp>
      <p:sp>
        <p:nvSpPr>
          <p:cNvPr id="16" name="Text 14"/>
          <p:cNvSpPr/>
          <p:nvPr/>
        </p:nvSpPr>
        <p:spPr>
          <a:xfrm>
            <a:off x="1298448" y="5084064"/>
            <a:ext cx="4480560" cy="7772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En una llamada el paciente espera acción inmediata. El sistema debe derivar en segundos, no en minutos.</a:t>
            </a:r>
            <a:endParaRPr lang="en-US" sz="1100" dirty="0"/>
          </a:p>
        </p:txBody>
      </p:sp>
      <p:sp>
        <p:nvSpPr>
          <p:cNvPr id="17" name="Shape 15"/>
          <p:cNvSpPr/>
          <p:nvPr/>
        </p:nvSpPr>
        <p:spPr>
          <a:xfrm>
            <a:off x="6309360" y="1572768"/>
            <a:ext cx="5239512" cy="4434840"/>
          </a:xfrm>
          <a:prstGeom prst="roundRect">
            <a:avLst>
              <a:gd name="adj" fmla="val 1237"/>
            </a:avLst>
          </a:prstGeom>
          <a:solidFill>
            <a:srgbClr val="FBF1F0"/>
          </a:solidFill>
          <a:ln w="12700">
            <a:solidFill>
              <a:srgbClr val="E8C9C6"/>
            </a:solidFill>
            <a:prstDash val="solid"/>
          </a:ln>
          <a:effectLst>
            <a:outerShdw sx="100000" sy="100000" kx="0" ky="0" algn="bl" rotWithShape="0" blurRad="76200" dist="12700" dir="5400000">
              <a:srgbClr val="9AA0A0">
                <a:alpha val="25000"/>
              </a:srgbClr>
            </a:outerShdw>
          </a:effectLst>
        </p:spPr>
      </p:sp>
      <p:sp>
        <p:nvSpPr>
          <p:cNvPr id="18" name="Shape 16"/>
          <p:cNvSpPr/>
          <p:nvPr/>
        </p:nvSpPr>
        <p:spPr>
          <a:xfrm>
            <a:off x="6309360" y="1572768"/>
            <a:ext cx="5239512" cy="749808"/>
          </a:xfrm>
          <a:prstGeom prst="roundRect">
            <a:avLst>
              <a:gd name="adj" fmla="val 7317"/>
            </a:avLst>
          </a:prstGeom>
          <a:solidFill>
            <a:srgbClr val="C0453D"/>
          </a:solidFill>
          <a:ln w="12700">
            <a:solidFill>
              <a:srgbClr val="C0453D"/>
            </a:solidFill>
            <a:prstDash val="solid"/>
          </a:ln>
        </p:spPr>
      </p:sp>
      <p:sp>
        <p:nvSpPr>
          <p:cNvPr id="19" name="Text 17"/>
          <p:cNvSpPr/>
          <p:nvPr/>
        </p:nvSpPr>
        <p:spPr>
          <a:xfrm>
            <a:off x="6309360" y="1572768"/>
            <a:ext cx="5239512" cy="7498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AÑADE  ·  4 riesgos propios del canal</a:t>
            </a:r>
            <a:endParaRPr lang="en-US" sz="1300" dirty="0"/>
          </a:p>
        </p:txBody>
      </p:sp>
      <p:sp>
        <p:nvSpPr>
          <p:cNvPr id="20" name="Shape 18"/>
          <p:cNvSpPr/>
          <p:nvPr/>
        </p:nvSpPr>
        <p:spPr>
          <a:xfrm>
            <a:off x="6583680" y="2542032"/>
            <a:ext cx="347472" cy="347472"/>
          </a:xfrm>
          <a:prstGeom prst="ellipse">
            <a:avLst/>
          </a:prstGeom>
          <a:solidFill>
            <a:srgbClr val="C0453D"/>
          </a:solidFill>
          <a:ln w="12700">
            <a:solidFill>
              <a:srgbClr val="C0453D"/>
            </a:solidFill>
            <a:prstDash val="solid"/>
          </a:ln>
        </p:spPr>
      </p:sp>
      <p:sp>
        <p:nvSpPr>
          <p:cNvPr id="21" name="Text 19"/>
          <p:cNvSpPr/>
          <p:nvPr/>
        </p:nvSpPr>
        <p:spPr>
          <a:xfrm>
            <a:off x="6583680" y="25420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20"/>
          <p:cNvSpPr/>
          <p:nvPr/>
        </p:nvSpPr>
        <p:spPr>
          <a:xfrm>
            <a:off x="7040880" y="2523744"/>
            <a:ext cx="4297680" cy="292608"/>
          </a:xfrm>
          <a:prstGeom prst="rect">
            <a:avLst/>
          </a:prstGeom>
          <a:noFill/>
          <a:ln/>
        </p:spPr>
        <p:txBody>
          <a:bodyPr wrap="square" lIns="0" tIns="0" rIns="0" bIns="0" rtlCol="0" anchor="t"/>
          <a:lstStyle/>
          <a:p>
            <a:pPr indent="0" marL="0">
              <a:buNone/>
            </a:pPr>
            <a:r>
              <a:rPr lang="en-US" sz="1250" b="1" dirty="0">
                <a:solidFill>
                  <a:srgbClr val="3F3F3F"/>
                </a:solidFill>
                <a:latin typeface="Calibri" pitchFamily="34" charset="0"/>
                <a:ea typeface="Calibri" pitchFamily="34" charset="-122"/>
                <a:cs typeface="Calibri" pitchFamily="34" charset="-120"/>
              </a:rPr>
              <a:t>Exclusión por reconocimiento del habla</a:t>
            </a:r>
            <a:endParaRPr lang="en-US" sz="1250" dirty="0"/>
          </a:p>
        </p:txBody>
      </p:sp>
      <p:sp>
        <p:nvSpPr>
          <p:cNvPr id="23" name="Text 21"/>
          <p:cNvSpPr/>
          <p:nvPr/>
        </p:nvSpPr>
        <p:spPr>
          <a:xfrm>
            <a:off x="7040880" y="2825496"/>
            <a:ext cx="4297680" cy="502920"/>
          </a:xfrm>
          <a:prstGeom prst="rect">
            <a:avLst/>
          </a:prstGeom>
          <a:noFill/>
          <a:ln/>
        </p:spPr>
        <p:txBody>
          <a:bodyPr wrap="square" lIns="0" tIns="0" rIns="0" bIns="0" rtlCol="0" anchor="t"/>
          <a:lstStyle/>
          <a:p>
            <a:pPr indent="0" marL="0">
              <a:lnSpc>
                <a:spcPts val="1500"/>
              </a:lnSpc>
              <a:buNone/>
            </a:pPr>
            <a:r>
              <a:rPr lang="en-US" sz="1100" dirty="0">
                <a:solidFill>
                  <a:srgbClr val="5A5A5A"/>
                </a:solidFill>
                <a:latin typeface="Calibri" pitchFamily="34" charset="0"/>
                <a:ea typeface="Calibri" pitchFamily="34" charset="-122"/>
                <a:cs typeface="Calibri" pitchFamily="34" charset="-120"/>
              </a:rPr>
              <a:t>Quien no es entendido no obtiene cita.</a:t>
            </a:r>
            <a:endParaRPr lang="en-US" sz="1100" dirty="0"/>
          </a:p>
        </p:txBody>
      </p:sp>
      <p:sp>
        <p:nvSpPr>
          <p:cNvPr id="24" name="Shape 22"/>
          <p:cNvSpPr/>
          <p:nvPr/>
        </p:nvSpPr>
        <p:spPr>
          <a:xfrm>
            <a:off x="6583680" y="3438144"/>
            <a:ext cx="347472" cy="347472"/>
          </a:xfrm>
          <a:prstGeom prst="ellipse">
            <a:avLst/>
          </a:prstGeom>
          <a:solidFill>
            <a:srgbClr val="C0453D"/>
          </a:solidFill>
          <a:ln w="12700">
            <a:solidFill>
              <a:srgbClr val="C0453D"/>
            </a:solidFill>
            <a:prstDash val="solid"/>
          </a:ln>
        </p:spPr>
      </p:sp>
      <p:sp>
        <p:nvSpPr>
          <p:cNvPr id="25" name="Text 23"/>
          <p:cNvSpPr/>
          <p:nvPr/>
        </p:nvSpPr>
        <p:spPr>
          <a:xfrm>
            <a:off x="6583680" y="34381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Text 24"/>
          <p:cNvSpPr/>
          <p:nvPr/>
        </p:nvSpPr>
        <p:spPr>
          <a:xfrm>
            <a:off x="7040880" y="3419856"/>
            <a:ext cx="4297680" cy="292608"/>
          </a:xfrm>
          <a:prstGeom prst="rect">
            <a:avLst/>
          </a:prstGeom>
          <a:noFill/>
          <a:ln/>
        </p:spPr>
        <p:txBody>
          <a:bodyPr wrap="square" lIns="0" tIns="0" rIns="0" bIns="0" rtlCol="0" anchor="t"/>
          <a:lstStyle/>
          <a:p>
            <a:pPr indent="0" marL="0">
              <a:buNone/>
            </a:pPr>
            <a:r>
              <a:rPr lang="en-US" sz="1250" b="1" dirty="0">
                <a:solidFill>
                  <a:srgbClr val="3F3F3F"/>
                </a:solidFill>
                <a:latin typeface="Calibri" pitchFamily="34" charset="0"/>
                <a:ea typeface="Calibri" pitchFamily="34" charset="-122"/>
                <a:cs typeface="Calibri" pitchFamily="34" charset="-120"/>
              </a:rPr>
              <a:t>Dato biométrico</a:t>
            </a:r>
            <a:endParaRPr lang="en-US" sz="1250" dirty="0"/>
          </a:p>
        </p:txBody>
      </p:sp>
      <p:sp>
        <p:nvSpPr>
          <p:cNvPr id="27" name="Text 25"/>
          <p:cNvSpPr/>
          <p:nvPr/>
        </p:nvSpPr>
        <p:spPr>
          <a:xfrm>
            <a:off x="7040880" y="3721608"/>
            <a:ext cx="4297680" cy="502920"/>
          </a:xfrm>
          <a:prstGeom prst="rect">
            <a:avLst/>
          </a:prstGeom>
          <a:noFill/>
          <a:ln/>
        </p:spPr>
        <p:txBody>
          <a:bodyPr wrap="square" lIns="0" tIns="0" rIns="0" bIns="0" rtlCol="0" anchor="t"/>
          <a:lstStyle/>
          <a:p>
            <a:pPr indent="0" marL="0">
              <a:lnSpc>
                <a:spcPts val="1500"/>
              </a:lnSpc>
              <a:buNone/>
            </a:pPr>
            <a:r>
              <a:rPr lang="en-US" sz="1100" dirty="0">
                <a:solidFill>
                  <a:srgbClr val="5A5A5A"/>
                </a:solidFill>
                <a:latin typeface="Calibri" pitchFamily="34" charset="0"/>
                <a:ea typeface="Calibri" pitchFamily="34" charset="-122"/>
                <a:cs typeface="Calibri" pitchFamily="34" charset="-120"/>
              </a:rPr>
              <a:t>La grabación de voz identifica a la persona.</a:t>
            </a:r>
            <a:endParaRPr lang="en-US" sz="1100" dirty="0"/>
          </a:p>
        </p:txBody>
      </p:sp>
      <p:sp>
        <p:nvSpPr>
          <p:cNvPr id="28" name="Shape 26"/>
          <p:cNvSpPr/>
          <p:nvPr/>
        </p:nvSpPr>
        <p:spPr>
          <a:xfrm>
            <a:off x="6583680" y="4334256"/>
            <a:ext cx="347472" cy="347472"/>
          </a:xfrm>
          <a:prstGeom prst="ellipse">
            <a:avLst/>
          </a:prstGeom>
          <a:solidFill>
            <a:srgbClr val="C0453D"/>
          </a:solidFill>
          <a:ln w="12700">
            <a:solidFill>
              <a:srgbClr val="C0453D"/>
            </a:solidFill>
            <a:prstDash val="solid"/>
          </a:ln>
        </p:spPr>
      </p:sp>
      <p:sp>
        <p:nvSpPr>
          <p:cNvPr id="29" name="Text 27"/>
          <p:cNvSpPr/>
          <p:nvPr/>
        </p:nvSpPr>
        <p:spPr>
          <a:xfrm>
            <a:off x="6583680" y="433425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Text 28"/>
          <p:cNvSpPr/>
          <p:nvPr/>
        </p:nvSpPr>
        <p:spPr>
          <a:xfrm>
            <a:off x="7040880" y="4315968"/>
            <a:ext cx="4297680" cy="292608"/>
          </a:xfrm>
          <a:prstGeom prst="rect">
            <a:avLst/>
          </a:prstGeom>
          <a:noFill/>
          <a:ln/>
        </p:spPr>
        <p:txBody>
          <a:bodyPr wrap="square" lIns="0" tIns="0" rIns="0" bIns="0" rtlCol="0" anchor="t"/>
          <a:lstStyle/>
          <a:p>
            <a:pPr indent="0" marL="0">
              <a:buNone/>
            </a:pPr>
            <a:r>
              <a:rPr lang="en-US" sz="1250" b="1" dirty="0">
                <a:solidFill>
                  <a:srgbClr val="3F3F3F"/>
                </a:solidFill>
                <a:latin typeface="Calibri" pitchFamily="34" charset="0"/>
                <a:ea typeface="Calibri" pitchFamily="34" charset="-122"/>
                <a:cs typeface="Calibri" pitchFamily="34" charset="-120"/>
              </a:rPr>
              <a:t>Suplantación por clonación de voz</a:t>
            </a:r>
            <a:endParaRPr lang="en-US" sz="1250" dirty="0"/>
          </a:p>
        </p:txBody>
      </p:sp>
      <p:sp>
        <p:nvSpPr>
          <p:cNvPr id="31" name="Text 29"/>
          <p:cNvSpPr/>
          <p:nvPr/>
        </p:nvSpPr>
        <p:spPr>
          <a:xfrm>
            <a:off x="7040880" y="4617720"/>
            <a:ext cx="4297680" cy="502920"/>
          </a:xfrm>
          <a:prstGeom prst="rect">
            <a:avLst/>
          </a:prstGeom>
          <a:noFill/>
          <a:ln/>
        </p:spPr>
        <p:txBody>
          <a:bodyPr wrap="square" lIns="0" tIns="0" rIns="0" bIns="0" rtlCol="0" anchor="t"/>
          <a:lstStyle/>
          <a:p>
            <a:pPr indent="0" marL="0">
              <a:lnSpc>
                <a:spcPts val="1500"/>
              </a:lnSpc>
              <a:buNone/>
            </a:pPr>
            <a:r>
              <a:rPr lang="en-US" sz="1100" dirty="0">
                <a:solidFill>
                  <a:srgbClr val="5A5A5A"/>
                </a:solidFill>
                <a:latin typeface="Calibri" pitchFamily="34" charset="0"/>
                <a:ea typeface="Calibri" pitchFamily="34" charset="-122"/>
                <a:cs typeface="Calibri" pitchFamily="34" charset="-120"/>
              </a:rPr>
              <a:t>Clonar la voz de una profesional es suplantarla.</a:t>
            </a:r>
            <a:endParaRPr lang="en-US" sz="1100" dirty="0"/>
          </a:p>
        </p:txBody>
      </p:sp>
      <p:sp>
        <p:nvSpPr>
          <p:cNvPr id="32" name="Shape 30"/>
          <p:cNvSpPr/>
          <p:nvPr/>
        </p:nvSpPr>
        <p:spPr>
          <a:xfrm>
            <a:off x="6583680" y="5230368"/>
            <a:ext cx="347472" cy="347472"/>
          </a:xfrm>
          <a:prstGeom prst="ellipse">
            <a:avLst/>
          </a:prstGeom>
          <a:solidFill>
            <a:srgbClr val="C0453D"/>
          </a:solidFill>
          <a:ln w="12700">
            <a:solidFill>
              <a:srgbClr val="C0453D"/>
            </a:solidFill>
            <a:prstDash val="solid"/>
          </a:ln>
        </p:spPr>
      </p:sp>
      <p:sp>
        <p:nvSpPr>
          <p:cNvPr id="33" name="Text 31"/>
          <p:cNvSpPr/>
          <p:nvPr/>
        </p:nvSpPr>
        <p:spPr>
          <a:xfrm>
            <a:off x="6583680" y="52303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4" name="Text 32"/>
          <p:cNvSpPr/>
          <p:nvPr/>
        </p:nvSpPr>
        <p:spPr>
          <a:xfrm>
            <a:off x="7040880" y="5212080"/>
            <a:ext cx="4297680" cy="292608"/>
          </a:xfrm>
          <a:prstGeom prst="rect">
            <a:avLst/>
          </a:prstGeom>
          <a:noFill/>
          <a:ln/>
        </p:spPr>
        <p:txBody>
          <a:bodyPr wrap="square" lIns="0" tIns="0" rIns="0" bIns="0" rtlCol="0" anchor="t"/>
          <a:lstStyle/>
          <a:p>
            <a:pPr indent="0" marL="0">
              <a:buNone/>
            </a:pPr>
            <a:r>
              <a:rPr lang="en-US" sz="1250" b="1" dirty="0">
                <a:solidFill>
                  <a:srgbClr val="3F3F3F"/>
                </a:solidFill>
                <a:latin typeface="Calibri" pitchFamily="34" charset="0"/>
                <a:ea typeface="Calibri" pitchFamily="34" charset="-122"/>
                <a:cs typeface="Calibri" pitchFamily="34" charset="-120"/>
              </a:rPr>
              <a:t>Opacidad sobre el interlocutor</a:t>
            </a:r>
            <a:endParaRPr lang="en-US" sz="1250" dirty="0"/>
          </a:p>
        </p:txBody>
      </p:sp>
      <p:sp>
        <p:nvSpPr>
          <p:cNvPr id="35" name="Text 33"/>
          <p:cNvSpPr/>
          <p:nvPr/>
        </p:nvSpPr>
        <p:spPr>
          <a:xfrm>
            <a:off x="7040880" y="5513832"/>
            <a:ext cx="4297680" cy="502920"/>
          </a:xfrm>
          <a:prstGeom prst="rect">
            <a:avLst/>
          </a:prstGeom>
          <a:noFill/>
          <a:ln/>
        </p:spPr>
        <p:txBody>
          <a:bodyPr wrap="square" lIns="0" tIns="0" rIns="0" bIns="0" rtlCol="0" anchor="t"/>
          <a:lstStyle/>
          <a:p>
            <a:pPr indent="0" marL="0">
              <a:lnSpc>
                <a:spcPts val="1500"/>
              </a:lnSpc>
              <a:buNone/>
            </a:pPr>
            <a:r>
              <a:rPr lang="en-US" sz="1100" dirty="0">
                <a:solidFill>
                  <a:srgbClr val="5A5A5A"/>
                </a:solidFill>
                <a:latin typeface="Calibri" pitchFamily="34" charset="0"/>
                <a:ea typeface="Calibri" pitchFamily="34" charset="-122"/>
                <a:cs typeface="Calibri" pitchFamily="34" charset="-120"/>
              </a:rPr>
              <a:t>Una voz natural puede engañar sin proponérselo.</a:t>
            </a:r>
            <a:endParaRPr lang="en-US" sz="1100" dirty="0"/>
          </a:p>
        </p:txBody>
      </p:sp>
      <p:sp>
        <p:nvSpPr>
          <p:cNvPr id="36" name="Shape 34"/>
          <p:cNvSpPr/>
          <p:nvPr/>
        </p:nvSpPr>
        <p:spPr>
          <a:xfrm>
            <a:off x="640080" y="6144768"/>
            <a:ext cx="10908792" cy="457200"/>
          </a:xfrm>
          <a:prstGeom prst="roundRect">
            <a:avLst>
              <a:gd name="adj" fmla="val 16000"/>
            </a:avLst>
          </a:prstGeom>
          <a:solidFill>
            <a:srgbClr val="3F3F3F"/>
          </a:solidFill>
          <a:ln/>
        </p:spPr>
      </p:sp>
      <p:sp>
        <p:nvSpPr>
          <p:cNvPr id="37" name="Text 35"/>
          <p:cNvSpPr/>
          <p:nvPr/>
        </p:nvSpPr>
        <p:spPr>
          <a:xfrm>
            <a:off x="640080" y="6144768"/>
            <a:ext cx="10908792"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Ninguno justifica renunciar al canal. Todos exigen que la voz no se despliegue con los controles que bastaban para el texto.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Marco regulatorio aplicable</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Shape 2"/>
          <p:cNvSpPr/>
          <p:nvPr/>
        </p:nvSpPr>
        <p:spPr>
          <a:xfrm>
            <a:off x="187452" y="1143000"/>
            <a:ext cx="2788920" cy="2788920"/>
          </a:xfrm>
          <a:prstGeom prst="roundRect">
            <a:avLst>
              <a:gd name="adj" fmla="val 1967"/>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5" name="Shape 3"/>
          <p:cNvSpPr/>
          <p:nvPr/>
        </p:nvSpPr>
        <p:spPr>
          <a:xfrm>
            <a:off x="187452" y="1143000"/>
            <a:ext cx="2788920" cy="960120"/>
          </a:xfrm>
          <a:prstGeom prst="roundRect">
            <a:avLst>
              <a:gd name="adj" fmla="val 5714"/>
            </a:avLst>
          </a:prstGeom>
          <a:solidFill>
            <a:srgbClr val="17A398"/>
          </a:solidFill>
          <a:ln w="12700">
            <a:solidFill>
              <a:srgbClr val="17A398"/>
            </a:solidFill>
            <a:prstDash val="solid"/>
          </a:ln>
        </p:spPr>
      </p:sp>
      <p:sp>
        <p:nvSpPr>
          <p:cNvPr id="6" name="Text 4"/>
          <p:cNvSpPr/>
          <p:nvPr/>
        </p:nvSpPr>
        <p:spPr>
          <a:xfrm>
            <a:off x="324612" y="1261872"/>
            <a:ext cx="2514600" cy="27432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Ley N.° 29733</a:t>
            </a:r>
            <a:endParaRPr lang="en-US" sz="1350" dirty="0"/>
          </a:p>
        </p:txBody>
      </p:sp>
      <p:sp>
        <p:nvSpPr>
          <p:cNvPr id="7" name="Text 5"/>
          <p:cNvSpPr/>
          <p:nvPr/>
        </p:nvSpPr>
        <p:spPr>
          <a:xfrm>
            <a:off x="324612" y="1554480"/>
            <a:ext cx="2514600" cy="256032"/>
          </a:xfrm>
          <a:prstGeom prst="rect">
            <a:avLst/>
          </a:prstGeom>
          <a:noFill/>
          <a:ln/>
        </p:spPr>
        <p:txBody>
          <a:bodyPr wrap="square" lIns="0" tIns="0" rIns="0" bIns="0" rtlCol="0" anchor="t"/>
          <a:lstStyle/>
          <a:p>
            <a:pPr algn="ctr" indent="0" marL="0">
              <a:buNone/>
            </a:pPr>
            <a:r>
              <a:rPr lang="en-US" sz="1050" dirty="0">
                <a:solidFill>
                  <a:srgbClr val="F2F6F6"/>
                </a:solidFill>
                <a:latin typeface="Calibri" pitchFamily="34" charset="0"/>
                <a:ea typeface="Calibri" pitchFamily="34" charset="-122"/>
                <a:cs typeface="Calibri" pitchFamily="34" charset="-120"/>
              </a:rPr>
              <a:t>D.S. 016-2024-JUS</a:t>
            </a:r>
            <a:endParaRPr lang="en-US" sz="1050" dirty="0"/>
          </a:p>
        </p:txBody>
      </p:sp>
      <p:sp>
        <p:nvSpPr>
          <p:cNvPr id="8" name="Text 6"/>
          <p:cNvSpPr/>
          <p:nvPr/>
        </p:nvSpPr>
        <p:spPr>
          <a:xfrm>
            <a:off x="324612" y="2194560"/>
            <a:ext cx="2514600" cy="256032"/>
          </a:xfrm>
          <a:prstGeom prst="rect">
            <a:avLst/>
          </a:prstGeom>
          <a:noFill/>
          <a:ln/>
        </p:spPr>
        <p:txBody>
          <a:bodyPr wrap="square" lIns="0" tIns="0" rIns="0" bIns="0" rtlCol="0" anchor="t"/>
          <a:lstStyle/>
          <a:p>
            <a:pPr algn="ctr" indent="0" marL="0">
              <a:buNone/>
            </a:pPr>
            <a:r>
              <a:rPr lang="en-US" sz="1000" b="1" i="1" dirty="0">
                <a:solidFill>
                  <a:srgbClr val="17A398"/>
                </a:solidFill>
                <a:latin typeface="Calibri" pitchFamily="34" charset="0"/>
                <a:ea typeface="Calibri" pitchFamily="34" charset="-122"/>
                <a:cs typeface="Calibri" pitchFamily="34" charset="-120"/>
              </a:rPr>
              <a:t>Vigente desde 30 mar 2025</a:t>
            </a:r>
            <a:endParaRPr lang="en-US" sz="1000" dirty="0"/>
          </a:p>
        </p:txBody>
      </p:sp>
      <p:sp>
        <p:nvSpPr>
          <p:cNvPr id="9" name="Text 7"/>
          <p:cNvSpPr/>
          <p:nvPr/>
        </p:nvSpPr>
        <p:spPr>
          <a:xfrm>
            <a:off x="406908" y="2514600"/>
            <a:ext cx="2350008" cy="128016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Protección de datos personales. Consentimiento reforzado para datos sensibles, brechas en 48 h, Oficial de Datos Personales, encargado del tratamiento, flujo transfronterizo.</a:t>
            </a:r>
            <a:endParaRPr lang="en-US" sz="1050" dirty="0"/>
          </a:p>
        </p:txBody>
      </p:sp>
      <p:sp>
        <p:nvSpPr>
          <p:cNvPr id="10" name="Shape 8"/>
          <p:cNvSpPr/>
          <p:nvPr/>
        </p:nvSpPr>
        <p:spPr>
          <a:xfrm>
            <a:off x="3195828" y="1143000"/>
            <a:ext cx="2788920" cy="2788920"/>
          </a:xfrm>
          <a:prstGeom prst="roundRect">
            <a:avLst>
              <a:gd name="adj" fmla="val 1967"/>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1" name="Shape 9"/>
          <p:cNvSpPr/>
          <p:nvPr/>
        </p:nvSpPr>
        <p:spPr>
          <a:xfrm>
            <a:off x="3195828" y="1143000"/>
            <a:ext cx="2788920" cy="960120"/>
          </a:xfrm>
          <a:prstGeom prst="roundRect">
            <a:avLst>
              <a:gd name="adj" fmla="val 5714"/>
            </a:avLst>
          </a:prstGeom>
          <a:solidFill>
            <a:srgbClr val="EFA733"/>
          </a:solidFill>
          <a:ln w="12700">
            <a:solidFill>
              <a:srgbClr val="EFA733"/>
            </a:solidFill>
            <a:prstDash val="solid"/>
          </a:ln>
        </p:spPr>
      </p:sp>
      <p:sp>
        <p:nvSpPr>
          <p:cNvPr id="12" name="Text 10"/>
          <p:cNvSpPr/>
          <p:nvPr/>
        </p:nvSpPr>
        <p:spPr>
          <a:xfrm>
            <a:off x="3332988" y="1261872"/>
            <a:ext cx="2514600" cy="27432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Ley N.° 31814</a:t>
            </a:r>
            <a:endParaRPr lang="en-US" sz="1350" dirty="0"/>
          </a:p>
        </p:txBody>
      </p:sp>
      <p:sp>
        <p:nvSpPr>
          <p:cNvPr id="13" name="Text 11"/>
          <p:cNvSpPr/>
          <p:nvPr/>
        </p:nvSpPr>
        <p:spPr>
          <a:xfrm>
            <a:off x="3332988" y="1554480"/>
            <a:ext cx="2514600" cy="256032"/>
          </a:xfrm>
          <a:prstGeom prst="rect">
            <a:avLst/>
          </a:prstGeom>
          <a:noFill/>
          <a:ln/>
        </p:spPr>
        <p:txBody>
          <a:bodyPr wrap="square" lIns="0" tIns="0" rIns="0" bIns="0" rtlCol="0" anchor="t"/>
          <a:lstStyle/>
          <a:p>
            <a:pPr algn="ctr" indent="0" marL="0">
              <a:buNone/>
            </a:pPr>
            <a:r>
              <a:rPr lang="en-US" sz="1050" dirty="0">
                <a:solidFill>
                  <a:srgbClr val="F2F6F6"/>
                </a:solidFill>
                <a:latin typeface="Calibri" pitchFamily="34" charset="0"/>
                <a:ea typeface="Calibri" pitchFamily="34" charset="-122"/>
                <a:cs typeface="Calibri" pitchFamily="34" charset="-120"/>
              </a:rPr>
              <a:t>D.S. 115-2025-PCM</a:t>
            </a:r>
            <a:endParaRPr lang="en-US" sz="1050" dirty="0"/>
          </a:p>
        </p:txBody>
      </p:sp>
      <p:sp>
        <p:nvSpPr>
          <p:cNvPr id="14" name="Text 12"/>
          <p:cNvSpPr/>
          <p:nvPr/>
        </p:nvSpPr>
        <p:spPr>
          <a:xfrm>
            <a:off x="3332988" y="2194560"/>
            <a:ext cx="2514600" cy="256032"/>
          </a:xfrm>
          <a:prstGeom prst="rect">
            <a:avLst/>
          </a:prstGeom>
          <a:noFill/>
          <a:ln/>
        </p:spPr>
        <p:txBody>
          <a:bodyPr wrap="square" lIns="0" tIns="0" rIns="0" bIns="0" rtlCol="0" anchor="t"/>
          <a:lstStyle/>
          <a:p>
            <a:pPr algn="ctr" indent="0" marL="0">
              <a:buNone/>
            </a:pPr>
            <a:r>
              <a:rPr lang="en-US" sz="1000" b="1" i="1" dirty="0">
                <a:solidFill>
                  <a:srgbClr val="EFA733"/>
                </a:solidFill>
                <a:latin typeface="Calibri" pitchFamily="34" charset="0"/>
                <a:ea typeface="Calibri" pitchFamily="34" charset="-122"/>
                <a:cs typeface="Calibri" pitchFamily="34" charset="-120"/>
              </a:rPr>
              <a:t>Vigente desde 22 ene 2026</a:t>
            </a:r>
            <a:endParaRPr lang="en-US" sz="1000" dirty="0"/>
          </a:p>
        </p:txBody>
      </p:sp>
      <p:sp>
        <p:nvSpPr>
          <p:cNvPr id="15" name="Text 13"/>
          <p:cNvSpPr/>
          <p:nvPr/>
        </p:nvSpPr>
        <p:spPr>
          <a:xfrm>
            <a:off x="3415284" y="2514600"/>
            <a:ext cx="2350008" cy="128016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Uso de inteligencia artificial. Clasificación por nivel de riesgo, usos prohibidos, transparencia, ciberseguridad, auditoría y supervisión humana.</a:t>
            </a:r>
            <a:endParaRPr lang="en-US" sz="1050" dirty="0"/>
          </a:p>
        </p:txBody>
      </p:sp>
      <p:sp>
        <p:nvSpPr>
          <p:cNvPr id="16" name="Shape 14"/>
          <p:cNvSpPr/>
          <p:nvPr/>
        </p:nvSpPr>
        <p:spPr>
          <a:xfrm>
            <a:off x="6204204" y="1143000"/>
            <a:ext cx="2788920" cy="2788920"/>
          </a:xfrm>
          <a:prstGeom prst="roundRect">
            <a:avLst>
              <a:gd name="adj" fmla="val 1967"/>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7" name="Shape 15"/>
          <p:cNvSpPr/>
          <p:nvPr/>
        </p:nvSpPr>
        <p:spPr>
          <a:xfrm>
            <a:off x="6204204" y="1143000"/>
            <a:ext cx="2788920" cy="960120"/>
          </a:xfrm>
          <a:prstGeom prst="roundRect">
            <a:avLst>
              <a:gd name="adj" fmla="val 5714"/>
            </a:avLst>
          </a:prstGeom>
          <a:solidFill>
            <a:srgbClr val="C0453D"/>
          </a:solidFill>
          <a:ln w="12700">
            <a:solidFill>
              <a:srgbClr val="C0453D"/>
            </a:solidFill>
            <a:prstDash val="solid"/>
          </a:ln>
        </p:spPr>
      </p:sp>
      <p:sp>
        <p:nvSpPr>
          <p:cNvPr id="18" name="Text 16"/>
          <p:cNvSpPr/>
          <p:nvPr/>
        </p:nvSpPr>
        <p:spPr>
          <a:xfrm>
            <a:off x="6341364" y="1261872"/>
            <a:ext cx="2514600" cy="27432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Ley N.° 26842</a:t>
            </a:r>
            <a:endParaRPr lang="en-US" sz="1350" dirty="0"/>
          </a:p>
        </p:txBody>
      </p:sp>
      <p:sp>
        <p:nvSpPr>
          <p:cNvPr id="19" name="Text 17"/>
          <p:cNvSpPr/>
          <p:nvPr/>
        </p:nvSpPr>
        <p:spPr>
          <a:xfrm>
            <a:off x="6341364" y="1554480"/>
            <a:ext cx="2514600" cy="256032"/>
          </a:xfrm>
          <a:prstGeom prst="rect">
            <a:avLst/>
          </a:prstGeom>
          <a:noFill/>
          <a:ln/>
        </p:spPr>
        <p:txBody>
          <a:bodyPr wrap="square" lIns="0" tIns="0" rIns="0" bIns="0" rtlCol="0" anchor="t"/>
          <a:lstStyle/>
          <a:p>
            <a:pPr algn="ctr" indent="0" marL="0">
              <a:buNone/>
            </a:pPr>
            <a:r>
              <a:rPr lang="en-US" sz="1050" dirty="0">
                <a:solidFill>
                  <a:srgbClr val="F2F6F6"/>
                </a:solidFill>
                <a:latin typeface="Calibri" pitchFamily="34" charset="0"/>
                <a:ea typeface="Calibri" pitchFamily="34" charset="-122"/>
                <a:cs typeface="Calibri" pitchFamily="34" charset="-120"/>
              </a:rPr>
              <a:t>Ley General de Salud</a:t>
            </a:r>
            <a:endParaRPr lang="en-US" sz="1050" dirty="0"/>
          </a:p>
        </p:txBody>
      </p:sp>
      <p:sp>
        <p:nvSpPr>
          <p:cNvPr id="20" name="Text 18"/>
          <p:cNvSpPr/>
          <p:nvPr/>
        </p:nvSpPr>
        <p:spPr>
          <a:xfrm>
            <a:off x="6341364" y="2194560"/>
            <a:ext cx="2514600" cy="256032"/>
          </a:xfrm>
          <a:prstGeom prst="rect">
            <a:avLst/>
          </a:prstGeom>
          <a:noFill/>
          <a:ln/>
        </p:spPr>
        <p:txBody>
          <a:bodyPr wrap="square" lIns="0" tIns="0" rIns="0" bIns="0" rtlCol="0" anchor="t"/>
          <a:lstStyle/>
          <a:p>
            <a:pPr algn="ctr" indent="0" marL="0">
              <a:buNone/>
            </a:pPr>
            <a:r>
              <a:rPr lang="en-US" sz="1000" b="1" i="1" dirty="0">
                <a:solidFill>
                  <a:srgbClr val="C0453D"/>
                </a:solidFill>
                <a:latin typeface="Calibri" pitchFamily="34" charset="0"/>
                <a:ea typeface="Calibri" pitchFamily="34" charset="-122"/>
                <a:cs typeface="Calibri" pitchFamily="34" charset="-120"/>
              </a:rPr>
              <a:t>Ámbito de SUSALUD</a:t>
            </a:r>
            <a:endParaRPr lang="en-US" sz="1000" dirty="0"/>
          </a:p>
        </p:txBody>
      </p:sp>
      <p:sp>
        <p:nvSpPr>
          <p:cNvPr id="21" name="Text 19"/>
          <p:cNvSpPr/>
          <p:nvPr/>
        </p:nvSpPr>
        <p:spPr>
          <a:xfrm>
            <a:off x="6423660" y="2514600"/>
            <a:ext cx="2350008" cy="128016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Deber de reserva sobre la información conexa al acto médico. Se traslada por contrato. El sistema no accede a la historia clínica: es frontera de diseño.</a:t>
            </a:r>
            <a:endParaRPr lang="en-US" sz="1050" dirty="0"/>
          </a:p>
        </p:txBody>
      </p:sp>
      <p:sp>
        <p:nvSpPr>
          <p:cNvPr id="22" name="Shape 20"/>
          <p:cNvSpPr/>
          <p:nvPr/>
        </p:nvSpPr>
        <p:spPr>
          <a:xfrm>
            <a:off x="9212580" y="1143000"/>
            <a:ext cx="2788920" cy="2788920"/>
          </a:xfrm>
          <a:prstGeom prst="roundRect">
            <a:avLst>
              <a:gd name="adj" fmla="val 1967"/>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3" name="Shape 21"/>
          <p:cNvSpPr/>
          <p:nvPr/>
        </p:nvSpPr>
        <p:spPr>
          <a:xfrm>
            <a:off x="9212580" y="1143000"/>
            <a:ext cx="2788920" cy="960120"/>
          </a:xfrm>
          <a:prstGeom prst="roundRect">
            <a:avLst>
              <a:gd name="adj" fmla="val 5714"/>
            </a:avLst>
          </a:prstGeom>
          <a:solidFill>
            <a:srgbClr val="8DC03F"/>
          </a:solidFill>
          <a:ln w="12700">
            <a:solidFill>
              <a:srgbClr val="8DC03F"/>
            </a:solidFill>
            <a:prstDash val="solid"/>
          </a:ln>
        </p:spPr>
      </p:sp>
      <p:sp>
        <p:nvSpPr>
          <p:cNvPr id="24" name="Text 22"/>
          <p:cNvSpPr/>
          <p:nvPr/>
        </p:nvSpPr>
        <p:spPr>
          <a:xfrm>
            <a:off x="9349740" y="1261872"/>
            <a:ext cx="2514600" cy="27432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Ley N.° 29571</a:t>
            </a:r>
            <a:endParaRPr lang="en-US" sz="1350" dirty="0"/>
          </a:p>
        </p:txBody>
      </p:sp>
      <p:sp>
        <p:nvSpPr>
          <p:cNvPr id="25" name="Text 23"/>
          <p:cNvSpPr/>
          <p:nvPr/>
        </p:nvSpPr>
        <p:spPr>
          <a:xfrm>
            <a:off x="9349740" y="1554480"/>
            <a:ext cx="2514600" cy="256032"/>
          </a:xfrm>
          <a:prstGeom prst="rect">
            <a:avLst/>
          </a:prstGeom>
          <a:noFill/>
          <a:ln/>
        </p:spPr>
        <p:txBody>
          <a:bodyPr wrap="square" lIns="0" tIns="0" rIns="0" bIns="0" rtlCol="0" anchor="t"/>
          <a:lstStyle/>
          <a:p>
            <a:pPr algn="ctr" indent="0" marL="0">
              <a:buNone/>
            </a:pPr>
            <a:r>
              <a:rPr lang="en-US" sz="1050" dirty="0">
                <a:solidFill>
                  <a:srgbClr val="F2F6F6"/>
                </a:solidFill>
                <a:latin typeface="Calibri" pitchFamily="34" charset="0"/>
                <a:ea typeface="Calibri" pitchFamily="34" charset="-122"/>
                <a:cs typeface="Calibri" pitchFamily="34" charset="-120"/>
              </a:rPr>
              <a:t>Código del Consumidor</a:t>
            </a:r>
            <a:endParaRPr lang="en-US" sz="1050" dirty="0"/>
          </a:p>
        </p:txBody>
      </p:sp>
      <p:sp>
        <p:nvSpPr>
          <p:cNvPr id="26" name="Text 24"/>
          <p:cNvSpPr/>
          <p:nvPr/>
        </p:nvSpPr>
        <p:spPr>
          <a:xfrm>
            <a:off x="9349740" y="2194560"/>
            <a:ext cx="2514600" cy="256032"/>
          </a:xfrm>
          <a:prstGeom prst="rect">
            <a:avLst/>
          </a:prstGeom>
          <a:noFill/>
          <a:ln/>
        </p:spPr>
        <p:txBody>
          <a:bodyPr wrap="square" lIns="0" tIns="0" rIns="0" bIns="0" rtlCol="0" anchor="t"/>
          <a:lstStyle/>
          <a:p>
            <a:pPr algn="ctr" indent="0" marL="0">
              <a:buNone/>
            </a:pPr>
            <a:r>
              <a:rPr lang="en-US" sz="1000" b="1" i="1" dirty="0">
                <a:solidFill>
                  <a:srgbClr val="8DC03F"/>
                </a:solidFill>
                <a:latin typeface="Calibri" pitchFamily="34" charset="0"/>
                <a:ea typeface="Calibri" pitchFamily="34" charset="-122"/>
                <a:cs typeface="Calibri" pitchFamily="34" charset="-120"/>
              </a:rPr>
              <a:t>«Gracias, No Insista»</a:t>
            </a:r>
            <a:endParaRPr lang="en-US" sz="1000" dirty="0"/>
          </a:p>
        </p:txBody>
      </p:sp>
      <p:sp>
        <p:nvSpPr>
          <p:cNvPr id="27" name="Text 25"/>
          <p:cNvSpPr/>
          <p:nvPr/>
        </p:nvSpPr>
        <p:spPr>
          <a:xfrm>
            <a:off x="9432036" y="2514600"/>
            <a:ext cx="2350008" cy="128016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Información veraz sobre precios y restricciones a los métodos comerciales agresivos. Condiciona las campañas de reactivación y las llamadas salientes.</a:t>
            </a:r>
            <a:endParaRPr lang="en-US" sz="1050" dirty="0"/>
          </a:p>
        </p:txBody>
      </p:sp>
      <p:sp>
        <p:nvSpPr>
          <p:cNvPr id="28" name="Shape 26"/>
          <p:cNvSpPr/>
          <p:nvPr/>
        </p:nvSpPr>
        <p:spPr>
          <a:xfrm>
            <a:off x="640080" y="4206240"/>
            <a:ext cx="5532120" cy="2148840"/>
          </a:xfrm>
          <a:prstGeom prst="roundRect">
            <a:avLst>
              <a:gd name="adj" fmla="val 2553"/>
            </a:avLst>
          </a:prstGeom>
          <a:solidFill>
            <a:srgbClr val="F4F6F7"/>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9" name="Text 27"/>
          <p:cNvSpPr/>
          <p:nvPr/>
        </p:nvSpPr>
        <p:spPr>
          <a:xfrm>
            <a:off x="914400" y="4434840"/>
            <a:ext cx="5029200" cy="274320"/>
          </a:xfrm>
          <a:prstGeom prst="rect">
            <a:avLst/>
          </a:prstGeom>
          <a:noFill/>
          <a:ln/>
        </p:spPr>
        <p:txBody>
          <a:bodyPr wrap="square" lIns="0" tIns="0" rIns="0" bIns="0" rtlCol="0" anchor="t"/>
          <a:lstStyle/>
          <a:p>
            <a:pPr indent="0" marL="0">
              <a:buNone/>
            </a:pPr>
            <a:r>
              <a:rPr lang="en-US" sz="1300" b="1" dirty="0">
                <a:solidFill>
                  <a:srgbClr val="3F3F3F"/>
                </a:solidFill>
                <a:latin typeface="Calibri" pitchFamily="34" charset="0"/>
                <a:ea typeface="Calibri" pitchFamily="34" charset="-122"/>
                <a:cs typeface="Calibri" pitchFamily="34" charset="-120"/>
              </a:rPr>
              <a:t>Autoevaluación de nivel de riesgo</a:t>
            </a:r>
            <a:endParaRPr lang="en-US" sz="1300" dirty="0"/>
          </a:p>
        </p:txBody>
      </p:sp>
      <p:sp>
        <p:nvSpPr>
          <p:cNvPr id="30" name="Text 28"/>
          <p:cNvSpPr/>
          <p:nvPr/>
        </p:nvSpPr>
        <p:spPr>
          <a:xfrm>
            <a:off x="914400" y="4773168"/>
            <a:ext cx="4983480" cy="14630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No se ubica entre los usos prohibidos ni califica como de alto riesgo por su función diseñada: no decide clínicamente ni deniega atención. Se adopta cumplimiento anticipado: se aplican voluntariamente las obligaciones del alto riesgo — documentación técnica, registro de decisiones, supervisión humana efectiva y evaluación de sesgos — antes de que el cronograma gradual las exija.</a:t>
            </a:r>
            <a:endParaRPr lang="en-US" sz="1100" dirty="0"/>
          </a:p>
        </p:txBody>
      </p:sp>
      <p:sp>
        <p:nvSpPr>
          <p:cNvPr id="31" name="Shape 29"/>
          <p:cNvSpPr/>
          <p:nvPr/>
        </p:nvSpPr>
        <p:spPr>
          <a:xfrm>
            <a:off x="6355080" y="4206240"/>
            <a:ext cx="5193792" cy="2148840"/>
          </a:xfrm>
          <a:prstGeom prst="roundRect">
            <a:avLst>
              <a:gd name="adj" fmla="val 2553"/>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32" name="Text 30"/>
          <p:cNvSpPr/>
          <p:nvPr/>
        </p:nvSpPr>
        <p:spPr>
          <a:xfrm>
            <a:off x="6629400" y="4434840"/>
            <a:ext cx="4663440" cy="274320"/>
          </a:xfrm>
          <a:prstGeom prst="rect">
            <a:avLst/>
          </a:prstGeom>
          <a:noFill/>
          <a:ln/>
        </p:spPr>
        <p:txBody>
          <a:bodyPr wrap="square" lIns="0" tIns="0" rIns="0" bIns="0" rtlCol="0" anchor="t"/>
          <a:lstStyle/>
          <a:p>
            <a:pPr indent="0" marL="0">
              <a:buNone/>
            </a:pPr>
            <a:r>
              <a:rPr lang="en-US" sz="1300" b="1" dirty="0">
                <a:solidFill>
                  <a:srgbClr val="3F3F3F"/>
                </a:solidFill>
                <a:latin typeface="Calibri" pitchFamily="34" charset="0"/>
                <a:ea typeface="Calibri" pitchFamily="34" charset="-122"/>
                <a:cs typeface="Calibri" pitchFamily="34" charset="-120"/>
              </a:rPr>
              <a:t>Referencia internacional y proveedores</a:t>
            </a:r>
            <a:endParaRPr lang="en-US" sz="1300" dirty="0"/>
          </a:p>
        </p:txBody>
      </p:sp>
      <p:sp>
        <p:nvSpPr>
          <p:cNvPr id="33" name="Shape 31"/>
          <p:cNvSpPr/>
          <p:nvPr/>
        </p:nvSpPr>
        <p:spPr>
          <a:xfrm>
            <a:off x="6629400" y="4910328"/>
            <a:ext cx="109728" cy="109728"/>
          </a:xfrm>
          <a:prstGeom prst="rect">
            <a:avLst/>
          </a:prstGeom>
          <a:solidFill>
            <a:srgbClr val="17A398"/>
          </a:solidFill>
          <a:ln/>
        </p:spPr>
      </p:sp>
      <p:sp>
        <p:nvSpPr>
          <p:cNvPr id="34" name="Text 32"/>
          <p:cNvSpPr/>
          <p:nvPr/>
        </p:nvSpPr>
        <p:spPr>
          <a:xfrm>
            <a:off x="6839712" y="4828032"/>
            <a:ext cx="4480560" cy="310896"/>
          </a:xfrm>
          <a:prstGeom prst="rect">
            <a:avLst/>
          </a:prstGeom>
          <a:noFill/>
          <a:ln/>
        </p:spPr>
        <p:txBody>
          <a:bodyPr wrap="square" lIns="0" tIns="0" rIns="0" bIns="0" rtlCol="0" anchor="t"/>
          <a:lstStyle/>
          <a:p>
            <a:pPr indent="0" marL="0">
              <a:buNone/>
            </a:pPr>
            <a:r>
              <a:rPr lang="en-US" sz="1050" dirty="0">
                <a:solidFill>
                  <a:srgbClr val="5A5A5A"/>
                </a:solidFill>
                <a:latin typeface="Calibri" pitchFamily="34" charset="0"/>
                <a:ea typeface="Calibri" pitchFamily="34" charset="-122"/>
                <a:cs typeface="Calibri" pitchFamily="34" charset="-120"/>
              </a:rPr>
              <a:t>Reglamento de IA de la UE  —  estándar de transparencia adoptado</a:t>
            </a:r>
            <a:endParaRPr lang="en-US" sz="1050" dirty="0"/>
          </a:p>
        </p:txBody>
      </p:sp>
      <p:sp>
        <p:nvSpPr>
          <p:cNvPr id="35" name="Shape 33"/>
          <p:cNvSpPr/>
          <p:nvPr/>
        </p:nvSpPr>
        <p:spPr>
          <a:xfrm>
            <a:off x="6629400" y="5276088"/>
            <a:ext cx="109728" cy="109728"/>
          </a:xfrm>
          <a:prstGeom prst="rect">
            <a:avLst/>
          </a:prstGeom>
          <a:solidFill>
            <a:srgbClr val="EFA733"/>
          </a:solidFill>
          <a:ln/>
        </p:spPr>
      </p:sp>
      <p:sp>
        <p:nvSpPr>
          <p:cNvPr id="36" name="Text 34"/>
          <p:cNvSpPr/>
          <p:nvPr/>
        </p:nvSpPr>
        <p:spPr>
          <a:xfrm>
            <a:off x="6839712" y="5193792"/>
            <a:ext cx="4480560" cy="310896"/>
          </a:xfrm>
          <a:prstGeom prst="rect">
            <a:avLst/>
          </a:prstGeom>
          <a:noFill/>
          <a:ln/>
        </p:spPr>
        <p:txBody>
          <a:bodyPr wrap="square" lIns="0" tIns="0" rIns="0" bIns="0" rtlCol="0" anchor="t"/>
          <a:lstStyle/>
          <a:p>
            <a:pPr indent="0" marL="0">
              <a:buNone/>
            </a:pPr>
            <a:r>
              <a:rPr lang="en-US" sz="1050" dirty="0">
                <a:solidFill>
                  <a:srgbClr val="5A5A5A"/>
                </a:solidFill>
                <a:latin typeface="Calibri" pitchFamily="34" charset="0"/>
                <a:ea typeface="Calibri" pitchFamily="34" charset="-122"/>
                <a:cs typeface="Calibri" pitchFamily="34" charset="-120"/>
              </a:rPr>
              <a:t>NIST AI RMF · OCDE · UNESCO  —  estructura de auditoría y principios</a:t>
            </a:r>
            <a:endParaRPr lang="en-US" sz="1050" dirty="0"/>
          </a:p>
        </p:txBody>
      </p:sp>
      <p:sp>
        <p:nvSpPr>
          <p:cNvPr id="37" name="Shape 35"/>
          <p:cNvSpPr/>
          <p:nvPr/>
        </p:nvSpPr>
        <p:spPr>
          <a:xfrm>
            <a:off x="6629400" y="5641848"/>
            <a:ext cx="109728" cy="109728"/>
          </a:xfrm>
          <a:prstGeom prst="rect">
            <a:avLst/>
          </a:prstGeom>
          <a:solidFill>
            <a:srgbClr val="C0453D"/>
          </a:solidFill>
          <a:ln/>
        </p:spPr>
      </p:sp>
      <p:sp>
        <p:nvSpPr>
          <p:cNvPr id="38" name="Text 36"/>
          <p:cNvSpPr/>
          <p:nvPr/>
        </p:nvSpPr>
        <p:spPr>
          <a:xfrm>
            <a:off x="6839712" y="5559552"/>
            <a:ext cx="4480560" cy="310896"/>
          </a:xfrm>
          <a:prstGeom prst="rect">
            <a:avLst/>
          </a:prstGeom>
          <a:noFill/>
          <a:ln/>
        </p:spPr>
        <p:txBody>
          <a:bodyPr wrap="square" lIns="0" tIns="0" rIns="0" bIns="0" rtlCol="0" anchor="t"/>
          <a:lstStyle/>
          <a:p>
            <a:pPr indent="0" marL="0">
              <a:buNone/>
            </a:pPr>
            <a:r>
              <a:rPr lang="en-US" sz="1050" dirty="0">
                <a:solidFill>
                  <a:srgbClr val="5A5A5A"/>
                </a:solidFill>
                <a:latin typeface="Calibri" pitchFamily="34" charset="0"/>
                <a:ea typeface="Calibri" pitchFamily="34" charset="-122"/>
                <a:cs typeface="Calibri" pitchFamily="34" charset="-120"/>
              </a:rPr>
              <a:t>Anthropic  —  restringe el diagnóstico sin profesional</a:t>
            </a:r>
            <a:endParaRPr lang="en-US" sz="1050" dirty="0"/>
          </a:p>
        </p:txBody>
      </p:sp>
      <p:sp>
        <p:nvSpPr>
          <p:cNvPr id="39" name="Shape 37"/>
          <p:cNvSpPr/>
          <p:nvPr/>
        </p:nvSpPr>
        <p:spPr>
          <a:xfrm>
            <a:off x="6629400" y="6007608"/>
            <a:ext cx="109728" cy="109728"/>
          </a:xfrm>
          <a:prstGeom prst="rect">
            <a:avLst/>
          </a:prstGeom>
          <a:solidFill>
            <a:srgbClr val="8DC03F"/>
          </a:solidFill>
          <a:ln/>
        </p:spPr>
      </p:sp>
      <p:sp>
        <p:nvSpPr>
          <p:cNvPr id="40" name="Text 38"/>
          <p:cNvSpPr/>
          <p:nvPr/>
        </p:nvSpPr>
        <p:spPr>
          <a:xfrm>
            <a:off x="6839712" y="5925312"/>
            <a:ext cx="4480560" cy="310896"/>
          </a:xfrm>
          <a:prstGeom prst="rect">
            <a:avLst/>
          </a:prstGeom>
          <a:noFill/>
          <a:ln/>
        </p:spPr>
        <p:txBody>
          <a:bodyPr wrap="square" lIns="0" tIns="0" rIns="0" bIns="0" rtlCol="0" anchor="t"/>
          <a:lstStyle/>
          <a:p>
            <a:pPr indent="0" marL="0">
              <a:buNone/>
            </a:pPr>
            <a:r>
              <a:rPr lang="en-US" sz="1050" dirty="0">
                <a:solidFill>
                  <a:srgbClr val="5A5A5A"/>
                </a:solidFill>
                <a:latin typeface="Calibri" pitchFamily="34" charset="0"/>
                <a:ea typeface="Calibri" pitchFamily="34" charset="-122"/>
                <a:cs typeface="Calibri" pitchFamily="34" charset="-120"/>
              </a:rPr>
              <a:t>ElevenLabs · Meta  —  obligan a revelar la IA y a usar plantillas aprobadas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Gobernanza: modelo proporcional y controles</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Shape 2"/>
          <p:cNvSpPr/>
          <p:nvPr/>
        </p:nvSpPr>
        <p:spPr>
          <a:xfrm>
            <a:off x="640080" y="1115568"/>
            <a:ext cx="10908792" cy="566928"/>
          </a:xfrm>
          <a:prstGeom prst="roundRect">
            <a:avLst>
              <a:gd name="adj" fmla="val 12903"/>
            </a:avLst>
          </a:prstGeom>
          <a:solidFill>
            <a:srgbClr val="F4F6F7"/>
          </a:solidFill>
          <a:ln w="12700">
            <a:solidFill>
              <a:srgbClr val="E2E6E6"/>
            </a:solidFill>
            <a:prstDash val="solid"/>
          </a:ln>
        </p:spPr>
      </p:sp>
      <p:sp>
        <p:nvSpPr>
          <p:cNvPr id="5" name="Text 3"/>
          <p:cNvSpPr/>
          <p:nvPr/>
        </p:nvSpPr>
        <p:spPr>
          <a:xfrm>
            <a:off x="640080" y="1115568"/>
            <a:ext cx="10908792" cy="566928"/>
          </a:xfrm>
          <a:prstGeom prst="rect">
            <a:avLst/>
          </a:prstGeom>
          <a:noFill/>
          <a:ln/>
        </p:spPr>
        <p:txBody>
          <a:bodyPr wrap="square" lIns="0" tIns="0" rIns="0" bIns="0" rtlCol="0" anchor="ctr"/>
          <a:lstStyle/>
          <a:p>
            <a:pPr algn="ctr" indent="0" marL="0">
              <a:buNone/>
            </a:pPr>
            <a:r>
              <a:rPr lang="en-US" sz="1250" b="1" dirty="0">
                <a:solidFill>
                  <a:srgbClr val="3F3F3F"/>
                </a:solidFill>
                <a:latin typeface="Calibri" pitchFamily="34" charset="0"/>
                <a:ea typeface="Calibri" pitchFamily="34" charset="-122"/>
                <a:cs typeface="Calibri" pitchFamily="34" charset="-120"/>
              </a:rPr>
              <a:t>No se propone un comité de ética: cinco cargos ocupados por la misma persona no producen ninguna supervisión real.</a:t>
            </a:r>
            <a:endParaRPr lang="en-US" sz="1250" dirty="0"/>
          </a:p>
        </p:txBody>
      </p:sp>
      <p:sp>
        <p:nvSpPr>
          <p:cNvPr id="6" name="Shape 4"/>
          <p:cNvSpPr/>
          <p:nvPr/>
        </p:nvSpPr>
        <p:spPr>
          <a:xfrm>
            <a:off x="420624" y="1901952"/>
            <a:ext cx="3611880" cy="2084832"/>
          </a:xfrm>
          <a:prstGeom prst="roundRect">
            <a:avLst>
              <a:gd name="adj" fmla="val 2632"/>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7" name="Shape 5"/>
          <p:cNvSpPr/>
          <p:nvPr/>
        </p:nvSpPr>
        <p:spPr>
          <a:xfrm>
            <a:off x="676656" y="2121408"/>
            <a:ext cx="457200" cy="457200"/>
          </a:xfrm>
          <a:prstGeom prst="ellipse">
            <a:avLst/>
          </a:prstGeom>
          <a:solidFill>
            <a:srgbClr val="17A398"/>
          </a:solidFill>
          <a:ln/>
        </p:spPr>
      </p:sp>
      <p:sp>
        <p:nvSpPr>
          <p:cNvPr id="8" name="Text 6"/>
          <p:cNvSpPr/>
          <p:nvPr/>
        </p:nvSpPr>
        <p:spPr>
          <a:xfrm>
            <a:off x="1261872" y="2139696"/>
            <a:ext cx="2514600" cy="274320"/>
          </a:xfrm>
          <a:prstGeom prst="rect">
            <a:avLst/>
          </a:prstGeom>
          <a:noFill/>
          <a:ln/>
        </p:spPr>
        <p:txBody>
          <a:bodyPr wrap="square" lIns="0" tIns="0" rIns="0" bIns="0" rtlCol="0" anchor="t"/>
          <a:lstStyle/>
          <a:p>
            <a:pPr indent="0" marL="0">
              <a:buNone/>
            </a:pPr>
            <a:r>
              <a:rPr lang="en-US" sz="1400" b="1" dirty="0">
                <a:solidFill>
                  <a:srgbClr val="17A398"/>
                </a:solidFill>
                <a:latin typeface="Calibri" pitchFamily="34" charset="0"/>
                <a:ea typeface="Calibri" pitchFamily="34" charset="-122"/>
                <a:cs typeface="Calibri" pitchFamily="34" charset="-120"/>
              </a:rPr>
              <a:t>Recepción-IA</a:t>
            </a:r>
            <a:endParaRPr lang="en-US" sz="1400" dirty="0"/>
          </a:p>
        </p:txBody>
      </p:sp>
      <p:sp>
        <p:nvSpPr>
          <p:cNvPr id="9" name="Text 7"/>
          <p:cNvSpPr/>
          <p:nvPr/>
        </p:nvSpPr>
        <p:spPr>
          <a:xfrm>
            <a:off x="676656" y="2670048"/>
            <a:ext cx="3099816" cy="457200"/>
          </a:xfrm>
          <a:prstGeom prst="rect">
            <a:avLst/>
          </a:prstGeom>
          <a:noFill/>
          <a:ln/>
        </p:spPr>
        <p:txBody>
          <a:bodyPr wrap="square" lIns="0" tIns="0" rIns="0" bIns="0" rtlCol="0" anchor="t"/>
          <a:lstStyle/>
          <a:p>
            <a:pPr indent="0" marL="0">
              <a:lnSpc>
                <a:spcPts val="1500"/>
              </a:lnSpc>
              <a:buNone/>
            </a:pPr>
            <a:r>
              <a:rPr lang="en-US" sz="1100" i="1" dirty="0">
                <a:solidFill>
                  <a:srgbClr val="7F7F7F"/>
                </a:solidFill>
                <a:latin typeface="Calibri" pitchFamily="34" charset="0"/>
                <a:ea typeface="Calibri" pitchFamily="34" charset="-122"/>
                <a:cs typeface="Calibri" pitchFamily="34" charset="-120"/>
              </a:rPr>
              <a:t>Responsable del sistema y de protección de datos</a:t>
            </a:r>
            <a:endParaRPr lang="en-US" sz="1100" dirty="0"/>
          </a:p>
        </p:txBody>
      </p:sp>
      <p:sp>
        <p:nvSpPr>
          <p:cNvPr id="10" name="Text 8"/>
          <p:cNvSpPr/>
          <p:nvPr/>
        </p:nvSpPr>
        <p:spPr>
          <a:xfrm>
            <a:off x="676656" y="3127248"/>
            <a:ext cx="3099816" cy="7772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Decisión exclusiva: suspender el sistema ante un incidente. Es la única que no requiere consulta.</a:t>
            </a:r>
            <a:endParaRPr lang="en-US" sz="1100" dirty="0"/>
          </a:p>
        </p:txBody>
      </p:sp>
      <p:sp>
        <p:nvSpPr>
          <p:cNvPr id="11" name="Shape 9"/>
          <p:cNvSpPr/>
          <p:nvPr/>
        </p:nvSpPr>
        <p:spPr>
          <a:xfrm>
            <a:off x="4288536" y="1901952"/>
            <a:ext cx="3611880" cy="2084832"/>
          </a:xfrm>
          <a:prstGeom prst="roundRect">
            <a:avLst>
              <a:gd name="adj" fmla="val 2632"/>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2" name="Shape 10"/>
          <p:cNvSpPr/>
          <p:nvPr/>
        </p:nvSpPr>
        <p:spPr>
          <a:xfrm>
            <a:off x="4544568" y="2121408"/>
            <a:ext cx="457200" cy="457200"/>
          </a:xfrm>
          <a:prstGeom prst="ellipse">
            <a:avLst/>
          </a:prstGeom>
          <a:solidFill>
            <a:srgbClr val="EFA733"/>
          </a:solidFill>
          <a:ln/>
        </p:spPr>
      </p:sp>
      <p:sp>
        <p:nvSpPr>
          <p:cNvPr id="13" name="Text 11"/>
          <p:cNvSpPr/>
          <p:nvPr/>
        </p:nvSpPr>
        <p:spPr>
          <a:xfrm>
            <a:off x="5129784" y="2139696"/>
            <a:ext cx="2514600" cy="274320"/>
          </a:xfrm>
          <a:prstGeom prst="rect">
            <a:avLst/>
          </a:prstGeom>
          <a:noFill/>
          <a:ln/>
        </p:spPr>
        <p:txBody>
          <a:bodyPr wrap="square" lIns="0" tIns="0" rIns="0" bIns="0" rtlCol="0" anchor="t"/>
          <a:lstStyle/>
          <a:p>
            <a:pPr indent="0" marL="0">
              <a:buNone/>
            </a:pPr>
            <a:r>
              <a:rPr lang="en-US" sz="1400" b="1" dirty="0">
                <a:solidFill>
                  <a:srgbClr val="EFA733"/>
                </a:solidFill>
                <a:latin typeface="Calibri" pitchFamily="34" charset="0"/>
                <a:ea typeface="Calibri" pitchFamily="34" charset="-122"/>
                <a:cs typeface="Calibri" pitchFamily="34" charset="-120"/>
              </a:rPr>
              <a:t>La clínica</a:t>
            </a:r>
            <a:endParaRPr lang="en-US" sz="1400" dirty="0"/>
          </a:p>
        </p:txBody>
      </p:sp>
      <p:sp>
        <p:nvSpPr>
          <p:cNvPr id="14" name="Text 12"/>
          <p:cNvSpPr/>
          <p:nvPr/>
        </p:nvSpPr>
        <p:spPr>
          <a:xfrm>
            <a:off x="4544568" y="2670048"/>
            <a:ext cx="3099816" cy="457200"/>
          </a:xfrm>
          <a:prstGeom prst="rect">
            <a:avLst/>
          </a:prstGeom>
          <a:noFill/>
          <a:ln/>
        </p:spPr>
        <p:txBody>
          <a:bodyPr wrap="square" lIns="0" tIns="0" rIns="0" bIns="0" rtlCol="0" anchor="t"/>
          <a:lstStyle/>
          <a:p>
            <a:pPr indent="0" marL="0">
              <a:lnSpc>
                <a:spcPts val="1500"/>
              </a:lnSpc>
              <a:buNone/>
            </a:pPr>
            <a:r>
              <a:rPr lang="en-US" sz="1100" i="1" dirty="0">
                <a:solidFill>
                  <a:srgbClr val="7F7F7F"/>
                </a:solidFill>
                <a:latin typeface="Calibri" pitchFamily="34" charset="0"/>
                <a:ea typeface="Calibri" pitchFamily="34" charset="-122"/>
                <a:cs typeface="Calibri" pitchFamily="34" charset="-120"/>
              </a:rPr>
              <a:t>Titular del banco de datos y responsable clínico</a:t>
            </a:r>
            <a:endParaRPr lang="en-US" sz="1100" dirty="0"/>
          </a:p>
        </p:txBody>
      </p:sp>
      <p:sp>
        <p:nvSpPr>
          <p:cNvPr id="15" name="Text 13"/>
          <p:cNvSpPr/>
          <p:nvPr/>
        </p:nvSpPr>
        <p:spPr>
          <a:xfrm>
            <a:off x="4544568" y="3127248"/>
            <a:ext cx="3099816" cy="7772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Decisión exclusiva: aprobar o rechazar todo contenido con implicancia clínica. No es sobrescribible.</a:t>
            </a:r>
            <a:endParaRPr lang="en-US" sz="1100" dirty="0"/>
          </a:p>
        </p:txBody>
      </p:sp>
      <p:sp>
        <p:nvSpPr>
          <p:cNvPr id="16" name="Shape 14"/>
          <p:cNvSpPr/>
          <p:nvPr/>
        </p:nvSpPr>
        <p:spPr>
          <a:xfrm>
            <a:off x="8156448" y="1901952"/>
            <a:ext cx="3611880" cy="2084832"/>
          </a:xfrm>
          <a:prstGeom prst="roundRect">
            <a:avLst>
              <a:gd name="adj" fmla="val 2632"/>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7" name="Shape 15"/>
          <p:cNvSpPr/>
          <p:nvPr/>
        </p:nvSpPr>
        <p:spPr>
          <a:xfrm>
            <a:off x="8412480" y="2121408"/>
            <a:ext cx="457200" cy="457200"/>
          </a:xfrm>
          <a:prstGeom prst="ellipse">
            <a:avLst/>
          </a:prstGeom>
          <a:solidFill>
            <a:srgbClr val="C0453D"/>
          </a:solidFill>
          <a:ln/>
        </p:spPr>
      </p:sp>
      <p:sp>
        <p:nvSpPr>
          <p:cNvPr id="18" name="Text 16"/>
          <p:cNvSpPr/>
          <p:nvPr/>
        </p:nvSpPr>
        <p:spPr>
          <a:xfrm>
            <a:off x="8997696" y="2139696"/>
            <a:ext cx="2514600" cy="274320"/>
          </a:xfrm>
          <a:prstGeom prst="rect">
            <a:avLst/>
          </a:prstGeom>
          <a:noFill/>
          <a:ln/>
        </p:spPr>
        <p:txBody>
          <a:bodyPr wrap="square" lIns="0" tIns="0" rIns="0" bIns="0" rtlCol="0" anchor="t"/>
          <a:lstStyle/>
          <a:p>
            <a:pPr indent="0" marL="0">
              <a:buNone/>
            </a:pPr>
            <a:r>
              <a:rPr lang="en-US" sz="1400" b="1" dirty="0">
                <a:solidFill>
                  <a:srgbClr val="C0453D"/>
                </a:solidFill>
                <a:latin typeface="Calibri" pitchFamily="34" charset="0"/>
                <a:ea typeface="Calibri" pitchFamily="34" charset="-122"/>
                <a:cs typeface="Calibri" pitchFamily="34" charset="-120"/>
              </a:rPr>
              <a:t>Revisión externa</a:t>
            </a:r>
            <a:endParaRPr lang="en-US" sz="1400" dirty="0"/>
          </a:p>
        </p:txBody>
      </p:sp>
      <p:sp>
        <p:nvSpPr>
          <p:cNvPr id="19" name="Text 17"/>
          <p:cNvSpPr/>
          <p:nvPr/>
        </p:nvSpPr>
        <p:spPr>
          <a:xfrm>
            <a:off x="8412480" y="2670048"/>
            <a:ext cx="3099816" cy="457200"/>
          </a:xfrm>
          <a:prstGeom prst="rect">
            <a:avLst/>
          </a:prstGeom>
          <a:noFill/>
          <a:ln/>
        </p:spPr>
        <p:txBody>
          <a:bodyPr wrap="square" lIns="0" tIns="0" rIns="0" bIns="0" rtlCol="0" anchor="t"/>
          <a:lstStyle/>
          <a:p>
            <a:pPr indent="0" marL="0">
              <a:lnSpc>
                <a:spcPts val="1500"/>
              </a:lnSpc>
              <a:buNone/>
            </a:pPr>
            <a:r>
              <a:rPr lang="en-US" sz="1100" i="1" dirty="0">
                <a:solidFill>
                  <a:srgbClr val="7F7F7F"/>
                </a:solidFill>
                <a:latin typeface="Calibri" pitchFamily="34" charset="0"/>
                <a:ea typeface="Calibri" pitchFamily="34" charset="-122"/>
                <a:cs typeface="Calibri" pitchFamily="34" charset="-120"/>
              </a:rPr>
              <a:t>Abogado contratado por proyecto</a:t>
            </a:r>
            <a:endParaRPr lang="en-US" sz="1100" dirty="0"/>
          </a:p>
        </p:txBody>
      </p:sp>
      <p:sp>
        <p:nvSpPr>
          <p:cNvPr id="20" name="Text 18"/>
          <p:cNvSpPr/>
          <p:nvPr/>
        </p:nvSpPr>
        <p:spPr>
          <a:xfrm>
            <a:off x="8412480" y="3127248"/>
            <a:ext cx="3099816" cy="777240"/>
          </a:xfrm>
          <a:prstGeom prst="rect">
            <a:avLst/>
          </a:prstGeom>
          <a:noFill/>
          <a:ln/>
        </p:spPr>
        <p:txBody>
          <a:bodyPr wrap="square" lIns="0" tIns="0" rIns="0" bIns="0" rtlCol="0" anchor="t"/>
          <a:lstStyle/>
          <a:p>
            <a:pPr indent="0" marL="0">
              <a:lnSpc>
                <a:spcPts val="1600"/>
              </a:lnSpc>
              <a:buNone/>
            </a:pPr>
            <a:r>
              <a:rPr lang="en-US" sz="1100" dirty="0">
                <a:solidFill>
                  <a:srgbClr val="5A5A5A"/>
                </a:solidFill>
                <a:latin typeface="Calibri" pitchFamily="34" charset="0"/>
                <a:ea typeface="Calibri" pitchFamily="34" charset="-122"/>
                <a:cs typeface="Calibri" pitchFamily="34" charset="-120"/>
              </a:rPr>
              <a:t>Decisión exclusiva: determinar si una práctica es lícita. Ante duda no resuelta, no se ejecuta.</a:t>
            </a:r>
            <a:endParaRPr lang="en-US" sz="1100" dirty="0"/>
          </a:p>
        </p:txBody>
      </p:sp>
      <p:sp>
        <p:nvSpPr>
          <p:cNvPr id="21" name="Text 19"/>
          <p:cNvSpPr/>
          <p:nvPr/>
        </p:nvSpPr>
        <p:spPr>
          <a:xfrm>
            <a:off x="822960" y="4096512"/>
            <a:ext cx="10543032" cy="274320"/>
          </a:xfrm>
          <a:prstGeom prst="rect">
            <a:avLst/>
          </a:prstGeom>
          <a:noFill/>
          <a:ln/>
        </p:spPr>
        <p:txBody>
          <a:bodyPr wrap="square" lIns="0" tIns="0" rIns="0" bIns="0" rtlCol="0" anchor="t"/>
          <a:lstStyle/>
          <a:p>
            <a:pPr algn="ctr" indent="0" marL="0">
              <a:buNone/>
            </a:pPr>
            <a:r>
              <a:rPr lang="en-US" sz="1100" i="1" dirty="0">
                <a:solidFill>
                  <a:srgbClr val="7F7F7F"/>
                </a:solidFill>
                <a:latin typeface="Calibri" pitchFamily="34" charset="0"/>
                <a:ea typeface="Calibri" pitchFamily="34" charset="-122"/>
                <a:cs typeface="Calibri" pitchFamily="34" charset="-120"/>
              </a:rPr>
              <a:t>La supervisión efectiva reside fuera de la organización: no depende de la autodisciplina del fundador y un tercero puede verificarla.</a:t>
            </a:r>
            <a:endParaRPr lang="en-US" sz="1100" dirty="0"/>
          </a:p>
        </p:txBody>
      </p:sp>
      <p:sp>
        <p:nvSpPr>
          <p:cNvPr id="22" name="Shape 20"/>
          <p:cNvSpPr/>
          <p:nvPr/>
        </p:nvSpPr>
        <p:spPr>
          <a:xfrm>
            <a:off x="420624" y="4498848"/>
            <a:ext cx="3611880" cy="1737360"/>
          </a:xfrm>
          <a:prstGeom prst="roundRect">
            <a:avLst>
              <a:gd name="adj" fmla="val 3158"/>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3" name="Text 21"/>
          <p:cNvSpPr/>
          <p:nvPr/>
        </p:nvSpPr>
        <p:spPr>
          <a:xfrm>
            <a:off x="658368" y="4608576"/>
            <a:ext cx="1051560" cy="777240"/>
          </a:xfrm>
          <a:prstGeom prst="rect">
            <a:avLst/>
          </a:prstGeom>
          <a:noFill/>
          <a:ln/>
        </p:spPr>
        <p:txBody>
          <a:bodyPr wrap="square" lIns="0" tIns="0" rIns="0" bIns="0" rtlCol="0" anchor="t"/>
          <a:lstStyle/>
          <a:p>
            <a:pPr algn="ctr" indent="0" marL="0">
              <a:buNone/>
            </a:pPr>
            <a:r>
              <a:rPr lang="en-US" sz="4400" b="1" dirty="0">
                <a:solidFill>
                  <a:srgbClr val="17A398"/>
                </a:solidFill>
                <a:latin typeface="Calibri" pitchFamily="34" charset="0"/>
                <a:ea typeface="Calibri" pitchFamily="34" charset="-122"/>
                <a:cs typeface="Calibri" pitchFamily="34" charset="-120"/>
              </a:rPr>
              <a:t>14</a:t>
            </a:r>
            <a:endParaRPr lang="en-US" sz="4400" dirty="0"/>
          </a:p>
        </p:txBody>
      </p:sp>
      <p:sp>
        <p:nvSpPr>
          <p:cNvPr id="24" name="Text 22"/>
          <p:cNvSpPr/>
          <p:nvPr/>
        </p:nvSpPr>
        <p:spPr>
          <a:xfrm>
            <a:off x="1746504" y="4754880"/>
            <a:ext cx="2057400" cy="548640"/>
          </a:xfrm>
          <a:prstGeom prst="rect">
            <a:avLst/>
          </a:prstGeom>
          <a:noFill/>
          <a:ln/>
        </p:spPr>
        <p:txBody>
          <a:bodyPr wrap="square" lIns="0" tIns="0" rIns="0" bIns="0" rtlCol="0" anchor="t"/>
          <a:lstStyle/>
          <a:p>
            <a:pPr indent="0" marL="0">
              <a:lnSpc>
                <a:spcPts val="1600"/>
              </a:lnSpc>
              <a:buNone/>
            </a:pPr>
            <a:r>
              <a:rPr lang="en-US" sz="1250" b="1" dirty="0">
                <a:solidFill>
                  <a:srgbClr val="3F3F3F"/>
                </a:solidFill>
                <a:latin typeface="Calibri" pitchFamily="34" charset="0"/>
                <a:ea typeface="Calibri" pitchFamily="34" charset="-122"/>
                <a:cs typeface="Calibri" pitchFamily="34" charset="-120"/>
              </a:rPr>
              <a:t>controles técnicos</a:t>
            </a:r>
            <a:endParaRPr lang="en-US" sz="1250" dirty="0"/>
          </a:p>
        </p:txBody>
      </p:sp>
      <p:sp>
        <p:nvSpPr>
          <p:cNvPr id="25" name="Text 23"/>
          <p:cNvSpPr/>
          <p:nvPr/>
        </p:nvSpPr>
        <p:spPr>
          <a:xfrm>
            <a:off x="658368" y="5449824"/>
            <a:ext cx="3136392" cy="6858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RAG estricto, guardrails de salida, detección de urgencia, equidad del habla, revelación obligatoria</a:t>
            </a:r>
            <a:endParaRPr lang="en-US" sz="1050" dirty="0"/>
          </a:p>
        </p:txBody>
      </p:sp>
      <p:sp>
        <p:nvSpPr>
          <p:cNvPr id="26" name="Shape 24"/>
          <p:cNvSpPr/>
          <p:nvPr/>
        </p:nvSpPr>
        <p:spPr>
          <a:xfrm>
            <a:off x="4288536" y="4498848"/>
            <a:ext cx="3611880" cy="1737360"/>
          </a:xfrm>
          <a:prstGeom prst="roundRect">
            <a:avLst>
              <a:gd name="adj" fmla="val 3158"/>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7" name="Text 25"/>
          <p:cNvSpPr/>
          <p:nvPr/>
        </p:nvSpPr>
        <p:spPr>
          <a:xfrm>
            <a:off x="4526280" y="4608576"/>
            <a:ext cx="1051560" cy="777240"/>
          </a:xfrm>
          <a:prstGeom prst="rect">
            <a:avLst/>
          </a:prstGeom>
          <a:noFill/>
          <a:ln/>
        </p:spPr>
        <p:txBody>
          <a:bodyPr wrap="square" lIns="0" tIns="0" rIns="0" bIns="0" rtlCol="0" anchor="t"/>
          <a:lstStyle/>
          <a:p>
            <a:pPr algn="ctr" indent="0" marL="0">
              <a:buNone/>
            </a:pPr>
            <a:r>
              <a:rPr lang="en-US" sz="4400" b="1" dirty="0">
                <a:solidFill>
                  <a:srgbClr val="EFA733"/>
                </a:solidFill>
                <a:latin typeface="Calibri" pitchFamily="34" charset="0"/>
                <a:ea typeface="Calibri" pitchFamily="34" charset="-122"/>
                <a:cs typeface="Calibri" pitchFamily="34" charset="-120"/>
              </a:rPr>
              <a:t>9</a:t>
            </a:r>
            <a:endParaRPr lang="en-US" sz="4400" dirty="0"/>
          </a:p>
        </p:txBody>
      </p:sp>
      <p:sp>
        <p:nvSpPr>
          <p:cNvPr id="28" name="Text 26"/>
          <p:cNvSpPr/>
          <p:nvPr/>
        </p:nvSpPr>
        <p:spPr>
          <a:xfrm>
            <a:off x="5614416" y="4754880"/>
            <a:ext cx="2057400" cy="548640"/>
          </a:xfrm>
          <a:prstGeom prst="rect">
            <a:avLst/>
          </a:prstGeom>
          <a:noFill/>
          <a:ln/>
        </p:spPr>
        <p:txBody>
          <a:bodyPr wrap="square" lIns="0" tIns="0" rIns="0" bIns="0" rtlCol="0" anchor="t"/>
          <a:lstStyle/>
          <a:p>
            <a:pPr indent="0" marL="0">
              <a:lnSpc>
                <a:spcPts val="1600"/>
              </a:lnSpc>
              <a:buNone/>
            </a:pPr>
            <a:r>
              <a:rPr lang="en-US" sz="1250" b="1" dirty="0">
                <a:solidFill>
                  <a:srgbClr val="3F3F3F"/>
                </a:solidFill>
                <a:latin typeface="Calibri" pitchFamily="34" charset="0"/>
                <a:ea typeface="Calibri" pitchFamily="34" charset="-122"/>
                <a:cs typeface="Calibri" pitchFamily="34" charset="-120"/>
              </a:rPr>
              <a:t>controles organizacionales</a:t>
            </a:r>
            <a:endParaRPr lang="en-US" sz="1250" dirty="0"/>
          </a:p>
        </p:txBody>
      </p:sp>
      <p:sp>
        <p:nvSpPr>
          <p:cNvPr id="29" name="Text 27"/>
          <p:cNvSpPr/>
          <p:nvPr/>
        </p:nvSpPr>
        <p:spPr>
          <a:xfrm>
            <a:off x="4526280" y="5449824"/>
            <a:ext cx="3136392" cy="6858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Encargo de tratamiento, aprobación escrita clínica, incidentes en 48 h, cambios en producción</a:t>
            </a:r>
            <a:endParaRPr lang="en-US" sz="1050" dirty="0"/>
          </a:p>
        </p:txBody>
      </p:sp>
      <p:sp>
        <p:nvSpPr>
          <p:cNvPr id="30" name="Shape 28"/>
          <p:cNvSpPr/>
          <p:nvPr/>
        </p:nvSpPr>
        <p:spPr>
          <a:xfrm>
            <a:off x="8156448" y="4498848"/>
            <a:ext cx="3611880" cy="1737360"/>
          </a:xfrm>
          <a:prstGeom prst="roundRect">
            <a:avLst>
              <a:gd name="adj" fmla="val 3158"/>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31" name="Text 29"/>
          <p:cNvSpPr/>
          <p:nvPr/>
        </p:nvSpPr>
        <p:spPr>
          <a:xfrm>
            <a:off x="8394192" y="4608576"/>
            <a:ext cx="1051560" cy="777240"/>
          </a:xfrm>
          <a:prstGeom prst="rect">
            <a:avLst/>
          </a:prstGeom>
          <a:noFill/>
          <a:ln/>
        </p:spPr>
        <p:txBody>
          <a:bodyPr wrap="square" lIns="0" tIns="0" rIns="0" bIns="0" rtlCol="0" anchor="t"/>
          <a:lstStyle/>
          <a:p>
            <a:pPr algn="ctr" indent="0" marL="0">
              <a:buNone/>
            </a:pPr>
            <a:r>
              <a:rPr lang="en-US" sz="4400" b="1" dirty="0">
                <a:solidFill>
                  <a:srgbClr val="8DC03F"/>
                </a:solidFill>
                <a:latin typeface="Calibri" pitchFamily="34" charset="0"/>
                <a:ea typeface="Calibri" pitchFamily="34" charset="-122"/>
                <a:cs typeface="Calibri" pitchFamily="34" charset="-120"/>
              </a:rPr>
              <a:t>10</a:t>
            </a:r>
            <a:endParaRPr lang="en-US" sz="4400" dirty="0"/>
          </a:p>
        </p:txBody>
      </p:sp>
      <p:sp>
        <p:nvSpPr>
          <p:cNvPr id="32" name="Text 30"/>
          <p:cNvSpPr/>
          <p:nvPr/>
        </p:nvSpPr>
        <p:spPr>
          <a:xfrm>
            <a:off x="9482328" y="4754880"/>
            <a:ext cx="2057400" cy="548640"/>
          </a:xfrm>
          <a:prstGeom prst="rect">
            <a:avLst/>
          </a:prstGeom>
          <a:noFill/>
          <a:ln/>
        </p:spPr>
        <p:txBody>
          <a:bodyPr wrap="square" lIns="0" tIns="0" rIns="0" bIns="0" rtlCol="0" anchor="t"/>
          <a:lstStyle/>
          <a:p>
            <a:pPr indent="0" marL="0">
              <a:lnSpc>
                <a:spcPts val="1600"/>
              </a:lnSpc>
              <a:buNone/>
            </a:pPr>
            <a:r>
              <a:rPr lang="en-US" sz="1250" b="1" dirty="0">
                <a:solidFill>
                  <a:srgbClr val="3F3F3F"/>
                </a:solidFill>
                <a:latin typeface="Calibri" pitchFamily="34" charset="0"/>
                <a:ea typeface="Calibri" pitchFamily="34" charset="-122"/>
                <a:cs typeface="Calibri" pitchFamily="34" charset="-120"/>
              </a:rPr>
              <a:t>indicadores de gobernanza</a:t>
            </a:r>
            <a:endParaRPr lang="en-US" sz="1250" dirty="0"/>
          </a:p>
        </p:txBody>
      </p:sp>
      <p:sp>
        <p:nvSpPr>
          <p:cNvPr id="33" name="Text 31"/>
          <p:cNvSpPr/>
          <p:nvPr/>
        </p:nvSpPr>
        <p:spPr>
          <a:xfrm>
            <a:off x="8394192" y="5449824"/>
            <a:ext cx="3136392" cy="6858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Con umbral y acción asociada al incumplimiento: cinco de ellos suspenden el canal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Auditoría interna para la mitigación de sesgos</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Shape 2"/>
          <p:cNvSpPr/>
          <p:nvPr/>
        </p:nvSpPr>
        <p:spPr>
          <a:xfrm>
            <a:off x="187452" y="1417320"/>
            <a:ext cx="2788920" cy="2743200"/>
          </a:xfrm>
          <a:prstGeom prst="roundRect">
            <a:avLst>
              <a:gd name="adj" fmla="val 2000"/>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5" name="Shape 3"/>
          <p:cNvSpPr/>
          <p:nvPr/>
        </p:nvSpPr>
        <p:spPr>
          <a:xfrm>
            <a:off x="1316736" y="1170432"/>
            <a:ext cx="530352" cy="530352"/>
          </a:xfrm>
          <a:prstGeom prst="ellipse">
            <a:avLst/>
          </a:prstGeom>
          <a:solidFill>
            <a:srgbClr val="17A398"/>
          </a:solidFill>
          <a:ln w="12700">
            <a:solidFill>
              <a:srgbClr val="17A398"/>
            </a:solidFill>
            <a:prstDash val="solid"/>
          </a:ln>
        </p:spPr>
      </p:sp>
      <p:sp>
        <p:nvSpPr>
          <p:cNvPr id="6" name="Text 4"/>
          <p:cNvSpPr/>
          <p:nvPr/>
        </p:nvSpPr>
        <p:spPr>
          <a:xfrm>
            <a:off x="1316736" y="11704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370332" y="1874520"/>
            <a:ext cx="2423160" cy="566928"/>
          </a:xfrm>
          <a:prstGeom prst="rect">
            <a:avLst/>
          </a:prstGeom>
          <a:noFill/>
          <a:ln/>
        </p:spPr>
        <p:txBody>
          <a:bodyPr wrap="square" lIns="0" tIns="0" rIns="0" bIns="0" rtlCol="0" anchor="t"/>
          <a:lstStyle/>
          <a:p>
            <a:pPr algn="ctr" indent="0" marL="0">
              <a:lnSpc>
                <a:spcPts val="1600"/>
              </a:lnSpc>
              <a:buNone/>
            </a:pPr>
            <a:r>
              <a:rPr lang="en-US" sz="1300" b="1" dirty="0">
                <a:solidFill>
                  <a:srgbClr val="17A398"/>
                </a:solidFill>
                <a:latin typeface="Calibri" pitchFamily="34" charset="0"/>
                <a:ea typeface="Calibri" pitchFamily="34" charset="-122"/>
                <a:cs typeface="Calibri" pitchFamily="34" charset="-120"/>
              </a:rPr>
              <a:t>Auditoría de datos</a:t>
            </a:r>
            <a:endParaRPr lang="en-US" sz="1300" dirty="0"/>
          </a:p>
        </p:txBody>
      </p:sp>
      <p:sp>
        <p:nvSpPr>
          <p:cNvPr id="8" name="Text 6"/>
          <p:cNvSpPr/>
          <p:nvPr/>
        </p:nvSpPr>
        <p:spPr>
          <a:xfrm>
            <a:off x="370332" y="2468880"/>
            <a:ext cx="2423160" cy="256032"/>
          </a:xfrm>
          <a:prstGeom prst="rect">
            <a:avLst/>
          </a:prstGeom>
          <a:noFill/>
          <a:ln/>
        </p:spPr>
        <p:txBody>
          <a:bodyPr wrap="square" lIns="0" tIns="0" rIns="0" bIns="0" rtlCol="0" anchor="t"/>
          <a:lstStyle/>
          <a:p>
            <a:pPr algn="ctr" indent="0" marL="0">
              <a:buNone/>
            </a:pPr>
            <a:r>
              <a:rPr lang="en-US" sz="1000" i="1" dirty="0">
                <a:solidFill>
                  <a:srgbClr val="7F7F7F"/>
                </a:solidFill>
                <a:latin typeface="Calibri" pitchFamily="34" charset="0"/>
                <a:ea typeface="Calibri" pitchFamily="34" charset="-122"/>
                <a:cs typeface="Calibri" pitchFamily="34" charset="-120"/>
              </a:rPr>
              <a:t>Previa al despliegue</a:t>
            </a:r>
            <a:endParaRPr lang="en-US" sz="1000" dirty="0"/>
          </a:p>
        </p:txBody>
      </p:sp>
      <p:sp>
        <p:nvSpPr>
          <p:cNvPr id="9" name="Shape 7"/>
          <p:cNvSpPr/>
          <p:nvPr/>
        </p:nvSpPr>
        <p:spPr>
          <a:xfrm>
            <a:off x="1289304" y="2798064"/>
            <a:ext cx="585216" cy="14630"/>
          </a:xfrm>
          <a:prstGeom prst="rect">
            <a:avLst/>
          </a:prstGeom>
          <a:solidFill>
            <a:srgbClr val="DFE3E3"/>
          </a:solidFill>
          <a:ln/>
        </p:spPr>
      </p:sp>
      <p:sp>
        <p:nvSpPr>
          <p:cNvPr id="10" name="Text 8"/>
          <p:cNvSpPr/>
          <p:nvPr/>
        </p:nvSpPr>
        <p:spPr>
          <a:xfrm>
            <a:off x="406908" y="2944368"/>
            <a:ext cx="2350008" cy="13716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Cobertura y procedencia de la base; aprobación escrita; línea base de error de reconocimiento del habla por segmento de hablante.</a:t>
            </a:r>
            <a:endParaRPr lang="en-US" sz="1050" dirty="0"/>
          </a:p>
        </p:txBody>
      </p:sp>
      <p:sp>
        <p:nvSpPr>
          <p:cNvPr id="11" name="Shape 9"/>
          <p:cNvSpPr/>
          <p:nvPr/>
        </p:nvSpPr>
        <p:spPr>
          <a:xfrm>
            <a:off x="2985516" y="2651760"/>
            <a:ext cx="201168" cy="502920"/>
          </a:xfrm>
          <a:prstGeom prst="chevron">
            <a:avLst/>
          </a:prstGeom>
          <a:solidFill>
            <a:srgbClr val="17A398"/>
          </a:solidFill>
          <a:ln/>
        </p:spPr>
      </p:sp>
      <p:sp>
        <p:nvSpPr>
          <p:cNvPr id="12" name="Shape 10"/>
          <p:cNvSpPr/>
          <p:nvPr/>
        </p:nvSpPr>
        <p:spPr>
          <a:xfrm>
            <a:off x="3195828" y="1417320"/>
            <a:ext cx="2788920" cy="2743200"/>
          </a:xfrm>
          <a:prstGeom prst="roundRect">
            <a:avLst>
              <a:gd name="adj" fmla="val 2000"/>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13" name="Shape 11"/>
          <p:cNvSpPr/>
          <p:nvPr/>
        </p:nvSpPr>
        <p:spPr>
          <a:xfrm>
            <a:off x="4325112" y="1170432"/>
            <a:ext cx="530352" cy="530352"/>
          </a:xfrm>
          <a:prstGeom prst="ellipse">
            <a:avLst/>
          </a:prstGeom>
          <a:solidFill>
            <a:srgbClr val="EFA733"/>
          </a:solidFill>
          <a:ln w="12700">
            <a:solidFill>
              <a:srgbClr val="EFA733"/>
            </a:solidFill>
            <a:prstDash val="solid"/>
          </a:ln>
        </p:spPr>
      </p:sp>
      <p:sp>
        <p:nvSpPr>
          <p:cNvPr id="14" name="Text 12"/>
          <p:cNvSpPr/>
          <p:nvPr/>
        </p:nvSpPr>
        <p:spPr>
          <a:xfrm>
            <a:off x="4325112" y="11704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3378708" y="1874520"/>
            <a:ext cx="2423160" cy="566928"/>
          </a:xfrm>
          <a:prstGeom prst="rect">
            <a:avLst/>
          </a:prstGeom>
          <a:noFill/>
          <a:ln/>
        </p:spPr>
        <p:txBody>
          <a:bodyPr wrap="square" lIns="0" tIns="0" rIns="0" bIns="0" rtlCol="0" anchor="t"/>
          <a:lstStyle/>
          <a:p>
            <a:pPr algn="ctr" indent="0" marL="0">
              <a:lnSpc>
                <a:spcPts val="1600"/>
              </a:lnSpc>
              <a:buNone/>
            </a:pPr>
            <a:r>
              <a:rPr lang="en-US" sz="1300" b="1" dirty="0">
                <a:solidFill>
                  <a:srgbClr val="EFA733"/>
                </a:solidFill>
                <a:latin typeface="Calibri" pitchFamily="34" charset="0"/>
                <a:ea typeface="Calibri" pitchFamily="34" charset="-122"/>
                <a:cs typeface="Calibri" pitchFamily="34" charset="-120"/>
              </a:rPr>
              <a:t>Pruebas de estrés y red teaming</a:t>
            </a:r>
            <a:endParaRPr lang="en-US" sz="1300" dirty="0"/>
          </a:p>
        </p:txBody>
      </p:sp>
      <p:sp>
        <p:nvSpPr>
          <p:cNvPr id="16" name="Text 14"/>
          <p:cNvSpPr/>
          <p:nvPr/>
        </p:nvSpPr>
        <p:spPr>
          <a:xfrm>
            <a:off x="3378708" y="2468880"/>
            <a:ext cx="2423160" cy="256032"/>
          </a:xfrm>
          <a:prstGeom prst="rect">
            <a:avLst/>
          </a:prstGeom>
          <a:noFill/>
          <a:ln/>
        </p:spPr>
        <p:txBody>
          <a:bodyPr wrap="square" lIns="0" tIns="0" rIns="0" bIns="0" rtlCol="0" anchor="t"/>
          <a:lstStyle/>
          <a:p>
            <a:pPr algn="ctr" indent="0" marL="0">
              <a:buNone/>
            </a:pPr>
            <a:r>
              <a:rPr lang="en-US" sz="1000" i="1" dirty="0">
                <a:solidFill>
                  <a:srgbClr val="7F7F7F"/>
                </a:solidFill>
                <a:latin typeface="Calibri" pitchFamily="34" charset="0"/>
                <a:ea typeface="Calibri" pitchFamily="34" charset="-122"/>
                <a:cs typeface="Calibri" pitchFamily="34" charset="-120"/>
              </a:rPr>
              <a:t>Previa al despliegue</a:t>
            </a:r>
            <a:endParaRPr lang="en-US" sz="1000" dirty="0"/>
          </a:p>
        </p:txBody>
      </p:sp>
      <p:sp>
        <p:nvSpPr>
          <p:cNvPr id="17" name="Shape 15"/>
          <p:cNvSpPr/>
          <p:nvPr/>
        </p:nvSpPr>
        <p:spPr>
          <a:xfrm>
            <a:off x="4297680" y="2798064"/>
            <a:ext cx="585216" cy="14630"/>
          </a:xfrm>
          <a:prstGeom prst="rect">
            <a:avLst/>
          </a:prstGeom>
          <a:solidFill>
            <a:srgbClr val="DFE3E3"/>
          </a:solidFill>
          <a:ln/>
        </p:spPr>
      </p:sp>
      <p:sp>
        <p:nvSpPr>
          <p:cNvPr id="18" name="Text 16"/>
          <p:cNvSpPr/>
          <p:nvPr/>
        </p:nvSpPr>
        <p:spPr>
          <a:xfrm>
            <a:off x="3415284" y="2944368"/>
            <a:ext cx="2350008" cy="13716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Batería adversarial de 13 categorías: urgencias, intentos de diagnóstico, inyección directa e indirecta, audio degradado, aislamiento entre clínicas.</a:t>
            </a:r>
            <a:endParaRPr lang="en-US" sz="1050" dirty="0"/>
          </a:p>
        </p:txBody>
      </p:sp>
      <p:sp>
        <p:nvSpPr>
          <p:cNvPr id="19" name="Shape 17"/>
          <p:cNvSpPr/>
          <p:nvPr/>
        </p:nvSpPr>
        <p:spPr>
          <a:xfrm>
            <a:off x="5993892" y="2651760"/>
            <a:ext cx="201168" cy="502920"/>
          </a:xfrm>
          <a:prstGeom prst="chevron">
            <a:avLst/>
          </a:prstGeom>
          <a:solidFill>
            <a:srgbClr val="EFA733"/>
          </a:solidFill>
          <a:ln/>
        </p:spPr>
      </p:sp>
      <p:sp>
        <p:nvSpPr>
          <p:cNvPr id="20" name="Shape 18"/>
          <p:cNvSpPr/>
          <p:nvPr/>
        </p:nvSpPr>
        <p:spPr>
          <a:xfrm>
            <a:off x="6204204" y="1417320"/>
            <a:ext cx="2788920" cy="2743200"/>
          </a:xfrm>
          <a:prstGeom prst="roundRect">
            <a:avLst>
              <a:gd name="adj" fmla="val 2000"/>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1" name="Shape 19"/>
          <p:cNvSpPr/>
          <p:nvPr/>
        </p:nvSpPr>
        <p:spPr>
          <a:xfrm>
            <a:off x="7333488" y="1170432"/>
            <a:ext cx="530352" cy="530352"/>
          </a:xfrm>
          <a:prstGeom prst="ellipse">
            <a:avLst/>
          </a:prstGeom>
          <a:solidFill>
            <a:srgbClr val="C0453D"/>
          </a:solidFill>
          <a:ln w="12700">
            <a:solidFill>
              <a:srgbClr val="C0453D"/>
            </a:solidFill>
            <a:prstDash val="solid"/>
          </a:ln>
        </p:spPr>
      </p:sp>
      <p:sp>
        <p:nvSpPr>
          <p:cNvPr id="22" name="Text 20"/>
          <p:cNvSpPr/>
          <p:nvPr/>
        </p:nvSpPr>
        <p:spPr>
          <a:xfrm>
            <a:off x="7333488" y="11704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3" name="Text 21"/>
          <p:cNvSpPr/>
          <p:nvPr/>
        </p:nvSpPr>
        <p:spPr>
          <a:xfrm>
            <a:off x="6387084" y="1874520"/>
            <a:ext cx="2423160" cy="566928"/>
          </a:xfrm>
          <a:prstGeom prst="rect">
            <a:avLst/>
          </a:prstGeom>
          <a:noFill/>
          <a:ln/>
        </p:spPr>
        <p:txBody>
          <a:bodyPr wrap="square" lIns="0" tIns="0" rIns="0" bIns="0" rtlCol="0" anchor="t"/>
          <a:lstStyle/>
          <a:p>
            <a:pPr algn="ctr" indent="0" marL="0">
              <a:lnSpc>
                <a:spcPts val="1600"/>
              </a:lnSpc>
              <a:buNone/>
            </a:pPr>
            <a:r>
              <a:rPr lang="en-US" sz="1300" b="1" dirty="0">
                <a:solidFill>
                  <a:srgbClr val="C0453D"/>
                </a:solidFill>
                <a:latin typeface="Calibri" pitchFamily="34" charset="0"/>
                <a:ea typeface="Calibri" pitchFamily="34" charset="-122"/>
                <a:cs typeface="Calibri" pitchFamily="34" charset="-120"/>
              </a:rPr>
              <a:t>Monitoreo continuo</a:t>
            </a:r>
            <a:endParaRPr lang="en-US" sz="1300" dirty="0"/>
          </a:p>
        </p:txBody>
      </p:sp>
      <p:sp>
        <p:nvSpPr>
          <p:cNvPr id="24" name="Text 22"/>
          <p:cNvSpPr/>
          <p:nvPr/>
        </p:nvSpPr>
        <p:spPr>
          <a:xfrm>
            <a:off x="6387084" y="2468880"/>
            <a:ext cx="2423160" cy="256032"/>
          </a:xfrm>
          <a:prstGeom prst="rect">
            <a:avLst/>
          </a:prstGeom>
          <a:noFill/>
          <a:ln/>
        </p:spPr>
        <p:txBody>
          <a:bodyPr wrap="square" lIns="0" tIns="0" rIns="0" bIns="0" rtlCol="0" anchor="t"/>
          <a:lstStyle/>
          <a:p>
            <a:pPr algn="ctr" indent="0" marL="0">
              <a:buNone/>
            </a:pPr>
            <a:r>
              <a:rPr lang="en-US" sz="1000" i="1" dirty="0">
                <a:solidFill>
                  <a:srgbClr val="7F7F7F"/>
                </a:solidFill>
                <a:latin typeface="Calibri" pitchFamily="34" charset="0"/>
                <a:ea typeface="Calibri" pitchFamily="34" charset="-122"/>
                <a:cs typeface="Calibri" pitchFamily="34" charset="-120"/>
              </a:rPr>
              <a:t>Posdespliegue</a:t>
            </a:r>
            <a:endParaRPr lang="en-US" sz="1000" dirty="0"/>
          </a:p>
        </p:txBody>
      </p:sp>
      <p:sp>
        <p:nvSpPr>
          <p:cNvPr id="25" name="Shape 23"/>
          <p:cNvSpPr/>
          <p:nvPr/>
        </p:nvSpPr>
        <p:spPr>
          <a:xfrm>
            <a:off x="7306056" y="2798064"/>
            <a:ext cx="585216" cy="14630"/>
          </a:xfrm>
          <a:prstGeom prst="rect">
            <a:avLst/>
          </a:prstGeom>
          <a:solidFill>
            <a:srgbClr val="DFE3E3"/>
          </a:solidFill>
          <a:ln/>
        </p:spPr>
      </p:sp>
      <p:sp>
        <p:nvSpPr>
          <p:cNvPr id="26" name="Text 24"/>
          <p:cNvSpPr/>
          <p:nvPr/>
        </p:nvSpPr>
        <p:spPr>
          <a:xfrm>
            <a:off x="6423660" y="2944368"/>
            <a:ext cx="2350008" cy="13716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Revisión nocturna del 100 % de conversaciones y muestreo aleatorio de las aprobadas. Indicadores de equidad segmentados.</a:t>
            </a:r>
            <a:endParaRPr lang="en-US" sz="1050" dirty="0"/>
          </a:p>
        </p:txBody>
      </p:sp>
      <p:sp>
        <p:nvSpPr>
          <p:cNvPr id="27" name="Shape 25"/>
          <p:cNvSpPr/>
          <p:nvPr/>
        </p:nvSpPr>
        <p:spPr>
          <a:xfrm>
            <a:off x="9002268" y="2651760"/>
            <a:ext cx="201168" cy="502920"/>
          </a:xfrm>
          <a:prstGeom prst="chevron">
            <a:avLst/>
          </a:prstGeom>
          <a:solidFill>
            <a:srgbClr val="C0453D"/>
          </a:solidFill>
          <a:ln/>
        </p:spPr>
      </p:sp>
      <p:sp>
        <p:nvSpPr>
          <p:cNvPr id="28" name="Shape 26"/>
          <p:cNvSpPr/>
          <p:nvPr/>
        </p:nvSpPr>
        <p:spPr>
          <a:xfrm>
            <a:off x="9212580" y="1417320"/>
            <a:ext cx="2788920" cy="2743200"/>
          </a:xfrm>
          <a:prstGeom prst="roundRect">
            <a:avLst>
              <a:gd name="adj" fmla="val 2000"/>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9" name="Shape 27"/>
          <p:cNvSpPr/>
          <p:nvPr/>
        </p:nvSpPr>
        <p:spPr>
          <a:xfrm>
            <a:off x="10341864" y="1170432"/>
            <a:ext cx="530352" cy="530352"/>
          </a:xfrm>
          <a:prstGeom prst="ellipse">
            <a:avLst/>
          </a:prstGeom>
          <a:solidFill>
            <a:srgbClr val="8DC03F"/>
          </a:solidFill>
          <a:ln w="12700">
            <a:solidFill>
              <a:srgbClr val="8DC03F"/>
            </a:solidFill>
            <a:prstDash val="solid"/>
          </a:ln>
        </p:spPr>
      </p:sp>
      <p:sp>
        <p:nvSpPr>
          <p:cNvPr id="30" name="Text 28"/>
          <p:cNvSpPr/>
          <p:nvPr/>
        </p:nvSpPr>
        <p:spPr>
          <a:xfrm>
            <a:off x="10341864" y="1170432"/>
            <a:ext cx="53035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1" name="Text 29"/>
          <p:cNvSpPr/>
          <p:nvPr/>
        </p:nvSpPr>
        <p:spPr>
          <a:xfrm>
            <a:off x="9395460" y="1874520"/>
            <a:ext cx="2423160" cy="566928"/>
          </a:xfrm>
          <a:prstGeom prst="rect">
            <a:avLst/>
          </a:prstGeom>
          <a:noFill/>
          <a:ln/>
        </p:spPr>
        <p:txBody>
          <a:bodyPr wrap="square" lIns="0" tIns="0" rIns="0" bIns="0" rtlCol="0" anchor="t"/>
          <a:lstStyle/>
          <a:p>
            <a:pPr algn="ctr" indent="0" marL="0">
              <a:lnSpc>
                <a:spcPts val="1600"/>
              </a:lnSpc>
              <a:buNone/>
            </a:pPr>
            <a:r>
              <a:rPr lang="en-US" sz="1300" b="1" dirty="0">
                <a:solidFill>
                  <a:srgbClr val="8DC03F"/>
                </a:solidFill>
                <a:latin typeface="Calibri" pitchFamily="34" charset="0"/>
                <a:ea typeface="Calibri" pitchFamily="34" charset="-122"/>
                <a:cs typeface="Calibri" pitchFamily="34" charset="-120"/>
              </a:rPr>
              <a:t>Calibración del evaluador</a:t>
            </a:r>
            <a:endParaRPr lang="en-US" sz="1300" dirty="0"/>
          </a:p>
        </p:txBody>
      </p:sp>
      <p:sp>
        <p:nvSpPr>
          <p:cNvPr id="32" name="Text 30"/>
          <p:cNvSpPr/>
          <p:nvPr/>
        </p:nvSpPr>
        <p:spPr>
          <a:xfrm>
            <a:off x="9395460" y="2468880"/>
            <a:ext cx="2423160" cy="256032"/>
          </a:xfrm>
          <a:prstGeom prst="rect">
            <a:avLst/>
          </a:prstGeom>
          <a:noFill/>
          <a:ln/>
        </p:spPr>
        <p:txBody>
          <a:bodyPr wrap="square" lIns="0" tIns="0" rIns="0" bIns="0" rtlCol="0" anchor="t"/>
          <a:lstStyle/>
          <a:p>
            <a:pPr algn="ctr" indent="0" marL="0">
              <a:buNone/>
            </a:pPr>
            <a:r>
              <a:rPr lang="en-US" sz="1000" i="1" dirty="0">
                <a:solidFill>
                  <a:srgbClr val="7F7F7F"/>
                </a:solidFill>
                <a:latin typeface="Calibri" pitchFamily="34" charset="0"/>
                <a:ea typeface="Calibri" pitchFamily="34" charset="-122"/>
                <a:cs typeface="Calibri" pitchFamily="34" charset="-120"/>
              </a:rPr>
              <a:t>Periódica</a:t>
            </a:r>
            <a:endParaRPr lang="en-US" sz="1000" dirty="0"/>
          </a:p>
        </p:txBody>
      </p:sp>
      <p:sp>
        <p:nvSpPr>
          <p:cNvPr id="33" name="Shape 31"/>
          <p:cNvSpPr/>
          <p:nvPr/>
        </p:nvSpPr>
        <p:spPr>
          <a:xfrm>
            <a:off x="10314432" y="2798064"/>
            <a:ext cx="585216" cy="14630"/>
          </a:xfrm>
          <a:prstGeom prst="rect">
            <a:avLst/>
          </a:prstGeom>
          <a:solidFill>
            <a:srgbClr val="DFE3E3"/>
          </a:solidFill>
          <a:ln/>
        </p:spPr>
      </p:sp>
      <p:sp>
        <p:nvSpPr>
          <p:cNvPr id="34" name="Text 32"/>
          <p:cNvSpPr/>
          <p:nvPr/>
        </p:nvSpPr>
        <p:spPr>
          <a:xfrm>
            <a:off x="9432036" y="2944368"/>
            <a:ext cx="2350008" cy="1371600"/>
          </a:xfrm>
          <a:prstGeom prst="rect">
            <a:avLst/>
          </a:prstGeom>
          <a:noFill/>
          <a:ln/>
        </p:spPr>
        <p:txBody>
          <a:bodyPr wrap="square" lIns="0" tIns="0" rIns="0" bIns="0" rtlCol="0" anchor="t"/>
          <a:lstStyle/>
          <a:p>
            <a:pPr indent="0" marL="0">
              <a:lnSpc>
                <a:spcPts val="1500"/>
              </a:lnSpc>
              <a:buNone/>
            </a:pPr>
            <a:r>
              <a:rPr lang="en-US" sz="1050" dirty="0">
                <a:solidFill>
                  <a:srgbClr val="5A5A5A"/>
                </a:solidFill>
                <a:latin typeface="Calibri" pitchFamily="34" charset="0"/>
                <a:ea typeface="Calibri" pitchFamily="34" charset="-122"/>
                <a:cs typeface="Calibri" pitchFamily="34" charset="-120"/>
              </a:rPr>
              <a:t>Se plantan defectos conocidos y se mide cuántos detecta. Un evaluador que no los detecta no evalúa: produce una métrica tranquilizadora.</a:t>
            </a:r>
            <a:endParaRPr lang="en-US" sz="1050" dirty="0"/>
          </a:p>
        </p:txBody>
      </p:sp>
      <p:sp>
        <p:nvSpPr>
          <p:cNvPr id="35" name="Shape 33"/>
          <p:cNvSpPr/>
          <p:nvPr/>
        </p:nvSpPr>
        <p:spPr>
          <a:xfrm>
            <a:off x="640080" y="4434840"/>
            <a:ext cx="10908792" cy="1828800"/>
          </a:xfrm>
          <a:prstGeom prst="roundRect">
            <a:avLst>
              <a:gd name="adj" fmla="val 3000"/>
            </a:avLst>
          </a:prstGeom>
          <a:solidFill>
            <a:srgbClr val="F4F6F7"/>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36" name="Text 34"/>
          <p:cNvSpPr/>
          <p:nvPr/>
        </p:nvSpPr>
        <p:spPr>
          <a:xfrm>
            <a:off x="960120" y="4645152"/>
            <a:ext cx="10241280" cy="274320"/>
          </a:xfrm>
          <a:prstGeom prst="rect">
            <a:avLst/>
          </a:prstGeom>
          <a:noFill/>
          <a:ln/>
        </p:spPr>
        <p:txBody>
          <a:bodyPr wrap="square" lIns="0" tIns="0" rIns="0" bIns="0" rtlCol="0" anchor="t"/>
          <a:lstStyle/>
          <a:p>
            <a:pPr indent="0" marL="0">
              <a:buNone/>
            </a:pPr>
            <a:r>
              <a:rPr lang="en-US" sz="1300" b="1" dirty="0">
                <a:solidFill>
                  <a:srgbClr val="3F3F3F"/>
                </a:solidFill>
                <a:latin typeface="Calibri" pitchFamily="34" charset="0"/>
                <a:ea typeface="Calibri" pitchFamily="34" charset="-122"/>
                <a:cs typeface="Calibri" pitchFamily="34" charset="-120"/>
              </a:rPr>
              <a:t>Criterios de aprobación · sin aprobación no hay producción</a:t>
            </a:r>
            <a:endParaRPr lang="en-US" sz="1300" dirty="0"/>
          </a:p>
        </p:txBody>
      </p:sp>
      <p:sp>
        <p:nvSpPr>
          <p:cNvPr id="37" name="Shape 35"/>
          <p:cNvSpPr/>
          <p:nvPr/>
        </p:nvSpPr>
        <p:spPr>
          <a:xfrm>
            <a:off x="960120" y="5074920"/>
            <a:ext cx="841248" cy="384048"/>
          </a:xfrm>
          <a:prstGeom prst="roundRect">
            <a:avLst>
              <a:gd name="adj" fmla="val 16667"/>
            </a:avLst>
          </a:prstGeom>
          <a:solidFill>
            <a:srgbClr val="C0453D"/>
          </a:solidFill>
          <a:ln/>
        </p:spPr>
      </p:sp>
      <p:sp>
        <p:nvSpPr>
          <p:cNvPr id="38" name="Text 36"/>
          <p:cNvSpPr/>
          <p:nvPr/>
        </p:nvSpPr>
        <p:spPr>
          <a:xfrm>
            <a:off x="960120" y="5074920"/>
            <a:ext cx="8412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a:t>
            </a:r>
            <a:endParaRPr lang="en-US" sz="1250" dirty="0"/>
          </a:p>
        </p:txBody>
      </p:sp>
      <p:sp>
        <p:nvSpPr>
          <p:cNvPr id="39" name="Text 37"/>
          <p:cNvSpPr/>
          <p:nvPr/>
        </p:nvSpPr>
        <p:spPr>
          <a:xfrm>
            <a:off x="1929384" y="5074920"/>
            <a:ext cx="2377440" cy="384048"/>
          </a:xfrm>
          <a:prstGeom prst="rect">
            <a:avLst/>
          </a:prstGeom>
          <a:noFill/>
          <a:ln/>
        </p:spPr>
        <p:txBody>
          <a:bodyPr wrap="square" lIns="0" tIns="0" rIns="0" bIns="0" rtlCol="0" anchor="ctr"/>
          <a:lstStyle/>
          <a:p>
            <a:pPr indent="0" marL="0">
              <a:buNone/>
            </a:pPr>
            <a:r>
              <a:rPr lang="en-US" sz="1150" dirty="0">
                <a:solidFill>
                  <a:srgbClr val="3F3F3F"/>
                </a:solidFill>
                <a:latin typeface="Calibri" pitchFamily="34" charset="0"/>
                <a:ea typeface="Calibri" pitchFamily="34" charset="-122"/>
                <a:cs typeface="Calibri" pitchFamily="34" charset="-120"/>
              </a:rPr>
              <a:t>consejos clínicos</a:t>
            </a:r>
            <a:endParaRPr lang="en-US" sz="1150" dirty="0"/>
          </a:p>
        </p:txBody>
      </p:sp>
      <p:sp>
        <p:nvSpPr>
          <p:cNvPr id="40" name="Shape 38"/>
          <p:cNvSpPr/>
          <p:nvPr/>
        </p:nvSpPr>
        <p:spPr>
          <a:xfrm>
            <a:off x="4480560" y="5074920"/>
            <a:ext cx="841248" cy="384048"/>
          </a:xfrm>
          <a:prstGeom prst="roundRect">
            <a:avLst>
              <a:gd name="adj" fmla="val 16667"/>
            </a:avLst>
          </a:prstGeom>
          <a:solidFill>
            <a:srgbClr val="C0453D"/>
          </a:solidFill>
          <a:ln/>
        </p:spPr>
      </p:sp>
      <p:sp>
        <p:nvSpPr>
          <p:cNvPr id="41" name="Text 39"/>
          <p:cNvSpPr/>
          <p:nvPr/>
        </p:nvSpPr>
        <p:spPr>
          <a:xfrm>
            <a:off x="4480560" y="5074920"/>
            <a:ext cx="8412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100 %</a:t>
            </a:r>
            <a:endParaRPr lang="en-US" sz="1250" dirty="0"/>
          </a:p>
        </p:txBody>
      </p:sp>
      <p:sp>
        <p:nvSpPr>
          <p:cNvPr id="42" name="Text 40"/>
          <p:cNvSpPr/>
          <p:nvPr/>
        </p:nvSpPr>
        <p:spPr>
          <a:xfrm>
            <a:off x="5449824" y="5074920"/>
            <a:ext cx="2377440" cy="384048"/>
          </a:xfrm>
          <a:prstGeom prst="rect">
            <a:avLst/>
          </a:prstGeom>
          <a:noFill/>
          <a:ln/>
        </p:spPr>
        <p:txBody>
          <a:bodyPr wrap="square" lIns="0" tIns="0" rIns="0" bIns="0" rtlCol="0" anchor="ctr"/>
          <a:lstStyle/>
          <a:p>
            <a:pPr indent="0" marL="0">
              <a:buNone/>
            </a:pPr>
            <a:r>
              <a:rPr lang="en-US" sz="1150" dirty="0">
                <a:solidFill>
                  <a:srgbClr val="3F3F3F"/>
                </a:solidFill>
                <a:latin typeface="Calibri" pitchFamily="34" charset="0"/>
                <a:ea typeface="Calibri" pitchFamily="34" charset="-122"/>
                <a:cs typeface="Calibri" pitchFamily="34" charset="-120"/>
              </a:rPr>
              <a:t>urgencias escaladas</a:t>
            </a:r>
            <a:endParaRPr lang="en-US" sz="1150" dirty="0"/>
          </a:p>
        </p:txBody>
      </p:sp>
      <p:sp>
        <p:nvSpPr>
          <p:cNvPr id="43" name="Shape 41"/>
          <p:cNvSpPr/>
          <p:nvPr/>
        </p:nvSpPr>
        <p:spPr>
          <a:xfrm>
            <a:off x="8001000" y="5074920"/>
            <a:ext cx="841248" cy="384048"/>
          </a:xfrm>
          <a:prstGeom prst="roundRect">
            <a:avLst>
              <a:gd name="adj" fmla="val 16667"/>
            </a:avLst>
          </a:prstGeom>
          <a:solidFill>
            <a:srgbClr val="C0453D"/>
          </a:solidFill>
          <a:ln/>
        </p:spPr>
      </p:sp>
      <p:sp>
        <p:nvSpPr>
          <p:cNvPr id="44" name="Text 42"/>
          <p:cNvSpPr/>
          <p:nvPr/>
        </p:nvSpPr>
        <p:spPr>
          <a:xfrm>
            <a:off x="8001000" y="5074920"/>
            <a:ext cx="8412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a:t>
            </a:r>
            <a:endParaRPr lang="en-US" sz="1250" dirty="0"/>
          </a:p>
        </p:txBody>
      </p:sp>
      <p:sp>
        <p:nvSpPr>
          <p:cNvPr id="45" name="Text 43"/>
          <p:cNvSpPr/>
          <p:nvPr/>
        </p:nvSpPr>
        <p:spPr>
          <a:xfrm>
            <a:off x="8970264" y="5074920"/>
            <a:ext cx="2377440" cy="384048"/>
          </a:xfrm>
          <a:prstGeom prst="rect">
            <a:avLst/>
          </a:prstGeom>
          <a:noFill/>
          <a:ln/>
        </p:spPr>
        <p:txBody>
          <a:bodyPr wrap="square" lIns="0" tIns="0" rIns="0" bIns="0" rtlCol="0" anchor="ctr"/>
          <a:lstStyle/>
          <a:p>
            <a:pPr indent="0" marL="0">
              <a:buNone/>
            </a:pPr>
            <a:r>
              <a:rPr lang="en-US" sz="1150" dirty="0">
                <a:solidFill>
                  <a:srgbClr val="3F3F3F"/>
                </a:solidFill>
                <a:latin typeface="Calibri" pitchFamily="34" charset="0"/>
                <a:ea typeface="Calibri" pitchFamily="34" charset="-122"/>
                <a:cs typeface="Calibri" pitchFamily="34" charset="-120"/>
              </a:rPr>
              <a:t>precios inventados</a:t>
            </a:r>
            <a:endParaRPr lang="en-US" sz="1150" dirty="0"/>
          </a:p>
        </p:txBody>
      </p:sp>
      <p:sp>
        <p:nvSpPr>
          <p:cNvPr id="46" name="Shape 44"/>
          <p:cNvSpPr/>
          <p:nvPr/>
        </p:nvSpPr>
        <p:spPr>
          <a:xfrm>
            <a:off x="960120" y="5641848"/>
            <a:ext cx="841248" cy="384048"/>
          </a:xfrm>
          <a:prstGeom prst="roundRect">
            <a:avLst>
              <a:gd name="adj" fmla="val 16667"/>
            </a:avLst>
          </a:prstGeom>
          <a:solidFill>
            <a:srgbClr val="C0453D"/>
          </a:solidFill>
          <a:ln/>
        </p:spPr>
      </p:sp>
      <p:sp>
        <p:nvSpPr>
          <p:cNvPr id="47" name="Text 45"/>
          <p:cNvSpPr/>
          <p:nvPr/>
        </p:nvSpPr>
        <p:spPr>
          <a:xfrm>
            <a:off x="960120" y="5641848"/>
            <a:ext cx="8412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100 %</a:t>
            </a:r>
            <a:endParaRPr lang="en-US" sz="1250" dirty="0"/>
          </a:p>
        </p:txBody>
      </p:sp>
      <p:sp>
        <p:nvSpPr>
          <p:cNvPr id="48" name="Text 46"/>
          <p:cNvSpPr/>
          <p:nvPr/>
        </p:nvSpPr>
        <p:spPr>
          <a:xfrm>
            <a:off x="1929384" y="5641848"/>
            <a:ext cx="2377440" cy="384048"/>
          </a:xfrm>
          <a:prstGeom prst="rect">
            <a:avLst/>
          </a:prstGeom>
          <a:noFill/>
          <a:ln/>
        </p:spPr>
        <p:txBody>
          <a:bodyPr wrap="square" lIns="0" tIns="0" rIns="0" bIns="0" rtlCol="0" anchor="ctr"/>
          <a:lstStyle/>
          <a:p>
            <a:pPr indent="0" marL="0">
              <a:buNone/>
            </a:pPr>
            <a:r>
              <a:rPr lang="en-US" sz="1150" dirty="0">
                <a:solidFill>
                  <a:srgbClr val="3F3F3F"/>
                </a:solidFill>
                <a:latin typeface="Calibri" pitchFamily="34" charset="0"/>
                <a:ea typeface="Calibri" pitchFamily="34" charset="-122"/>
                <a:cs typeface="Calibri" pitchFamily="34" charset="-120"/>
              </a:rPr>
              <a:t>revelación de IA</a:t>
            </a:r>
            <a:endParaRPr lang="en-US" sz="1150" dirty="0"/>
          </a:p>
        </p:txBody>
      </p:sp>
      <p:sp>
        <p:nvSpPr>
          <p:cNvPr id="49" name="Shape 47"/>
          <p:cNvSpPr/>
          <p:nvPr/>
        </p:nvSpPr>
        <p:spPr>
          <a:xfrm>
            <a:off x="4480560" y="5641848"/>
            <a:ext cx="841248" cy="384048"/>
          </a:xfrm>
          <a:prstGeom prst="roundRect">
            <a:avLst>
              <a:gd name="adj" fmla="val 16667"/>
            </a:avLst>
          </a:prstGeom>
          <a:solidFill>
            <a:srgbClr val="C0453D"/>
          </a:solidFill>
          <a:ln/>
        </p:spPr>
      </p:sp>
      <p:sp>
        <p:nvSpPr>
          <p:cNvPr id="50" name="Text 48"/>
          <p:cNvSpPr/>
          <p:nvPr/>
        </p:nvSpPr>
        <p:spPr>
          <a:xfrm>
            <a:off x="4480560" y="5641848"/>
            <a:ext cx="8412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a:t>
            </a:r>
            <a:endParaRPr lang="en-US" sz="1250" dirty="0"/>
          </a:p>
        </p:txBody>
      </p:sp>
      <p:sp>
        <p:nvSpPr>
          <p:cNvPr id="51" name="Text 49"/>
          <p:cNvSpPr/>
          <p:nvPr/>
        </p:nvSpPr>
        <p:spPr>
          <a:xfrm>
            <a:off x="5449824" y="5641848"/>
            <a:ext cx="2377440" cy="384048"/>
          </a:xfrm>
          <a:prstGeom prst="rect">
            <a:avLst/>
          </a:prstGeom>
          <a:noFill/>
          <a:ln/>
        </p:spPr>
        <p:txBody>
          <a:bodyPr wrap="square" lIns="0" tIns="0" rIns="0" bIns="0" rtlCol="0" anchor="ctr"/>
          <a:lstStyle/>
          <a:p>
            <a:pPr indent="0" marL="0">
              <a:buNone/>
            </a:pPr>
            <a:r>
              <a:rPr lang="en-US" sz="1150" dirty="0">
                <a:solidFill>
                  <a:srgbClr val="3F3F3F"/>
                </a:solidFill>
                <a:latin typeface="Calibri" pitchFamily="34" charset="0"/>
                <a:ea typeface="Calibri" pitchFamily="34" charset="-122"/>
                <a:cs typeface="Calibri" pitchFamily="34" charset="-120"/>
              </a:rPr>
              <a:t>inyecciones exitosas</a:t>
            </a:r>
            <a:endParaRPr lang="en-US" sz="1150" dirty="0"/>
          </a:p>
        </p:txBody>
      </p:sp>
      <p:sp>
        <p:nvSpPr>
          <p:cNvPr id="52" name="Shape 50"/>
          <p:cNvSpPr/>
          <p:nvPr/>
        </p:nvSpPr>
        <p:spPr>
          <a:xfrm>
            <a:off x="8001000" y="5641848"/>
            <a:ext cx="841248" cy="384048"/>
          </a:xfrm>
          <a:prstGeom prst="roundRect">
            <a:avLst>
              <a:gd name="adj" fmla="val 16667"/>
            </a:avLst>
          </a:prstGeom>
          <a:solidFill>
            <a:srgbClr val="8DC03F"/>
          </a:solidFill>
          <a:ln/>
        </p:spPr>
      </p:sp>
      <p:sp>
        <p:nvSpPr>
          <p:cNvPr id="53" name="Text 51"/>
          <p:cNvSpPr/>
          <p:nvPr/>
        </p:nvSpPr>
        <p:spPr>
          <a:xfrm>
            <a:off x="8001000" y="5641848"/>
            <a:ext cx="8412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 95 %</a:t>
            </a:r>
            <a:endParaRPr lang="en-US" sz="1250" dirty="0"/>
          </a:p>
        </p:txBody>
      </p:sp>
      <p:sp>
        <p:nvSpPr>
          <p:cNvPr id="54" name="Text 52"/>
          <p:cNvSpPr/>
          <p:nvPr/>
        </p:nvSpPr>
        <p:spPr>
          <a:xfrm>
            <a:off x="8970264" y="5641848"/>
            <a:ext cx="2377440" cy="384048"/>
          </a:xfrm>
          <a:prstGeom prst="rect">
            <a:avLst/>
          </a:prstGeom>
          <a:noFill/>
          <a:ln/>
        </p:spPr>
        <p:txBody>
          <a:bodyPr wrap="square" lIns="0" tIns="0" rIns="0" bIns="0" rtlCol="0" anchor="ctr"/>
          <a:lstStyle/>
          <a:p>
            <a:pPr indent="0" marL="0">
              <a:buNone/>
            </a:pPr>
            <a:r>
              <a:rPr lang="en-US" sz="1150" dirty="0">
                <a:solidFill>
                  <a:srgbClr val="3F3F3F"/>
                </a:solidFill>
                <a:latin typeface="Calibri" pitchFamily="34" charset="0"/>
                <a:ea typeface="Calibri" pitchFamily="34" charset="-122"/>
                <a:cs typeface="Calibri" pitchFamily="34" charset="-120"/>
              </a:rPr>
              <a:t>respuestas correctas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74320"/>
            <a:ext cx="11091672" cy="502920"/>
          </a:xfrm>
          <a:prstGeom prst="rect">
            <a:avLst/>
          </a:prstGeom>
          <a:noFill/>
          <a:ln/>
        </p:spPr>
        <p:txBody>
          <a:bodyPr wrap="square" lIns="0" tIns="0" rIns="0" bIns="0" rtlCol="0" anchor="ctr"/>
          <a:lstStyle/>
          <a:p>
            <a:pPr algn="ctr" indent="0" marL="0">
              <a:buNone/>
            </a:pPr>
            <a:r>
              <a:rPr lang="en-US" sz="2700" b="1" dirty="0">
                <a:solidFill>
                  <a:srgbClr val="3F3F3F"/>
                </a:solidFill>
                <a:latin typeface="Calibri" pitchFamily="34" charset="0"/>
                <a:ea typeface="Calibri" pitchFamily="34" charset="-122"/>
                <a:cs typeface="Calibri" pitchFamily="34" charset="-120"/>
              </a:rPr>
              <a:t>Postura ética y conclusiones</a:t>
            </a:r>
            <a:endParaRPr lang="en-US" sz="2700" dirty="0"/>
          </a:p>
        </p:txBody>
      </p:sp>
      <p:sp>
        <p:nvSpPr>
          <p:cNvPr id="3" name="Shape 1"/>
          <p:cNvSpPr/>
          <p:nvPr/>
        </p:nvSpPr>
        <p:spPr>
          <a:xfrm>
            <a:off x="5591556" y="859536"/>
            <a:ext cx="1005840" cy="20117"/>
          </a:xfrm>
          <a:prstGeom prst="rect">
            <a:avLst/>
          </a:prstGeom>
          <a:solidFill>
            <a:srgbClr val="C9C9C9"/>
          </a:solidFill>
          <a:ln/>
        </p:spPr>
      </p:sp>
      <p:sp>
        <p:nvSpPr>
          <p:cNvPr id="4" name="Shape 2"/>
          <p:cNvSpPr/>
          <p:nvPr/>
        </p:nvSpPr>
        <p:spPr>
          <a:xfrm>
            <a:off x="640080" y="1143000"/>
            <a:ext cx="5806440" cy="4023360"/>
          </a:xfrm>
          <a:prstGeom prst="roundRect">
            <a:avLst>
              <a:gd name="adj" fmla="val 1364"/>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5" name="Text 3"/>
          <p:cNvSpPr/>
          <p:nvPr/>
        </p:nvSpPr>
        <p:spPr>
          <a:xfrm>
            <a:off x="932688" y="1371600"/>
            <a:ext cx="5212080" cy="256032"/>
          </a:xfrm>
          <a:prstGeom prst="rect">
            <a:avLst/>
          </a:prstGeom>
          <a:noFill/>
          <a:ln/>
        </p:spPr>
        <p:txBody>
          <a:bodyPr wrap="square" lIns="0" tIns="0" rIns="0" bIns="0" rtlCol="0" anchor="t"/>
          <a:lstStyle/>
          <a:p>
            <a:pPr indent="0" marL="0">
              <a:buNone/>
            </a:pPr>
            <a:r>
              <a:rPr lang="en-US" sz="1050" b="1" spc="150" kern="0" dirty="0">
                <a:solidFill>
                  <a:srgbClr val="C0453D"/>
                </a:solidFill>
                <a:latin typeface="Calibri" pitchFamily="34" charset="0"/>
                <a:ea typeface="Calibri" pitchFamily="34" charset="-122"/>
                <a:cs typeface="Calibri" pitchFamily="34" charset="-120"/>
              </a:rPr>
              <a:t>CINCO LÍNEAS ROJAS AUTOIMPUESTAS</a:t>
            </a:r>
            <a:endParaRPr lang="en-US" sz="1050" dirty="0"/>
          </a:p>
        </p:txBody>
      </p:sp>
      <p:sp>
        <p:nvSpPr>
          <p:cNvPr id="6" name="Text 4"/>
          <p:cNvSpPr/>
          <p:nvPr/>
        </p:nvSpPr>
        <p:spPr>
          <a:xfrm>
            <a:off x="932688" y="1664208"/>
            <a:ext cx="5212080" cy="274320"/>
          </a:xfrm>
          <a:prstGeom prst="rect">
            <a:avLst/>
          </a:prstGeom>
          <a:noFill/>
          <a:ln/>
        </p:spPr>
        <p:txBody>
          <a:bodyPr wrap="square" lIns="0" tIns="0" rIns="0" bIns="0" rtlCol="0" anchor="t"/>
          <a:lstStyle/>
          <a:p>
            <a:pPr indent="0" marL="0">
              <a:buNone/>
            </a:pPr>
            <a:r>
              <a:rPr lang="en-US" sz="1050" i="1" dirty="0">
                <a:solidFill>
                  <a:srgbClr val="7F7F7F"/>
                </a:solidFill>
                <a:latin typeface="Calibri" pitchFamily="34" charset="0"/>
                <a:ea typeface="Calibri" pitchFamily="34" charset="-122"/>
                <a:cs typeface="Calibri" pitchFamily="34" charset="-120"/>
              </a:rPr>
              <a:t>No se negocian con ningún cliente, aunque incumplirlas fuera comercialmente ventajoso.</a:t>
            </a:r>
            <a:endParaRPr lang="en-US" sz="1050" dirty="0"/>
          </a:p>
        </p:txBody>
      </p:sp>
      <p:sp>
        <p:nvSpPr>
          <p:cNvPr id="7" name="Shape 5"/>
          <p:cNvSpPr/>
          <p:nvPr/>
        </p:nvSpPr>
        <p:spPr>
          <a:xfrm>
            <a:off x="932688" y="2130552"/>
            <a:ext cx="329184" cy="329184"/>
          </a:xfrm>
          <a:prstGeom prst="ellipse">
            <a:avLst/>
          </a:prstGeom>
          <a:solidFill>
            <a:srgbClr val="C0453D"/>
          </a:solidFill>
          <a:ln w="12700">
            <a:solidFill>
              <a:srgbClr val="C0453D"/>
            </a:solidFill>
            <a:prstDash val="solid"/>
          </a:ln>
        </p:spPr>
      </p:sp>
      <p:sp>
        <p:nvSpPr>
          <p:cNvPr id="8" name="Text 6"/>
          <p:cNvSpPr/>
          <p:nvPr/>
        </p:nvSpPr>
        <p:spPr>
          <a:xfrm>
            <a:off x="932688" y="21305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371600" y="2103120"/>
            <a:ext cx="4800600" cy="548640"/>
          </a:xfrm>
          <a:prstGeom prst="rect">
            <a:avLst/>
          </a:prstGeom>
          <a:noFill/>
          <a:ln/>
        </p:spPr>
        <p:txBody>
          <a:bodyPr wrap="square" lIns="0" tIns="0" rIns="0" bIns="0" rtlCol="0" anchor="t"/>
          <a:lstStyle/>
          <a:p>
            <a:pPr indent="0" marL="0">
              <a:lnSpc>
                <a:spcPts val="1600"/>
              </a:lnSpc>
              <a:buNone/>
            </a:pPr>
            <a:r>
              <a:rPr lang="en-US" sz="1150" dirty="0">
                <a:solidFill>
                  <a:srgbClr val="5A5A5A"/>
                </a:solidFill>
                <a:latin typeface="Calibri" pitchFamily="34" charset="0"/>
                <a:ea typeface="Calibri" pitchFamily="34" charset="-122"/>
                <a:cs typeface="Calibri" pitchFamily="34" charset="-120"/>
              </a:rPr>
              <a:t>No diagnostica, no orienta tratamientos ni interpreta síntomas.</a:t>
            </a:r>
            <a:endParaRPr lang="en-US" sz="1150" dirty="0"/>
          </a:p>
        </p:txBody>
      </p:sp>
      <p:sp>
        <p:nvSpPr>
          <p:cNvPr id="10" name="Shape 8"/>
          <p:cNvSpPr/>
          <p:nvPr/>
        </p:nvSpPr>
        <p:spPr>
          <a:xfrm>
            <a:off x="932688" y="2734056"/>
            <a:ext cx="329184" cy="329184"/>
          </a:xfrm>
          <a:prstGeom prst="ellipse">
            <a:avLst/>
          </a:prstGeom>
          <a:solidFill>
            <a:srgbClr val="EFA733"/>
          </a:solidFill>
          <a:ln w="12700">
            <a:solidFill>
              <a:srgbClr val="EFA733"/>
            </a:solidFill>
            <a:prstDash val="solid"/>
          </a:ln>
        </p:spPr>
      </p:sp>
      <p:sp>
        <p:nvSpPr>
          <p:cNvPr id="11" name="Text 9"/>
          <p:cNvSpPr/>
          <p:nvPr/>
        </p:nvSpPr>
        <p:spPr>
          <a:xfrm>
            <a:off x="932688" y="273405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371600" y="2706624"/>
            <a:ext cx="4800600" cy="548640"/>
          </a:xfrm>
          <a:prstGeom prst="rect">
            <a:avLst/>
          </a:prstGeom>
          <a:noFill/>
          <a:ln/>
        </p:spPr>
        <p:txBody>
          <a:bodyPr wrap="square" lIns="0" tIns="0" rIns="0" bIns="0" rtlCol="0" anchor="t"/>
          <a:lstStyle/>
          <a:p>
            <a:pPr indent="0" marL="0">
              <a:lnSpc>
                <a:spcPts val="1600"/>
              </a:lnSpc>
              <a:buNone/>
            </a:pPr>
            <a:r>
              <a:rPr lang="en-US" sz="1150" dirty="0">
                <a:solidFill>
                  <a:srgbClr val="5A5A5A"/>
                </a:solidFill>
                <a:latin typeface="Calibri" pitchFamily="34" charset="0"/>
                <a:ea typeface="Calibri" pitchFamily="34" charset="-122"/>
                <a:cs typeface="Calibri" pitchFamily="34" charset="-120"/>
              </a:rPr>
              <a:t>No oculta que es una IA. La revelación no es configurable por el cliente.</a:t>
            </a:r>
            <a:endParaRPr lang="en-US" sz="1150" dirty="0"/>
          </a:p>
        </p:txBody>
      </p:sp>
      <p:sp>
        <p:nvSpPr>
          <p:cNvPr id="13" name="Shape 11"/>
          <p:cNvSpPr/>
          <p:nvPr/>
        </p:nvSpPr>
        <p:spPr>
          <a:xfrm>
            <a:off x="932688" y="3337560"/>
            <a:ext cx="329184" cy="329184"/>
          </a:xfrm>
          <a:prstGeom prst="ellipse">
            <a:avLst/>
          </a:prstGeom>
          <a:solidFill>
            <a:srgbClr val="17A398"/>
          </a:solidFill>
          <a:ln w="12700">
            <a:solidFill>
              <a:srgbClr val="17A398"/>
            </a:solidFill>
            <a:prstDash val="solid"/>
          </a:ln>
        </p:spPr>
      </p:sp>
      <p:sp>
        <p:nvSpPr>
          <p:cNvPr id="14" name="Text 12"/>
          <p:cNvSpPr/>
          <p:nvPr/>
        </p:nvSpPr>
        <p:spPr>
          <a:xfrm>
            <a:off x="932688" y="3337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1371600" y="3310128"/>
            <a:ext cx="4800600" cy="548640"/>
          </a:xfrm>
          <a:prstGeom prst="rect">
            <a:avLst/>
          </a:prstGeom>
          <a:noFill/>
          <a:ln/>
        </p:spPr>
        <p:txBody>
          <a:bodyPr wrap="square" lIns="0" tIns="0" rIns="0" bIns="0" rtlCol="0" anchor="t"/>
          <a:lstStyle/>
          <a:p>
            <a:pPr indent="0" marL="0">
              <a:lnSpc>
                <a:spcPts val="1600"/>
              </a:lnSpc>
              <a:buNone/>
            </a:pPr>
            <a:r>
              <a:rPr lang="en-US" sz="1150" dirty="0">
                <a:solidFill>
                  <a:srgbClr val="5A5A5A"/>
                </a:solidFill>
                <a:latin typeface="Calibri" pitchFamily="34" charset="0"/>
                <a:ea typeface="Calibri" pitchFamily="34" charset="-122"/>
                <a:cs typeface="Calibri" pitchFamily="34" charset="-120"/>
              </a:rPr>
              <a:t>No clona la voz de una persona identificable.</a:t>
            </a:r>
            <a:endParaRPr lang="en-US" sz="1150" dirty="0"/>
          </a:p>
        </p:txBody>
      </p:sp>
      <p:sp>
        <p:nvSpPr>
          <p:cNvPr id="16" name="Shape 14"/>
          <p:cNvSpPr/>
          <p:nvPr/>
        </p:nvSpPr>
        <p:spPr>
          <a:xfrm>
            <a:off x="932688" y="3941064"/>
            <a:ext cx="329184" cy="329184"/>
          </a:xfrm>
          <a:prstGeom prst="ellipse">
            <a:avLst/>
          </a:prstGeom>
          <a:solidFill>
            <a:srgbClr val="8DC03F"/>
          </a:solidFill>
          <a:ln w="12700">
            <a:solidFill>
              <a:srgbClr val="8DC03F"/>
            </a:solidFill>
            <a:prstDash val="solid"/>
          </a:ln>
        </p:spPr>
      </p:sp>
      <p:sp>
        <p:nvSpPr>
          <p:cNvPr id="17" name="Text 15"/>
          <p:cNvSpPr/>
          <p:nvPr/>
        </p:nvSpPr>
        <p:spPr>
          <a:xfrm>
            <a:off x="932688" y="3941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p:nvPr/>
        </p:nvSpPr>
        <p:spPr>
          <a:xfrm>
            <a:off x="1371600" y="3913632"/>
            <a:ext cx="4800600" cy="548640"/>
          </a:xfrm>
          <a:prstGeom prst="rect">
            <a:avLst/>
          </a:prstGeom>
          <a:noFill/>
          <a:ln/>
        </p:spPr>
        <p:txBody>
          <a:bodyPr wrap="square" lIns="0" tIns="0" rIns="0" bIns="0" rtlCol="0" anchor="t"/>
          <a:lstStyle/>
          <a:p>
            <a:pPr indent="0" marL="0">
              <a:lnSpc>
                <a:spcPts val="1600"/>
              </a:lnSpc>
              <a:buNone/>
            </a:pPr>
            <a:r>
              <a:rPr lang="en-US" sz="1150" dirty="0">
                <a:solidFill>
                  <a:srgbClr val="5A5A5A"/>
                </a:solidFill>
                <a:latin typeface="Calibri" pitchFamily="34" charset="0"/>
                <a:ea typeface="Calibri" pitchFamily="34" charset="-122"/>
                <a:cs typeface="Calibri" pitchFamily="34" charset="-120"/>
              </a:rPr>
              <a:t>Ninguna urgencia médica se gestiona automáticamente.</a:t>
            </a:r>
            <a:endParaRPr lang="en-US" sz="1150" dirty="0"/>
          </a:p>
        </p:txBody>
      </p:sp>
      <p:sp>
        <p:nvSpPr>
          <p:cNvPr id="19" name="Shape 17"/>
          <p:cNvSpPr/>
          <p:nvPr/>
        </p:nvSpPr>
        <p:spPr>
          <a:xfrm>
            <a:off x="932688" y="4544568"/>
            <a:ext cx="329184" cy="329184"/>
          </a:xfrm>
          <a:prstGeom prst="ellipse">
            <a:avLst/>
          </a:prstGeom>
          <a:solidFill>
            <a:srgbClr val="7F7F7F"/>
          </a:solidFill>
          <a:ln w="12700">
            <a:solidFill>
              <a:srgbClr val="7F7F7F"/>
            </a:solidFill>
            <a:prstDash val="solid"/>
          </a:ln>
        </p:spPr>
      </p:sp>
      <p:sp>
        <p:nvSpPr>
          <p:cNvPr id="20" name="Text 18"/>
          <p:cNvSpPr/>
          <p:nvPr/>
        </p:nvSpPr>
        <p:spPr>
          <a:xfrm>
            <a:off x="932688" y="45445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1" name="Text 19"/>
          <p:cNvSpPr/>
          <p:nvPr/>
        </p:nvSpPr>
        <p:spPr>
          <a:xfrm>
            <a:off x="1371600" y="4517136"/>
            <a:ext cx="4800600" cy="548640"/>
          </a:xfrm>
          <a:prstGeom prst="rect">
            <a:avLst/>
          </a:prstGeom>
          <a:noFill/>
          <a:ln/>
        </p:spPr>
        <p:txBody>
          <a:bodyPr wrap="square" lIns="0" tIns="0" rIns="0" bIns="0" rtlCol="0" anchor="t"/>
          <a:lstStyle/>
          <a:p>
            <a:pPr indent="0" marL="0">
              <a:lnSpc>
                <a:spcPts val="1600"/>
              </a:lnSpc>
              <a:buNone/>
            </a:pPr>
            <a:r>
              <a:rPr lang="en-US" sz="1150" dirty="0">
                <a:solidFill>
                  <a:srgbClr val="5A5A5A"/>
                </a:solidFill>
                <a:latin typeface="Calibri" pitchFamily="34" charset="0"/>
                <a:ea typeface="Calibri" pitchFamily="34" charset="-122"/>
                <a:cs typeface="Calibri" pitchFamily="34" charset="-120"/>
              </a:rPr>
              <a:t>Ninguna base con contenido clínico entra en producción sin aprobación escrita.</a:t>
            </a:r>
            <a:endParaRPr lang="en-US" sz="1150" dirty="0"/>
          </a:p>
        </p:txBody>
      </p:sp>
      <p:sp>
        <p:nvSpPr>
          <p:cNvPr id="22" name="Shape 20"/>
          <p:cNvSpPr/>
          <p:nvPr/>
        </p:nvSpPr>
        <p:spPr>
          <a:xfrm>
            <a:off x="6720840" y="1143000"/>
            <a:ext cx="4828032" cy="1234440"/>
          </a:xfrm>
          <a:prstGeom prst="roundRect">
            <a:avLst>
              <a:gd name="adj" fmla="val 4444"/>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3" name="Shape 21"/>
          <p:cNvSpPr/>
          <p:nvPr/>
        </p:nvSpPr>
        <p:spPr>
          <a:xfrm>
            <a:off x="6967728" y="1362456"/>
            <a:ext cx="274320" cy="274320"/>
          </a:xfrm>
          <a:prstGeom prst="roundRect">
            <a:avLst>
              <a:gd name="adj" fmla="val 30000"/>
            </a:avLst>
          </a:prstGeom>
          <a:solidFill>
            <a:srgbClr val="17A398"/>
          </a:solidFill>
          <a:ln/>
        </p:spPr>
      </p:sp>
      <p:sp>
        <p:nvSpPr>
          <p:cNvPr id="24" name="Text 22"/>
          <p:cNvSpPr/>
          <p:nvPr/>
        </p:nvSpPr>
        <p:spPr>
          <a:xfrm>
            <a:off x="7360920" y="1344168"/>
            <a:ext cx="3931920" cy="292608"/>
          </a:xfrm>
          <a:prstGeom prst="rect">
            <a:avLst/>
          </a:prstGeom>
          <a:noFill/>
          <a:ln/>
        </p:spPr>
        <p:txBody>
          <a:bodyPr wrap="square" lIns="0" tIns="0" rIns="0" bIns="0" rtlCol="0" anchor="t"/>
          <a:lstStyle/>
          <a:p>
            <a:pPr indent="0" marL="0">
              <a:buNone/>
            </a:pPr>
            <a:r>
              <a:rPr lang="en-US" sz="1250" b="1" dirty="0">
                <a:solidFill>
                  <a:srgbClr val="17A398"/>
                </a:solidFill>
                <a:latin typeface="Calibri" pitchFamily="34" charset="0"/>
                <a:ea typeface="Calibri" pitchFamily="34" charset="-122"/>
                <a:cs typeface="Calibri" pitchFamily="34" charset="-120"/>
              </a:rPr>
              <a:t>El canal es un atributo del mensaje</a:t>
            </a:r>
            <a:endParaRPr lang="en-US" sz="1250" dirty="0"/>
          </a:p>
        </p:txBody>
      </p:sp>
      <p:sp>
        <p:nvSpPr>
          <p:cNvPr id="25" name="Text 23"/>
          <p:cNvSpPr/>
          <p:nvPr/>
        </p:nvSpPr>
        <p:spPr>
          <a:xfrm>
            <a:off x="6967728" y="1709928"/>
            <a:ext cx="4343400" cy="594360"/>
          </a:xfrm>
          <a:prstGeom prst="rect">
            <a:avLst/>
          </a:prstGeom>
          <a:noFill/>
          <a:ln/>
        </p:spPr>
        <p:txBody>
          <a:bodyPr wrap="square" lIns="0" tIns="0" rIns="0" bIns="0" rtlCol="0" anchor="t"/>
          <a:lstStyle/>
          <a:p>
            <a:pPr indent="0" marL="0">
              <a:lnSpc>
                <a:spcPts val="1400"/>
              </a:lnSpc>
              <a:buNone/>
            </a:pPr>
            <a:r>
              <a:rPr lang="en-US" sz="1050" dirty="0">
                <a:solidFill>
                  <a:srgbClr val="5A5A5A"/>
                </a:solidFill>
                <a:latin typeface="Calibri" pitchFamily="34" charset="0"/>
                <a:ea typeface="Calibri" pitchFamily="34" charset="-122"/>
                <a:cs typeface="Calibri" pitchFamily="34" charset="-120"/>
              </a:rPr>
              <a:t>La arquitectura de núcleo único se adoptó por ingeniería y resultó ser la decisión de mayor valor ético: ningún canal puede tener menos controles que otro.</a:t>
            </a:r>
            <a:endParaRPr lang="en-US" sz="1050" dirty="0"/>
          </a:p>
        </p:txBody>
      </p:sp>
      <p:sp>
        <p:nvSpPr>
          <p:cNvPr id="26" name="Shape 24"/>
          <p:cNvSpPr/>
          <p:nvPr/>
        </p:nvSpPr>
        <p:spPr>
          <a:xfrm>
            <a:off x="6720840" y="2514600"/>
            <a:ext cx="4828032" cy="1234440"/>
          </a:xfrm>
          <a:prstGeom prst="roundRect">
            <a:avLst>
              <a:gd name="adj" fmla="val 4444"/>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27" name="Shape 25"/>
          <p:cNvSpPr/>
          <p:nvPr/>
        </p:nvSpPr>
        <p:spPr>
          <a:xfrm>
            <a:off x="6967728" y="2734056"/>
            <a:ext cx="274320" cy="274320"/>
          </a:xfrm>
          <a:prstGeom prst="roundRect">
            <a:avLst>
              <a:gd name="adj" fmla="val 30000"/>
            </a:avLst>
          </a:prstGeom>
          <a:solidFill>
            <a:srgbClr val="EFA733"/>
          </a:solidFill>
          <a:ln/>
        </p:spPr>
      </p:sp>
      <p:sp>
        <p:nvSpPr>
          <p:cNvPr id="28" name="Text 26"/>
          <p:cNvSpPr/>
          <p:nvPr/>
        </p:nvSpPr>
        <p:spPr>
          <a:xfrm>
            <a:off x="7360920" y="2715768"/>
            <a:ext cx="3931920" cy="292608"/>
          </a:xfrm>
          <a:prstGeom prst="rect">
            <a:avLst/>
          </a:prstGeom>
          <a:noFill/>
          <a:ln/>
        </p:spPr>
        <p:txBody>
          <a:bodyPr wrap="square" lIns="0" tIns="0" rIns="0" bIns="0" rtlCol="0" anchor="t"/>
          <a:lstStyle/>
          <a:p>
            <a:pPr indent="0" marL="0">
              <a:buNone/>
            </a:pPr>
            <a:r>
              <a:rPr lang="en-US" sz="1250" b="1" dirty="0">
                <a:solidFill>
                  <a:srgbClr val="EFA733"/>
                </a:solidFill>
                <a:latin typeface="Calibri" pitchFamily="34" charset="0"/>
                <a:ea typeface="Calibri" pitchFamily="34" charset="-122"/>
                <a:cs typeface="Calibri" pitchFamily="34" charset="-120"/>
              </a:rPr>
              <a:t>Custom LLM protege datos</a:t>
            </a:r>
            <a:endParaRPr lang="en-US" sz="1250" dirty="0"/>
          </a:p>
        </p:txBody>
      </p:sp>
      <p:sp>
        <p:nvSpPr>
          <p:cNvPr id="29" name="Text 27"/>
          <p:cNvSpPr/>
          <p:nvPr/>
        </p:nvSpPr>
        <p:spPr>
          <a:xfrm>
            <a:off x="6967728" y="3081528"/>
            <a:ext cx="4343400" cy="594360"/>
          </a:xfrm>
          <a:prstGeom prst="rect">
            <a:avLst/>
          </a:prstGeom>
          <a:noFill/>
          <a:ln/>
        </p:spPr>
        <p:txBody>
          <a:bodyPr wrap="square" lIns="0" tIns="0" rIns="0" bIns="0" rtlCol="0" anchor="t"/>
          <a:lstStyle/>
          <a:p>
            <a:pPr indent="0" marL="0">
              <a:lnSpc>
                <a:spcPts val="1400"/>
              </a:lnSpc>
              <a:buNone/>
            </a:pPr>
            <a:r>
              <a:rPr lang="en-US" sz="1050" dirty="0">
                <a:solidFill>
                  <a:srgbClr val="5A5A5A"/>
                </a:solidFill>
                <a:latin typeface="Calibri" pitchFamily="34" charset="0"/>
                <a:ea typeface="Calibri" pitchFamily="34" charset="-122"/>
                <a:cs typeface="Calibri" pitchFamily="34" charset="-120"/>
              </a:rPr>
              <a:t>Mantener a Claude como cerebro evita incorporar proveedores adicionales de modelos al flujo de conversaciones con información de salud.</a:t>
            </a:r>
            <a:endParaRPr lang="en-US" sz="1050" dirty="0"/>
          </a:p>
        </p:txBody>
      </p:sp>
      <p:sp>
        <p:nvSpPr>
          <p:cNvPr id="30" name="Shape 28"/>
          <p:cNvSpPr/>
          <p:nvPr/>
        </p:nvSpPr>
        <p:spPr>
          <a:xfrm>
            <a:off x="6720840" y="3886200"/>
            <a:ext cx="4828032" cy="1234440"/>
          </a:xfrm>
          <a:prstGeom prst="roundRect">
            <a:avLst>
              <a:gd name="adj" fmla="val 4444"/>
            </a:avLst>
          </a:prstGeom>
          <a:solidFill>
            <a:srgbClr val="FFFFFF"/>
          </a:solidFill>
          <a:ln w="12700">
            <a:solidFill>
              <a:srgbClr val="E2E6E6"/>
            </a:solidFill>
            <a:prstDash val="solid"/>
          </a:ln>
          <a:effectLst>
            <a:outerShdw sx="100000" sy="100000" kx="0" ky="0" algn="bl" rotWithShape="0" blurRad="76200" dist="12700" dir="5400000">
              <a:srgbClr val="9AA0A0">
                <a:alpha val="25000"/>
              </a:srgbClr>
            </a:outerShdw>
          </a:effectLst>
        </p:spPr>
      </p:sp>
      <p:sp>
        <p:nvSpPr>
          <p:cNvPr id="31" name="Shape 29"/>
          <p:cNvSpPr/>
          <p:nvPr/>
        </p:nvSpPr>
        <p:spPr>
          <a:xfrm>
            <a:off x="6967728" y="4105656"/>
            <a:ext cx="274320" cy="274320"/>
          </a:xfrm>
          <a:prstGeom prst="roundRect">
            <a:avLst>
              <a:gd name="adj" fmla="val 30000"/>
            </a:avLst>
          </a:prstGeom>
          <a:solidFill>
            <a:srgbClr val="8DC03F"/>
          </a:solidFill>
          <a:ln/>
        </p:spPr>
      </p:sp>
      <p:sp>
        <p:nvSpPr>
          <p:cNvPr id="32" name="Text 30"/>
          <p:cNvSpPr/>
          <p:nvPr/>
        </p:nvSpPr>
        <p:spPr>
          <a:xfrm>
            <a:off x="7360920" y="4087368"/>
            <a:ext cx="3931920" cy="292608"/>
          </a:xfrm>
          <a:prstGeom prst="rect">
            <a:avLst/>
          </a:prstGeom>
          <a:noFill/>
          <a:ln/>
        </p:spPr>
        <p:txBody>
          <a:bodyPr wrap="square" lIns="0" tIns="0" rIns="0" bIns="0" rtlCol="0" anchor="t"/>
          <a:lstStyle/>
          <a:p>
            <a:pPr indent="0" marL="0">
              <a:buNone/>
            </a:pPr>
            <a:r>
              <a:rPr lang="en-US" sz="1250" b="1" dirty="0">
                <a:solidFill>
                  <a:srgbClr val="8DC03F"/>
                </a:solidFill>
                <a:latin typeface="Calibri" pitchFamily="34" charset="0"/>
                <a:ea typeface="Calibri" pitchFamily="34" charset="-122"/>
                <a:cs typeface="Calibri" pitchFamily="34" charset="-120"/>
              </a:rPr>
              <a:t>El proyecto nace bajo el marco nuevo</a:t>
            </a:r>
            <a:endParaRPr lang="en-US" sz="1250" dirty="0"/>
          </a:p>
        </p:txBody>
      </p:sp>
      <p:sp>
        <p:nvSpPr>
          <p:cNvPr id="33" name="Text 31"/>
          <p:cNvSpPr/>
          <p:nvPr/>
        </p:nvSpPr>
        <p:spPr>
          <a:xfrm>
            <a:off x="6967728" y="4453128"/>
            <a:ext cx="4343400" cy="594360"/>
          </a:xfrm>
          <a:prstGeom prst="rect">
            <a:avLst/>
          </a:prstGeom>
          <a:noFill/>
          <a:ln/>
        </p:spPr>
        <p:txBody>
          <a:bodyPr wrap="square" lIns="0" tIns="0" rIns="0" bIns="0" rtlCol="0" anchor="t"/>
          <a:lstStyle/>
          <a:p>
            <a:pPr indent="0" marL="0">
              <a:lnSpc>
                <a:spcPts val="1400"/>
              </a:lnSpc>
              <a:buNone/>
            </a:pPr>
            <a:r>
              <a:rPr lang="en-US" sz="1050" dirty="0">
                <a:solidFill>
                  <a:srgbClr val="5A5A5A"/>
                </a:solidFill>
                <a:latin typeface="Calibri" pitchFamily="34" charset="0"/>
                <a:ea typeface="Calibri" pitchFamily="34" charset="-122"/>
                <a:cs typeface="Calibri" pitchFamily="34" charset="-120"/>
              </a:rPr>
              <a:t>Los reglamentos de datos y de IA entraron en vigencia justo antes: no hay operación previa que adecuar. Es una ventaja.</a:t>
            </a:r>
            <a:endParaRPr lang="en-US" sz="1050" dirty="0"/>
          </a:p>
        </p:txBody>
      </p:sp>
      <p:sp>
        <p:nvSpPr>
          <p:cNvPr id="34" name="Shape 32"/>
          <p:cNvSpPr/>
          <p:nvPr/>
        </p:nvSpPr>
        <p:spPr>
          <a:xfrm>
            <a:off x="640080" y="5394960"/>
            <a:ext cx="10908792" cy="1005840"/>
          </a:xfrm>
          <a:prstGeom prst="roundRect">
            <a:avLst>
              <a:gd name="adj" fmla="val 9091"/>
            </a:avLst>
          </a:prstGeom>
          <a:solidFill>
            <a:srgbClr val="3F3F3F"/>
          </a:solidFill>
          <a:ln/>
        </p:spPr>
      </p:sp>
      <p:sp>
        <p:nvSpPr>
          <p:cNvPr id="35" name="Text 33"/>
          <p:cNvSpPr/>
          <p:nvPr/>
        </p:nvSpPr>
        <p:spPr>
          <a:xfrm>
            <a:off x="640080" y="5504688"/>
            <a:ext cx="10908792" cy="411480"/>
          </a:xfrm>
          <a:prstGeom prst="rect">
            <a:avLst/>
          </a:prstGeom>
          <a:noFill/>
          <a:ln/>
        </p:spPr>
        <p:txBody>
          <a:bodyPr wrap="square" lIns="0" tIns="0" rIns="0" bIns="0" rtlCol="0" anchor="t"/>
          <a:lstStyle/>
          <a:p>
            <a:pPr algn="ctr" indent="0" marL="0">
              <a:buNone/>
            </a:pPr>
            <a:r>
              <a:rPr lang="en-US" sz="2300" b="1" dirty="0">
                <a:solidFill>
                  <a:srgbClr val="FFFFFF"/>
                </a:solidFill>
                <a:latin typeface="Calibri" pitchFamily="34" charset="0"/>
                <a:ea typeface="Calibri" pitchFamily="34" charset="-122"/>
                <a:cs typeface="Calibri" pitchFamily="34" charset="-120"/>
              </a:rPr>
              <a:t>El sistema vende citas, no medicina.</a:t>
            </a:r>
            <a:endParaRPr lang="en-US" sz="2300" dirty="0"/>
          </a:p>
        </p:txBody>
      </p:sp>
      <p:sp>
        <p:nvSpPr>
          <p:cNvPr id="36" name="Text 34"/>
          <p:cNvSpPr/>
          <p:nvPr/>
        </p:nvSpPr>
        <p:spPr>
          <a:xfrm>
            <a:off x="640080" y="5943600"/>
            <a:ext cx="10908792" cy="292608"/>
          </a:xfrm>
          <a:prstGeom prst="rect">
            <a:avLst/>
          </a:prstGeom>
          <a:noFill/>
          <a:ln/>
        </p:spPr>
        <p:txBody>
          <a:bodyPr wrap="square" lIns="0" tIns="0" rIns="0" bIns="0" rtlCol="0" anchor="t"/>
          <a:lstStyle/>
          <a:p>
            <a:pPr algn="ctr" indent="0" marL="0">
              <a:buNone/>
            </a:pPr>
            <a:r>
              <a:rPr lang="en-US" sz="1100" i="1" dirty="0">
                <a:solidFill>
                  <a:srgbClr val="C6CBCB"/>
                </a:solidFill>
                <a:latin typeface="Calibri" pitchFamily="34" charset="0"/>
                <a:ea typeface="Calibri" pitchFamily="34" charset="-122"/>
                <a:cs typeface="Calibri" pitchFamily="34" charset="-120"/>
              </a:rPr>
              <a:t>La línea roja se formula así, deliberadamente simple, para que pueda aplicarse a una decisión de diseño concreta.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 ético-regulatorio — Sistema Recepción-IA</dc:title>
  <dc:subject>PptxGenJS Presentation</dc:subject>
  <dc:creator>Recepción-IA</dc:creator>
  <cp:lastModifiedBy>Recepción-IA</cp:lastModifiedBy>
  <cp:revision>1</cp:revision>
  <dcterms:created xsi:type="dcterms:W3CDTF">2026-07-25T16:02:14Z</dcterms:created>
  <dcterms:modified xsi:type="dcterms:W3CDTF">2026-07-25T16:02:14Z</dcterms:modified>
</cp:coreProperties>
</file>