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Vamos a presentar Recepción-IA. Antes del título, una sola idea: cuando un paciente llama a una clínica y nadie contesta, esa llamada no queda registrada en ningún sistema. La clínica nunca sabrá que existió. Sobre esa observación se construyó todo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fallas observables, todas en el mismo punto del proceso: la recepción. El punto crítico del análisis es que ninguna se resuelve reorganizando el trabajo ni capacitando mejor. Es una restricción estructural de capacidad simultánea y de horario.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giro del trabajo. El planteamiento inicial contemplaba solo WhatsApp. Al diagramar el proceso actual aparecio una asimetria en el modo de fallo: el canal que más dano hace es el único que no deja evidencia. De ahí salen las dos decisiones que estructuran el resto del proyecto: multicanal, y registrar todo contacto aunque no convierta.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evaluaron cinco procesos con el criterio del curso: intersección entre lo que la IA puede hacer y lo que vale para el negocio. Los dos primeros se eligieron. La reactivación queda diferida por consentimiento. La historia clínica se excluye por régimen normativo. Y la orientación clínica se excluye de forma absoluta, no por prudencia sino por un criterio técnico: su error no es contenible por diseño. Esa frontera se formula en una sola línea para que sea aplicable a cualquier decisión concreta.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la arquitectura se deriva de un solo principio. Existe un único servicio de conversación y dos adaptadores que traducen el formato de cada canal al formato interno comun. La consecuencia práctica está abajo: la decisión se tomó por razones de ingeniería, evitar duplicar lógica, y resultó ser también la decisión de mayor valor ético del proyecto, porque hace imposible que el canal telefónico opere con menos controles que el de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requisito era que el cerebro siguiera siendo Claude también por teléfono. Es tecnicamente satisfacible: la plataforma de voz permite sustituir su modelo integrado por un endpoint propio. Ella aporta oído, gestión de turnos y voz; nosotros retenemos el razonamiento, las reglas, la recuperación, las herramientas y el historial. Tiene además un efecto de protección de datos que no era el objetivo inicial: reduce el número de proveedores que ven conversaciones de salud.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prompt no se escribió de una vez: se construyó probando casos contra el modelo, detectando el fallo y ajustando. La tabla completa está en el informe. Dos aprendizajes. El primero, a la izquierda: prohibir sin dar salida rompe el sistema; la respuesta canónica convirtio la restricción en un camino hacia el agendamiento. El segundo, a la derecha, es el que cambia la arquitectura: las instrucciones no son un control, son una expectativa, así que se verifica también la salida.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criterios de aprobación son binarios a propósito. Un umbral de suficiencia sería razonable en un producto comercial; en un dominio donde el error puede ser irreversible, no. Y quiero subrayar el recuadro de la derecha: declaramos con precisión el estado del trabajo. Preferimos entregar espacios de evidencia señalizados antes que presentar resultados que no existen, porque eso es exactamente el rigor que el propio marco ético le exige al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marco peruano se endureció justo antes de este proyecto. Para nosotros es ventaja: no hay operación previa que adecuar, nacemos bajo el marco nuevo. Dos puntos que quiero destacar. Primero, el recuadro rojo: medir el sesgo del reconocimiento del habla antes de exponer el canal a pacientes reales. El costo de medir antes es de días; el de descubrirlo después es la confianza del gremio. Segundo, la gobernanza: un modelo copiado de una organización grande sería inoperante en un equipo de tres personas, así que la supervisión efectiva se sitúa fuera de la organización.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 secuencia de implementación. Cada fase tiene una puerta de validación objetiva; si no se cumple, el proyecto no avanza. La decisión de secuencia más importante está resaltada: F3 antes que F4. Sobre el valor: deliberadamente no presentamos cifras de retorno proyectadas, porque los indicadores publicados del sector vienen de proveedores que venden la solución, y eso es un argumento circular. La medición está incorporada al diseño del sistema. Y la síntesis del trabajo cabe en una línea: el sistema vende citas, no medicina.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82A"/>
        </a:solidFill>
      </p:bgPr>
    </p:bg>
    <p:spTree>
      <p:nvGrpSpPr>
        <p:cNvPr id="1" name=""/>
        <p:cNvGrpSpPr/>
        <p:nvPr/>
      </p:nvGrpSpPr>
      <p:grpSpPr>
        <a:xfrm>
          <a:off x="0" y="0"/>
          <a:ext cx="0" cy="0"/>
          <a:chOff x="0" y="0"/>
          <a:chExt cx="0" cy="0"/>
        </a:xfrm>
      </p:grpSpPr>
      <p:sp>
        <p:nvSpPr>
          <p:cNvPr id="2" name="Shape 0"/>
          <p:cNvSpPr/>
          <p:nvPr/>
        </p:nvSpPr>
        <p:spPr>
          <a:xfrm>
            <a:off x="7223760" y="1508760"/>
            <a:ext cx="3840480" cy="3840480"/>
          </a:xfrm>
          <a:prstGeom prst="ellipse">
            <a:avLst/>
          </a:prstGeom>
          <a:solidFill>
            <a:srgbClr val="07182A"/>
          </a:solidFill>
          <a:ln w="12700">
            <a:solidFill>
              <a:srgbClr val="00A896">
                <a:alpha val="45000"/>
              </a:srgbClr>
            </a:solidFill>
            <a:prstDash val="solid"/>
          </a:ln>
        </p:spPr>
      </p:sp>
      <p:sp>
        <p:nvSpPr>
          <p:cNvPr id="3" name="Shape 1"/>
          <p:cNvSpPr/>
          <p:nvPr/>
        </p:nvSpPr>
        <p:spPr>
          <a:xfrm>
            <a:off x="8046720" y="1965960"/>
            <a:ext cx="2926080" cy="2926080"/>
          </a:xfrm>
          <a:prstGeom prst="ellipse">
            <a:avLst/>
          </a:prstGeom>
          <a:solidFill>
            <a:srgbClr val="07182A"/>
          </a:solidFill>
          <a:ln w="12700">
            <a:solidFill>
              <a:srgbClr val="00A896">
                <a:alpha val="45000"/>
              </a:srgbClr>
            </a:solidFill>
            <a:prstDash val="solid"/>
          </a:ln>
        </p:spPr>
      </p:sp>
      <p:sp>
        <p:nvSpPr>
          <p:cNvPr id="4" name="Shape 2"/>
          <p:cNvSpPr/>
          <p:nvPr/>
        </p:nvSpPr>
        <p:spPr>
          <a:xfrm>
            <a:off x="8869680" y="2423160"/>
            <a:ext cx="2011680" cy="2011680"/>
          </a:xfrm>
          <a:prstGeom prst="ellipse">
            <a:avLst/>
          </a:prstGeom>
          <a:solidFill>
            <a:srgbClr val="07182A"/>
          </a:solidFill>
          <a:ln w="12700">
            <a:solidFill>
              <a:srgbClr val="00A896">
                <a:alpha val="45000"/>
              </a:srgbClr>
            </a:solidFill>
            <a:prstDash val="solid"/>
          </a:ln>
        </p:spPr>
      </p:sp>
      <p:sp>
        <p:nvSpPr>
          <p:cNvPr id="5" name="Shape 3"/>
          <p:cNvSpPr/>
          <p:nvPr/>
        </p:nvSpPr>
        <p:spPr>
          <a:xfrm>
            <a:off x="8732520" y="2651760"/>
            <a:ext cx="1554480" cy="1554480"/>
          </a:xfrm>
          <a:prstGeom prst="ellipse">
            <a:avLst/>
          </a:prstGeom>
          <a:solidFill>
            <a:srgbClr val="00A896">
              <a:alpha val="18000"/>
            </a:srgbClr>
          </a:solidFill>
          <a:ln w="12700">
            <a:solidFill>
              <a:srgbClr val="00A896"/>
            </a:solidFill>
            <a:prstDash val="solid"/>
          </a:ln>
        </p:spPr>
      </p:sp>
      <p:sp>
        <p:nvSpPr>
          <p:cNvPr id="6" name="Text 4"/>
          <p:cNvSpPr/>
          <p:nvPr/>
        </p:nvSpPr>
        <p:spPr>
          <a:xfrm>
            <a:off x="548640" y="685800"/>
            <a:ext cx="6949440" cy="256032"/>
          </a:xfrm>
          <a:prstGeom prst="rect">
            <a:avLst/>
          </a:prstGeom>
          <a:noFill/>
          <a:ln/>
        </p:spPr>
        <p:txBody>
          <a:bodyPr wrap="square" lIns="0" tIns="0" rIns="0" bIns="0" rtlCol="0" anchor="ctr"/>
          <a:lstStyle/>
          <a:p>
            <a:pPr indent="0" marL="0">
              <a:buNone/>
            </a:pPr>
            <a:r>
              <a:rPr lang="en-US" sz="1100" b="1" spc="180" kern="0" dirty="0">
                <a:solidFill>
                  <a:srgbClr val="00A896"/>
                </a:solidFill>
                <a:latin typeface="Calibri" pitchFamily="34" charset="0"/>
                <a:ea typeface="Calibri" pitchFamily="34" charset="-122"/>
                <a:cs typeface="Calibri" pitchFamily="34" charset="-120"/>
              </a:rPr>
              <a:t>UNIVERSIDAD NACIONAL MAYOR DE SAN MARCOS</a:t>
            </a:r>
            <a:endParaRPr lang="en-US" sz="1100" dirty="0"/>
          </a:p>
        </p:txBody>
      </p:sp>
      <p:sp>
        <p:nvSpPr>
          <p:cNvPr id="7" name="Text 5"/>
          <p:cNvSpPr/>
          <p:nvPr/>
        </p:nvSpPr>
        <p:spPr>
          <a:xfrm>
            <a:off x="548640" y="969264"/>
            <a:ext cx="6949440" cy="256032"/>
          </a:xfrm>
          <a:prstGeom prst="rect">
            <a:avLst/>
          </a:prstGeom>
          <a:noFill/>
          <a:ln/>
        </p:spPr>
        <p:txBody>
          <a:bodyPr wrap="square" lIns="0" tIns="0" rIns="0" bIns="0" rtlCol="0" anchor="ctr"/>
          <a:lstStyle/>
          <a:p>
            <a:pPr indent="0" marL="0">
              <a:buNone/>
            </a:pPr>
            <a:r>
              <a:rPr lang="en-US" sz="1150" dirty="0">
                <a:solidFill>
                  <a:srgbClr val="9DB3C4"/>
                </a:solidFill>
                <a:latin typeface="Calibri" pitchFamily="34" charset="0"/>
                <a:ea typeface="Calibri" pitchFamily="34" charset="-122"/>
                <a:cs typeface="Calibri" pitchFamily="34" charset="-120"/>
              </a:rPr>
              <a:t>Maestría de especialización en Inteligencia Artificial para la Administración</a:t>
            </a:r>
            <a:endParaRPr lang="en-US" sz="1150" dirty="0"/>
          </a:p>
        </p:txBody>
      </p:sp>
      <p:sp>
        <p:nvSpPr>
          <p:cNvPr id="8" name="Text 6"/>
          <p:cNvSpPr/>
          <p:nvPr/>
        </p:nvSpPr>
        <p:spPr>
          <a:xfrm>
            <a:off x="548640" y="1600200"/>
            <a:ext cx="694944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Recepción-IA</a:t>
            </a:r>
            <a:endParaRPr lang="en-US" sz="5200" dirty="0"/>
          </a:p>
        </p:txBody>
      </p:sp>
      <p:sp>
        <p:nvSpPr>
          <p:cNvPr id="9" name="Text 7"/>
          <p:cNvSpPr/>
          <p:nvPr/>
        </p:nvSpPr>
        <p:spPr>
          <a:xfrm>
            <a:off x="548640" y="2578608"/>
            <a:ext cx="6309360" cy="1051560"/>
          </a:xfrm>
          <a:prstGeom prst="rect">
            <a:avLst/>
          </a:prstGeom>
          <a:noFill/>
          <a:ln/>
        </p:spPr>
        <p:txBody>
          <a:bodyPr wrap="square" lIns="0" tIns="0" rIns="0" bIns="0" rtlCol="0" anchor="ctr"/>
          <a:lstStyle/>
          <a:p>
            <a:pPr indent="0" marL="0">
              <a:lnSpc>
                <a:spcPts val="2100"/>
              </a:lnSpc>
              <a:buNone/>
            </a:pPr>
            <a:r>
              <a:rPr lang="en-US" sz="1450" dirty="0">
                <a:solidFill>
                  <a:srgbClr val="C6D6E2"/>
                </a:solidFill>
                <a:latin typeface="Calibri" pitchFamily="34" charset="0"/>
                <a:ea typeface="Calibri" pitchFamily="34" charset="-122"/>
                <a:cs typeface="Calibri" pitchFamily="34" charset="-120"/>
              </a:rPr>
              <a:t>Agente conversacional multicanal con IA generativa para la atención del primer contacto y la gestión de citas en clínicas dentales y de medicina estética privadas de Lima</a:t>
            </a:r>
            <a:endParaRPr lang="en-US" sz="1450" dirty="0"/>
          </a:p>
        </p:txBody>
      </p:sp>
      <p:sp>
        <p:nvSpPr>
          <p:cNvPr id="10" name="Shape 8"/>
          <p:cNvSpPr/>
          <p:nvPr/>
        </p:nvSpPr>
        <p:spPr>
          <a:xfrm>
            <a:off x="548640" y="3858768"/>
            <a:ext cx="6492240" cy="749808"/>
          </a:xfrm>
          <a:prstGeom prst="roundRect">
            <a:avLst>
              <a:gd name="adj" fmla="val 6098"/>
            </a:avLst>
          </a:prstGeom>
          <a:solidFill>
            <a:srgbClr val="0E2A47"/>
          </a:solidFill>
          <a:ln w="12700">
            <a:solidFill>
              <a:srgbClr val="00A896"/>
            </a:solidFill>
            <a:prstDash val="solid"/>
          </a:ln>
        </p:spPr>
      </p:sp>
      <p:sp>
        <p:nvSpPr>
          <p:cNvPr id="11" name="Text 9"/>
          <p:cNvSpPr/>
          <p:nvPr/>
        </p:nvSpPr>
        <p:spPr>
          <a:xfrm>
            <a:off x="777240" y="3858768"/>
            <a:ext cx="6309360" cy="749808"/>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«La llamada que nadie contestó no deja ningún rastro.»</a:t>
            </a:r>
            <a:endParaRPr lang="en-US" sz="1600" dirty="0"/>
          </a:p>
        </p:txBody>
      </p:sp>
      <p:sp>
        <p:nvSpPr>
          <p:cNvPr id="12" name="Text 10"/>
          <p:cNvSpPr/>
          <p:nvPr/>
        </p:nvSpPr>
        <p:spPr>
          <a:xfrm>
            <a:off x="548640" y="5029200"/>
            <a:ext cx="6766560" cy="237744"/>
          </a:xfrm>
          <a:prstGeom prst="rect">
            <a:avLst/>
          </a:prstGeom>
          <a:noFill/>
          <a:ln/>
        </p:spPr>
        <p:txBody>
          <a:bodyPr wrap="square" lIns="0" tIns="0" rIns="0" bIns="0" rtlCol="0" anchor="ctr"/>
          <a:lstStyle/>
          <a:p>
            <a:pPr indent="0" marL="0">
              <a:buNone/>
            </a:pPr>
            <a:r>
              <a:rPr lang="en-US" sz="1150" b="1" dirty="0">
                <a:solidFill>
                  <a:srgbClr val="6E8598"/>
                </a:solidFill>
                <a:latin typeface="Calibri" pitchFamily="34" charset="0"/>
                <a:ea typeface="Calibri" pitchFamily="34" charset="-122"/>
                <a:cs typeface="Calibri" pitchFamily="34" charset="-120"/>
              </a:rPr>
              <a:t>Curso  </a:t>
            </a:r>
            <a:pPr indent="0" marL="0">
              <a:buNone/>
            </a:pPr>
            <a:r>
              <a:rPr lang="en-US" sz="1150" dirty="0">
                <a:solidFill>
                  <a:srgbClr val="C6D6E2"/>
                </a:solidFill>
                <a:latin typeface="Calibri" pitchFamily="34" charset="0"/>
                <a:ea typeface="Calibri" pitchFamily="34" charset="-122"/>
                <a:cs typeface="Calibri" pitchFamily="34" charset="-120"/>
              </a:rPr>
              <a:t>IA Generativa para la Toma de Decisiones</a:t>
            </a:r>
            <a:endParaRPr lang="en-US" sz="1150" dirty="0"/>
          </a:p>
        </p:txBody>
      </p:sp>
      <p:sp>
        <p:nvSpPr>
          <p:cNvPr id="13" name="Text 11"/>
          <p:cNvSpPr/>
          <p:nvPr/>
        </p:nvSpPr>
        <p:spPr>
          <a:xfrm>
            <a:off x="548640" y="5303520"/>
            <a:ext cx="6766560" cy="237744"/>
          </a:xfrm>
          <a:prstGeom prst="rect">
            <a:avLst/>
          </a:prstGeom>
          <a:noFill/>
          <a:ln/>
        </p:spPr>
        <p:txBody>
          <a:bodyPr wrap="square" lIns="0" tIns="0" rIns="0" bIns="0" rtlCol="0" anchor="ctr"/>
          <a:lstStyle/>
          <a:p>
            <a:pPr indent="0" marL="0">
              <a:buNone/>
            </a:pPr>
            <a:r>
              <a:rPr lang="en-US" sz="1150" b="1" dirty="0">
                <a:solidFill>
                  <a:srgbClr val="6E8598"/>
                </a:solidFill>
                <a:latin typeface="Calibri" pitchFamily="34" charset="0"/>
                <a:ea typeface="Calibri" pitchFamily="34" charset="-122"/>
                <a:cs typeface="Calibri" pitchFamily="34" charset="-120"/>
              </a:rPr>
              <a:t>Docente  </a:t>
            </a:r>
            <a:pPr indent="0" marL="0">
              <a:buNone/>
            </a:pPr>
            <a:r>
              <a:rPr lang="en-US" sz="1150" dirty="0">
                <a:solidFill>
                  <a:srgbClr val="C6D6E2"/>
                </a:solidFill>
                <a:latin typeface="Calibri" pitchFamily="34" charset="0"/>
                <a:ea typeface="Calibri" pitchFamily="34" charset="-122"/>
                <a:cs typeface="Calibri" pitchFamily="34" charset="-120"/>
              </a:rPr>
              <a:t>Victor Cadenas</a:t>
            </a:r>
            <a:endParaRPr lang="en-US" sz="1150" dirty="0"/>
          </a:p>
        </p:txBody>
      </p:sp>
      <p:sp>
        <p:nvSpPr>
          <p:cNvPr id="14" name="Text 12"/>
          <p:cNvSpPr/>
          <p:nvPr/>
        </p:nvSpPr>
        <p:spPr>
          <a:xfrm>
            <a:off x="548640" y="5577840"/>
            <a:ext cx="6949440" cy="237744"/>
          </a:xfrm>
          <a:prstGeom prst="rect">
            <a:avLst/>
          </a:prstGeom>
          <a:noFill/>
          <a:ln/>
        </p:spPr>
        <p:txBody>
          <a:bodyPr wrap="square" lIns="0" tIns="0" rIns="0" bIns="0" rtlCol="0" anchor="ctr"/>
          <a:lstStyle/>
          <a:p>
            <a:pPr indent="0" marL="0">
              <a:buNone/>
            </a:pPr>
            <a:r>
              <a:rPr lang="en-US" sz="1150" b="1" dirty="0">
                <a:solidFill>
                  <a:srgbClr val="6E8598"/>
                </a:solidFill>
                <a:latin typeface="Calibri" pitchFamily="34" charset="0"/>
                <a:ea typeface="Calibri" pitchFamily="34" charset="-122"/>
                <a:cs typeface="Calibri" pitchFamily="34" charset="-120"/>
              </a:rPr>
              <a:t>Integrantes  </a:t>
            </a:r>
            <a:pPr indent="0" marL="0">
              <a:buNone/>
            </a:pPr>
            <a:r>
              <a:rPr lang="en-US" sz="1150" dirty="0">
                <a:solidFill>
                  <a:srgbClr val="C6D6E2"/>
                </a:solidFill>
                <a:latin typeface="Calibri" pitchFamily="34" charset="0"/>
                <a:ea typeface="Calibri" pitchFamily="34" charset="-122"/>
                <a:cs typeface="Calibri" pitchFamily="34" charset="-120"/>
              </a:rPr>
              <a:t>Auccapuclla García, Chirstiann Miguel  ·  Cayao Fernández, Abner</a:t>
            </a:r>
            <a:endParaRPr lang="en-US" sz="1150" dirty="0"/>
          </a:p>
        </p:txBody>
      </p:sp>
      <p:sp>
        <p:nvSpPr>
          <p:cNvPr id="15" name="Text 13"/>
          <p:cNvSpPr/>
          <p:nvPr/>
        </p:nvSpPr>
        <p:spPr>
          <a:xfrm>
            <a:off x="548640" y="5989320"/>
            <a:ext cx="6766560" cy="237744"/>
          </a:xfrm>
          <a:prstGeom prst="rect">
            <a:avLst/>
          </a:prstGeom>
          <a:noFill/>
          <a:ln/>
        </p:spPr>
        <p:txBody>
          <a:bodyPr wrap="square" lIns="0" tIns="0" rIns="0" bIns="0" rtlCol="0" anchor="ctr"/>
          <a:lstStyle/>
          <a:p>
            <a:pPr indent="0" marL="0">
              <a:buNone/>
            </a:pPr>
            <a:r>
              <a:rPr lang="en-US" sz="1100" dirty="0">
                <a:solidFill>
                  <a:srgbClr val="6E8598"/>
                </a:solidFill>
                <a:latin typeface="Calibri" pitchFamily="34" charset="0"/>
                <a:ea typeface="Calibri" pitchFamily="34" charset="-122"/>
                <a:cs typeface="Calibri" pitchFamily="34" charset="-120"/>
              </a:rPr>
              <a:t>Lima, julio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01 · SITUACIÓN PROBLEMATICA</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No es un problema de esfuerzo del personal.</a:t>
            </a:r>
            <a:endParaRPr lang="en-US" sz="2700" dirty="0"/>
          </a:p>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Es una restricción de capacidad y de horario.</a:t>
            </a:r>
            <a:endParaRPr lang="en-US" sz="2700" dirty="0"/>
          </a:p>
        </p:txBody>
      </p:sp>
      <p:sp>
        <p:nvSpPr>
          <p:cNvPr id="4" name="Shape 2"/>
          <p:cNvSpPr/>
          <p:nvPr/>
        </p:nvSpPr>
        <p:spPr>
          <a:xfrm>
            <a:off x="548640" y="2084832"/>
            <a:ext cx="5394960" cy="1316736"/>
          </a:xfrm>
          <a:prstGeom prst="roundRect">
            <a:avLst>
              <a:gd name="adj" fmla="val 4167"/>
            </a:avLst>
          </a:prstGeom>
          <a:solidFill>
            <a:srgbClr val="F5F8FB"/>
          </a:solidFill>
          <a:ln w="12700">
            <a:solidFill>
              <a:srgbClr val="DCE7EF"/>
            </a:solidFill>
            <a:prstDash val="solid"/>
          </a:ln>
        </p:spPr>
      </p:sp>
      <p:sp>
        <p:nvSpPr>
          <p:cNvPr id="5" name="Shape 3"/>
          <p:cNvSpPr/>
          <p:nvPr/>
        </p:nvSpPr>
        <p:spPr>
          <a:xfrm>
            <a:off x="804672" y="2322576"/>
            <a:ext cx="384048" cy="384048"/>
          </a:xfrm>
          <a:prstGeom prst="ellipse">
            <a:avLst/>
          </a:prstGeom>
          <a:solidFill>
            <a:srgbClr val="0E2A47"/>
          </a:solidFill>
          <a:ln w="12700">
            <a:solidFill>
              <a:srgbClr val="0E2A47"/>
            </a:solidFill>
            <a:prstDash val="solid"/>
          </a:ln>
        </p:spPr>
      </p:sp>
      <p:sp>
        <p:nvSpPr>
          <p:cNvPr id="6" name="Text 4"/>
          <p:cNvSpPr/>
          <p:nvPr/>
        </p:nvSpPr>
        <p:spPr>
          <a:xfrm>
            <a:off x="804672"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16736" y="2267712"/>
            <a:ext cx="4434840" cy="292608"/>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Latencia del primer contacto</a:t>
            </a:r>
            <a:endParaRPr lang="en-US" sz="1350" dirty="0"/>
          </a:p>
        </p:txBody>
      </p:sp>
      <p:sp>
        <p:nvSpPr>
          <p:cNvPr id="8" name="Text 6"/>
          <p:cNvSpPr/>
          <p:nvPr/>
        </p:nvSpPr>
        <p:spPr>
          <a:xfrm>
            <a:off x="1316736" y="2587752"/>
            <a:ext cx="4434840" cy="713232"/>
          </a:xfrm>
          <a:prstGeom prst="rect">
            <a:avLst/>
          </a:prstGeom>
          <a:noFill/>
          <a:ln/>
        </p:spPr>
        <p:txBody>
          <a:bodyPr wrap="square" lIns="0" tIns="0" rIns="0" bIns="0" rtlCol="0" anchor="ctr"/>
          <a:lstStyle/>
          <a:p>
            <a:pPr indent="0" marL="0">
              <a:lnSpc>
                <a:spcPts val="1400"/>
              </a:lnSpc>
              <a:buNone/>
            </a:pPr>
            <a:r>
              <a:rPr lang="en-US" sz="1050" dirty="0">
                <a:solidFill>
                  <a:srgbClr val="5A6D7C"/>
                </a:solidFill>
                <a:latin typeface="Calibri" pitchFamily="34" charset="0"/>
                <a:ea typeface="Calibri" pitchFamily="34" charset="-122"/>
                <a:cs typeface="Calibri" pitchFamily="34" charset="-120"/>
              </a:rPr>
              <a:t>El mensaje o la llamada que entra durante una atención presencial, o a las 9 p.m., se responde al día siguiente. El paciente ya consultó en otro lugar.</a:t>
            </a:r>
            <a:endParaRPr lang="en-US" sz="1050" dirty="0"/>
          </a:p>
        </p:txBody>
      </p:sp>
      <p:sp>
        <p:nvSpPr>
          <p:cNvPr id="9" name="Shape 7"/>
          <p:cNvSpPr/>
          <p:nvPr/>
        </p:nvSpPr>
        <p:spPr>
          <a:xfrm>
            <a:off x="6217920" y="2084832"/>
            <a:ext cx="5394960" cy="1316736"/>
          </a:xfrm>
          <a:prstGeom prst="roundRect">
            <a:avLst>
              <a:gd name="adj" fmla="val 4167"/>
            </a:avLst>
          </a:prstGeom>
          <a:solidFill>
            <a:srgbClr val="F5F8FB"/>
          </a:solidFill>
          <a:ln w="12700">
            <a:solidFill>
              <a:srgbClr val="DCE7EF"/>
            </a:solidFill>
            <a:prstDash val="solid"/>
          </a:ln>
        </p:spPr>
      </p:sp>
      <p:sp>
        <p:nvSpPr>
          <p:cNvPr id="10" name="Shape 8"/>
          <p:cNvSpPr/>
          <p:nvPr/>
        </p:nvSpPr>
        <p:spPr>
          <a:xfrm>
            <a:off x="6473952" y="2322576"/>
            <a:ext cx="384048" cy="384048"/>
          </a:xfrm>
          <a:prstGeom prst="ellipse">
            <a:avLst/>
          </a:prstGeom>
          <a:solidFill>
            <a:srgbClr val="0E2A47"/>
          </a:solidFill>
          <a:ln w="12700">
            <a:solidFill>
              <a:srgbClr val="0E2A47"/>
            </a:solidFill>
            <a:prstDash val="solid"/>
          </a:ln>
        </p:spPr>
      </p:sp>
      <p:sp>
        <p:nvSpPr>
          <p:cNvPr id="11" name="Text 9"/>
          <p:cNvSpPr/>
          <p:nvPr/>
        </p:nvSpPr>
        <p:spPr>
          <a:xfrm>
            <a:off x="6473952"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986016" y="2267712"/>
            <a:ext cx="4434840" cy="292608"/>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Consulta perdida por falta de información</a:t>
            </a:r>
            <a:endParaRPr lang="en-US" sz="1350" dirty="0"/>
          </a:p>
        </p:txBody>
      </p:sp>
      <p:sp>
        <p:nvSpPr>
          <p:cNvPr id="13" name="Text 11"/>
          <p:cNvSpPr/>
          <p:nvPr/>
        </p:nvSpPr>
        <p:spPr>
          <a:xfrm>
            <a:off x="6986016" y="2587752"/>
            <a:ext cx="4434840" cy="713232"/>
          </a:xfrm>
          <a:prstGeom prst="rect">
            <a:avLst/>
          </a:prstGeom>
          <a:noFill/>
          <a:ln/>
        </p:spPr>
        <p:txBody>
          <a:bodyPr wrap="square" lIns="0" tIns="0" rIns="0" bIns="0" rtlCol="0" anchor="ctr"/>
          <a:lstStyle/>
          <a:p>
            <a:pPr indent="0" marL="0">
              <a:lnSpc>
                <a:spcPts val="1400"/>
              </a:lnSpc>
              <a:buNone/>
            </a:pPr>
            <a:r>
              <a:rPr lang="en-US" sz="1050" dirty="0">
                <a:solidFill>
                  <a:srgbClr val="5A6D7C"/>
                </a:solidFill>
                <a:latin typeface="Calibri" pitchFamily="34" charset="0"/>
                <a:ea typeface="Calibri" pitchFamily="34" charset="-122"/>
                <a:cs typeface="Calibri" pitchFamily="34" charset="-120"/>
              </a:rPr>
              <a:t>Tratamientos, rangos de precio, horarios, ubicación: la respuesta existe y está documentada, pero depende de que alguien esté libre.</a:t>
            </a:r>
            <a:endParaRPr lang="en-US" sz="1050" dirty="0"/>
          </a:p>
        </p:txBody>
      </p:sp>
      <p:sp>
        <p:nvSpPr>
          <p:cNvPr id="14" name="Shape 12"/>
          <p:cNvSpPr/>
          <p:nvPr/>
        </p:nvSpPr>
        <p:spPr>
          <a:xfrm>
            <a:off x="548640" y="3566160"/>
            <a:ext cx="5394960" cy="1316736"/>
          </a:xfrm>
          <a:prstGeom prst="roundRect">
            <a:avLst>
              <a:gd name="adj" fmla="val 4167"/>
            </a:avLst>
          </a:prstGeom>
          <a:solidFill>
            <a:srgbClr val="F5F8FB"/>
          </a:solidFill>
          <a:ln w="12700">
            <a:solidFill>
              <a:srgbClr val="DCE7EF"/>
            </a:solidFill>
            <a:prstDash val="solid"/>
          </a:ln>
        </p:spPr>
      </p:sp>
      <p:sp>
        <p:nvSpPr>
          <p:cNvPr id="15" name="Shape 13"/>
          <p:cNvSpPr/>
          <p:nvPr/>
        </p:nvSpPr>
        <p:spPr>
          <a:xfrm>
            <a:off x="804672" y="3803904"/>
            <a:ext cx="384048" cy="384048"/>
          </a:xfrm>
          <a:prstGeom prst="ellipse">
            <a:avLst/>
          </a:prstGeom>
          <a:solidFill>
            <a:srgbClr val="0E2A47"/>
          </a:solidFill>
          <a:ln w="12700">
            <a:solidFill>
              <a:srgbClr val="0E2A47"/>
            </a:solidFill>
            <a:prstDash val="solid"/>
          </a:ln>
        </p:spPr>
      </p:sp>
      <p:sp>
        <p:nvSpPr>
          <p:cNvPr id="16" name="Text 14"/>
          <p:cNvSpPr/>
          <p:nvPr/>
        </p:nvSpPr>
        <p:spPr>
          <a:xfrm>
            <a:off x="804672"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16736" y="3749040"/>
            <a:ext cx="4434840" cy="292608"/>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Inasistencia a la cita agendada</a:t>
            </a:r>
            <a:endParaRPr lang="en-US" sz="1350" dirty="0"/>
          </a:p>
        </p:txBody>
      </p:sp>
      <p:sp>
        <p:nvSpPr>
          <p:cNvPr id="18" name="Text 16"/>
          <p:cNvSpPr/>
          <p:nvPr/>
        </p:nvSpPr>
        <p:spPr>
          <a:xfrm>
            <a:off x="1316736" y="4069080"/>
            <a:ext cx="4434840" cy="713232"/>
          </a:xfrm>
          <a:prstGeom prst="rect">
            <a:avLst/>
          </a:prstGeom>
          <a:noFill/>
          <a:ln/>
        </p:spPr>
        <p:txBody>
          <a:bodyPr wrap="square" lIns="0" tIns="0" rIns="0" bIns="0" rtlCol="0" anchor="ctr"/>
          <a:lstStyle/>
          <a:p>
            <a:pPr indent="0" marL="0">
              <a:lnSpc>
                <a:spcPts val="1400"/>
              </a:lnSpc>
              <a:buNone/>
            </a:pPr>
            <a:r>
              <a:rPr lang="en-US" sz="1050" dirty="0">
                <a:solidFill>
                  <a:srgbClr val="5A6D7C"/>
                </a:solidFill>
                <a:latin typeface="Calibri" pitchFamily="34" charset="0"/>
                <a:ea typeface="Calibri" pitchFamily="34" charset="-122"/>
                <a:cs typeface="Calibri" pitchFamily="34" charset="-120"/>
              </a:rPr>
              <a:t>La confirmación depende de que alguien recuerde hacerla, y falla justo en las semanas de más citas. Sillón, profesional y bloque de tiempo desperdiciados.</a:t>
            </a:r>
            <a:endParaRPr lang="en-US" sz="1050" dirty="0"/>
          </a:p>
        </p:txBody>
      </p:sp>
      <p:sp>
        <p:nvSpPr>
          <p:cNvPr id="19" name="Shape 17"/>
          <p:cNvSpPr/>
          <p:nvPr/>
        </p:nvSpPr>
        <p:spPr>
          <a:xfrm>
            <a:off x="6217920" y="3566160"/>
            <a:ext cx="5394960" cy="1316736"/>
          </a:xfrm>
          <a:prstGeom prst="roundRect">
            <a:avLst>
              <a:gd name="adj" fmla="val 4167"/>
            </a:avLst>
          </a:prstGeom>
          <a:solidFill>
            <a:srgbClr val="F5F8FB"/>
          </a:solidFill>
          <a:ln w="12700">
            <a:solidFill>
              <a:srgbClr val="DCE7EF"/>
            </a:solidFill>
            <a:prstDash val="solid"/>
          </a:ln>
        </p:spPr>
      </p:sp>
      <p:sp>
        <p:nvSpPr>
          <p:cNvPr id="20" name="Shape 18"/>
          <p:cNvSpPr/>
          <p:nvPr/>
        </p:nvSpPr>
        <p:spPr>
          <a:xfrm>
            <a:off x="6473952" y="3803904"/>
            <a:ext cx="384048" cy="384048"/>
          </a:xfrm>
          <a:prstGeom prst="ellipse">
            <a:avLst/>
          </a:prstGeom>
          <a:solidFill>
            <a:srgbClr val="0E2A47"/>
          </a:solidFill>
          <a:ln w="12700">
            <a:solidFill>
              <a:srgbClr val="0E2A47"/>
            </a:solidFill>
            <a:prstDash val="solid"/>
          </a:ln>
        </p:spPr>
      </p:sp>
      <p:sp>
        <p:nvSpPr>
          <p:cNvPr id="21" name="Text 19"/>
          <p:cNvSpPr/>
          <p:nvPr/>
        </p:nvSpPr>
        <p:spPr>
          <a:xfrm>
            <a:off x="6473952"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986016" y="3749040"/>
            <a:ext cx="4434840" cy="292608"/>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Base de pacientes inactiva</a:t>
            </a:r>
            <a:endParaRPr lang="en-US" sz="1350" dirty="0"/>
          </a:p>
        </p:txBody>
      </p:sp>
      <p:sp>
        <p:nvSpPr>
          <p:cNvPr id="23" name="Text 21"/>
          <p:cNvSpPr/>
          <p:nvPr/>
        </p:nvSpPr>
        <p:spPr>
          <a:xfrm>
            <a:off x="6986016" y="4069080"/>
            <a:ext cx="4434840" cy="713232"/>
          </a:xfrm>
          <a:prstGeom prst="rect">
            <a:avLst/>
          </a:prstGeom>
          <a:noFill/>
          <a:ln/>
        </p:spPr>
        <p:txBody>
          <a:bodyPr wrap="square" lIns="0" tIns="0" rIns="0" bIns="0" rtlCol="0" anchor="ctr"/>
          <a:lstStyle/>
          <a:p>
            <a:pPr indent="0" marL="0">
              <a:lnSpc>
                <a:spcPts val="1400"/>
              </a:lnSpc>
              <a:buNone/>
            </a:pPr>
            <a:r>
              <a:rPr lang="en-US" sz="1050" dirty="0">
                <a:solidFill>
                  <a:srgbClr val="5A6D7C"/>
                </a:solidFill>
                <a:latin typeface="Calibri" pitchFamily="34" charset="0"/>
                <a:ea typeface="Calibri" pitchFamily="34" charset="-122"/>
                <a:cs typeface="Calibri" pitchFamily="34" charset="-120"/>
              </a:rPr>
              <a:t>Controles, profilaxis y mantenimientos de periodicidad conocida que nadie contacta por falta de tiempo operativo.</a:t>
            </a:r>
            <a:endParaRPr lang="en-US" sz="1050" dirty="0"/>
          </a:p>
        </p:txBody>
      </p:sp>
      <p:sp>
        <p:nvSpPr>
          <p:cNvPr id="24" name="Shape 22"/>
          <p:cNvSpPr/>
          <p:nvPr/>
        </p:nvSpPr>
        <p:spPr>
          <a:xfrm>
            <a:off x="548640" y="5193792"/>
            <a:ext cx="11064240" cy="914400"/>
          </a:xfrm>
          <a:prstGeom prst="roundRect">
            <a:avLst>
              <a:gd name="adj" fmla="val 6000"/>
            </a:avLst>
          </a:prstGeom>
          <a:solidFill>
            <a:srgbClr val="0E2A47"/>
          </a:solidFill>
          <a:ln w="12700">
            <a:solidFill>
              <a:srgbClr val="0E2A47"/>
            </a:solidFill>
            <a:prstDash val="solid"/>
          </a:ln>
        </p:spPr>
      </p:sp>
      <p:sp>
        <p:nvSpPr>
          <p:cNvPr id="25" name="Text 23"/>
          <p:cNvSpPr/>
          <p:nvPr/>
        </p:nvSpPr>
        <p:spPr>
          <a:xfrm>
            <a:off x="841248" y="5193792"/>
            <a:ext cx="10479024" cy="914400"/>
          </a:xfrm>
          <a:prstGeom prst="rect">
            <a:avLst/>
          </a:prstGeom>
          <a:noFill/>
          <a:ln/>
        </p:spPr>
        <p:txBody>
          <a:bodyPr wrap="square" lIns="0" tIns="0" rIns="0" bIns="0" rtlCol="0" anchor="ctr"/>
          <a:lstStyle/>
          <a:p>
            <a:pPr indent="0" marL="0">
              <a:lnSpc>
                <a:spcPts val="1700"/>
              </a:lnSpc>
              <a:buNone/>
            </a:pPr>
            <a:r>
              <a:rPr lang="en-US" sz="1250" dirty="0">
                <a:solidFill>
                  <a:srgbClr val="D8E4EC"/>
                </a:solidFill>
                <a:latin typeface="Calibri" pitchFamily="34" charset="0"/>
                <a:ea typeface="Calibri" pitchFamily="34" charset="-122"/>
                <a:cs typeface="Calibri" pitchFamily="34" charset="-120"/>
              </a:rPr>
              <a:t>Una persona no puede atender a la vez al paciente del mostrador, al que llama y al que escribe — y no trabaja de noche ni los domingos, que es cuando una parte relevante de la demanda busca atención. Contratar a otra recepcionista no cubre esas franjas y altera la estructura de costos fijos.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02 · EL HALLAZGO QUE REORIENTÓ EL PROYECTO</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El mensaje sin responder queda en la bandeja.</a:t>
            </a:r>
            <a:endParaRPr lang="en-US" sz="2700" dirty="0"/>
          </a:p>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La llamada perdida no queda en ningún lado.</a:t>
            </a:r>
            <a:endParaRPr lang="en-US" sz="2700" dirty="0"/>
          </a:p>
        </p:txBody>
      </p:sp>
      <p:sp>
        <p:nvSpPr>
          <p:cNvPr id="4" name="Shape 2"/>
          <p:cNvSpPr/>
          <p:nvPr/>
        </p:nvSpPr>
        <p:spPr>
          <a:xfrm>
            <a:off x="548640" y="2103120"/>
            <a:ext cx="5349240" cy="2103120"/>
          </a:xfrm>
          <a:prstGeom prst="roundRect">
            <a:avLst>
              <a:gd name="adj" fmla="val 2609"/>
            </a:avLst>
          </a:prstGeom>
          <a:solidFill>
            <a:srgbClr val="F5F8FB"/>
          </a:solidFill>
          <a:ln w="12700">
            <a:solidFill>
              <a:srgbClr val="DCE7EF"/>
            </a:solidFill>
            <a:prstDash val="solid"/>
          </a:ln>
        </p:spPr>
      </p:sp>
      <p:sp>
        <p:nvSpPr>
          <p:cNvPr id="5" name="Text 3"/>
          <p:cNvSpPr/>
          <p:nvPr/>
        </p:nvSpPr>
        <p:spPr>
          <a:xfrm>
            <a:off x="841248" y="2286000"/>
            <a:ext cx="4754880" cy="237744"/>
          </a:xfrm>
          <a:prstGeom prst="rect">
            <a:avLst/>
          </a:prstGeom>
          <a:noFill/>
          <a:ln/>
        </p:spPr>
        <p:txBody>
          <a:bodyPr wrap="square" lIns="0" tIns="0" rIns="0" bIns="0" rtlCol="0" anchor="ctr"/>
          <a:lstStyle/>
          <a:p>
            <a:pPr indent="0" marL="0">
              <a:buNone/>
            </a:pPr>
            <a:r>
              <a:rPr lang="en-US" sz="1050" b="1" spc="140" kern="0" dirty="0">
                <a:solidFill>
                  <a:srgbClr val="046E66"/>
                </a:solidFill>
                <a:latin typeface="Calibri" pitchFamily="34" charset="0"/>
                <a:ea typeface="Calibri" pitchFamily="34" charset="-122"/>
                <a:cs typeface="Calibri" pitchFamily="34" charset="-120"/>
              </a:rPr>
              <a:t>CANAL DE TEXTO · WHATSAPP</a:t>
            </a:r>
            <a:endParaRPr lang="en-US" sz="1050" dirty="0"/>
          </a:p>
        </p:txBody>
      </p:sp>
      <p:sp>
        <p:nvSpPr>
          <p:cNvPr id="6" name="Text 4"/>
          <p:cNvSpPr/>
          <p:nvPr/>
        </p:nvSpPr>
        <p:spPr>
          <a:xfrm>
            <a:off x="841248" y="2578608"/>
            <a:ext cx="4754880" cy="384048"/>
          </a:xfrm>
          <a:prstGeom prst="rect">
            <a:avLst/>
          </a:prstGeom>
          <a:noFill/>
          <a:ln/>
        </p:spPr>
        <p:txBody>
          <a:bodyPr wrap="square" lIns="0" tIns="0" rIns="0" bIns="0" rtlCol="0" anchor="ctr"/>
          <a:lstStyle/>
          <a:p>
            <a:pPr indent="0" marL="0">
              <a:buNone/>
            </a:pPr>
            <a:r>
              <a:rPr lang="en-US" sz="2200" b="1" dirty="0">
                <a:solidFill>
                  <a:srgbClr val="0E2A47"/>
                </a:solidFill>
                <a:latin typeface="Cambria" pitchFamily="34" charset="0"/>
                <a:ea typeface="Cambria" pitchFamily="34" charset="-122"/>
                <a:cs typeface="Cambria" pitchFamily="34" charset="-120"/>
              </a:rPr>
              <a:t>Deja rastro</a:t>
            </a:r>
            <a:endParaRPr lang="en-US" sz="2200" dirty="0"/>
          </a:p>
        </p:txBody>
      </p:sp>
      <p:sp>
        <p:nvSpPr>
          <p:cNvPr id="7" name="Text 5"/>
          <p:cNvSpPr/>
          <p:nvPr/>
        </p:nvSpPr>
        <p:spPr>
          <a:xfrm>
            <a:off x="841248" y="3017520"/>
            <a:ext cx="4754880" cy="960120"/>
          </a:xfrm>
          <a:prstGeom prst="rect">
            <a:avLst/>
          </a:prstGeom>
          <a:noFill/>
          <a:ln/>
        </p:spPr>
        <p:txBody>
          <a:bodyPr wrap="square" lIns="0" tIns="0" rIns="0" bIns="0" rtlCol="0" anchor="ctr"/>
          <a:lstStyle/>
          <a:p>
            <a:pPr indent="0" marL="0">
              <a:lnSpc>
                <a:spcPts val="1700"/>
              </a:lnSpc>
              <a:buNone/>
            </a:pPr>
            <a:r>
              <a:rPr lang="en-US" sz="1200" dirty="0">
                <a:solidFill>
                  <a:srgbClr val="5A6D7C"/>
                </a:solidFill>
                <a:latin typeface="Calibri" pitchFamily="34" charset="0"/>
                <a:ea typeface="Calibri" pitchFamily="34" charset="-122"/>
                <a:cs typeface="Calibri" pitchFamily="34" charset="-120"/>
              </a:rPr>
              <a:t>El mensaje no atendido permanece visible. La clínica puede contarlo, recuperarlo y medir cuanto tarda en responder.</a:t>
            </a:r>
            <a:endParaRPr lang="en-US" sz="1200" dirty="0"/>
          </a:p>
        </p:txBody>
      </p:sp>
      <p:sp>
        <p:nvSpPr>
          <p:cNvPr id="8" name="Shape 6"/>
          <p:cNvSpPr/>
          <p:nvPr/>
        </p:nvSpPr>
        <p:spPr>
          <a:xfrm>
            <a:off x="6263640" y="2103120"/>
            <a:ext cx="5349240" cy="2103120"/>
          </a:xfrm>
          <a:prstGeom prst="roundRect">
            <a:avLst>
              <a:gd name="adj" fmla="val 2609"/>
            </a:avLst>
          </a:prstGeom>
          <a:solidFill>
            <a:srgbClr val="FBEDEC"/>
          </a:solidFill>
          <a:ln w="12700">
            <a:solidFill>
              <a:srgbClr val="EFCFCB"/>
            </a:solidFill>
            <a:prstDash val="solid"/>
          </a:ln>
        </p:spPr>
      </p:sp>
      <p:sp>
        <p:nvSpPr>
          <p:cNvPr id="9" name="Text 7"/>
          <p:cNvSpPr/>
          <p:nvPr/>
        </p:nvSpPr>
        <p:spPr>
          <a:xfrm>
            <a:off x="6556248" y="2286000"/>
            <a:ext cx="4754880" cy="237744"/>
          </a:xfrm>
          <a:prstGeom prst="rect">
            <a:avLst/>
          </a:prstGeom>
          <a:noFill/>
          <a:ln/>
        </p:spPr>
        <p:txBody>
          <a:bodyPr wrap="square" lIns="0" tIns="0" rIns="0" bIns="0" rtlCol="0" anchor="ctr"/>
          <a:lstStyle/>
          <a:p>
            <a:pPr indent="0" marL="0">
              <a:buNone/>
            </a:pPr>
            <a:r>
              <a:rPr lang="en-US" sz="1050" b="1" spc="140" kern="0" dirty="0">
                <a:solidFill>
                  <a:srgbClr val="B5352C"/>
                </a:solidFill>
                <a:latin typeface="Calibri" pitchFamily="34" charset="0"/>
                <a:ea typeface="Calibri" pitchFamily="34" charset="-122"/>
                <a:cs typeface="Calibri" pitchFamily="34" charset="-120"/>
              </a:rPr>
              <a:t>CANAL DE VOZ · TELÉFONO</a:t>
            </a:r>
            <a:endParaRPr lang="en-US" sz="1050" dirty="0"/>
          </a:p>
        </p:txBody>
      </p:sp>
      <p:sp>
        <p:nvSpPr>
          <p:cNvPr id="10" name="Text 8"/>
          <p:cNvSpPr/>
          <p:nvPr/>
        </p:nvSpPr>
        <p:spPr>
          <a:xfrm>
            <a:off x="6556248" y="2578608"/>
            <a:ext cx="4754880" cy="384048"/>
          </a:xfrm>
          <a:prstGeom prst="rect">
            <a:avLst/>
          </a:prstGeom>
          <a:noFill/>
          <a:ln/>
        </p:spPr>
        <p:txBody>
          <a:bodyPr wrap="square" lIns="0" tIns="0" rIns="0" bIns="0" rtlCol="0" anchor="ctr"/>
          <a:lstStyle/>
          <a:p>
            <a:pPr indent="0" marL="0">
              <a:buNone/>
            </a:pPr>
            <a:r>
              <a:rPr lang="en-US" sz="2200" b="1" dirty="0">
                <a:solidFill>
                  <a:srgbClr val="B5352C"/>
                </a:solidFill>
                <a:latin typeface="Cambria" pitchFamily="34" charset="0"/>
                <a:ea typeface="Cambria" pitchFamily="34" charset="-122"/>
                <a:cs typeface="Cambria" pitchFamily="34" charset="-120"/>
              </a:rPr>
              <a:t>No genera ningún dato</a:t>
            </a:r>
            <a:endParaRPr lang="en-US" sz="2200" dirty="0"/>
          </a:p>
        </p:txBody>
      </p:sp>
      <p:sp>
        <p:nvSpPr>
          <p:cNvPr id="11" name="Text 9"/>
          <p:cNvSpPr/>
          <p:nvPr/>
        </p:nvSpPr>
        <p:spPr>
          <a:xfrm>
            <a:off x="6556248" y="3017520"/>
            <a:ext cx="4754880" cy="960120"/>
          </a:xfrm>
          <a:prstGeom prst="rect">
            <a:avLst/>
          </a:prstGeom>
          <a:noFill/>
          <a:ln/>
        </p:spPr>
        <p:txBody>
          <a:bodyPr wrap="square" lIns="0" tIns="0" rIns="0" bIns="0" rtlCol="0" anchor="ctr"/>
          <a:lstStyle/>
          <a:p>
            <a:pPr indent="0" marL="0">
              <a:lnSpc>
                <a:spcPts val="1700"/>
              </a:lnSpc>
              <a:buNone/>
            </a:pPr>
            <a:r>
              <a:rPr lang="en-US" sz="1200" dirty="0">
                <a:solidFill>
                  <a:srgbClr val="7A4B46"/>
                </a:solidFill>
                <a:latin typeface="Calibri" pitchFamily="34" charset="0"/>
                <a:ea typeface="Calibri" pitchFamily="34" charset="-122"/>
                <a:cs typeface="Calibri" pitchFamily="34" charset="-120"/>
              </a:rPr>
              <a:t>La clínica subestima estructuralmente su pérdida en el canal telefónico porque no tiene el dato. Es a la vez el más lesivo y el menos visible.</a:t>
            </a:r>
            <a:endParaRPr lang="en-US" sz="1200" dirty="0"/>
          </a:p>
        </p:txBody>
      </p:sp>
      <p:sp>
        <p:nvSpPr>
          <p:cNvPr id="12" name="Text 10"/>
          <p:cNvSpPr/>
          <p:nvPr/>
        </p:nvSpPr>
        <p:spPr>
          <a:xfrm>
            <a:off x="548640" y="4480560"/>
            <a:ext cx="11064240" cy="237744"/>
          </a:xfrm>
          <a:prstGeom prst="rect">
            <a:avLst/>
          </a:prstGeom>
          <a:noFill/>
          <a:ln/>
        </p:spPr>
        <p:txBody>
          <a:bodyPr wrap="square" lIns="0" tIns="0" rIns="0" bIns="0" rtlCol="0" anchor="ctr"/>
          <a:lstStyle/>
          <a:p>
            <a:pPr indent="0" marL="0">
              <a:buNone/>
            </a:pPr>
            <a:r>
              <a:rPr lang="en-US" sz="1050" b="1" spc="140" kern="0" dirty="0">
                <a:solidFill>
                  <a:srgbClr val="046E66"/>
                </a:solidFill>
                <a:latin typeface="Calibri" pitchFamily="34" charset="0"/>
                <a:ea typeface="Calibri" pitchFamily="34" charset="-122"/>
                <a:cs typeface="Calibri" pitchFamily="34" charset="-120"/>
              </a:rPr>
              <a:t>DOS CONSECUENCIAS DIRECTAS SOBRE EL DISEÑO</a:t>
            </a:r>
            <a:endParaRPr lang="en-US" sz="1050" dirty="0"/>
          </a:p>
        </p:txBody>
      </p:sp>
      <p:sp>
        <p:nvSpPr>
          <p:cNvPr id="13" name="Shape 11"/>
          <p:cNvSpPr/>
          <p:nvPr/>
        </p:nvSpPr>
        <p:spPr>
          <a:xfrm>
            <a:off x="548640" y="4791456"/>
            <a:ext cx="5349240" cy="1298448"/>
          </a:xfrm>
          <a:prstGeom prst="roundRect">
            <a:avLst>
              <a:gd name="adj" fmla="val 4225"/>
            </a:avLst>
          </a:prstGeom>
          <a:solidFill>
            <a:srgbClr val="FFFFFF"/>
          </a:solidFill>
          <a:ln w="12700">
            <a:solidFill>
              <a:srgbClr val="C9D8E3"/>
            </a:solidFill>
            <a:prstDash val="solid"/>
          </a:ln>
        </p:spPr>
      </p:sp>
      <p:sp>
        <p:nvSpPr>
          <p:cNvPr id="14" name="Text 12"/>
          <p:cNvSpPr/>
          <p:nvPr/>
        </p:nvSpPr>
        <p:spPr>
          <a:xfrm>
            <a:off x="822960" y="4974336"/>
            <a:ext cx="480060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La solución tiene que ser multicanal</a:t>
            </a:r>
            <a:endParaRPr lang="en-US" sz="1300" dirty="0"/>
          </a:p>
        </p:txBody>
      </p:sp>
      <p:sp>
        <p:nvSpPr>
          <p:cNvPr id="15" name="Text 13"/>
          <p:cNvSpPr/>
          <p:nvPr/>
        </p:nvSpPr>
        <p:spPr>
          <a:xfrm>
            <a:off x="822960" y="5266944"/>
            <a:ext cx="4800600" cy="731520"/>
          </a:xfrm>
          <a:prstGeom prst="rect">
            <a:avLst/>
          </a:prstGeom>
          <a:noFill/>
          <a:ln/>
        </p:spPr>
        <p:txBody>
          <a:bodyPr wrap="square" lIns="0" tIns="0" rIns="0" bIns="0" rtlCol="0" anchor="ctr"/>
          <a:lstStyle/>
          <a:p>
            <a:pPr indent="0" marL="0">
              <a:lnSpc>
                <a:spcPts val="1500"/>
              </a:lnSpc>
              <a:buNone/>
            </a:pPr>
            <a:r>
              <a:rPr lang="en-US" sz="1100" dirty="0">
                <a:solidFill>
                  <a:srgbClr val="5A6D7C"/>
                </a:solidFill>
                <a:latin typeface="Calibri" pitchFamily="34" charset="0"/>
                <a:ea typeface="Calibri" pitchFamily="34" charset="-122"/>
                <a:cs typeface="Calibri" pitchFamily="34" charset="-120"/>
              </a:rPr>
              <a:t>Automatizar solo la mensajería deja fuera al segmento con mayor intención de atención inmediata: adultos mayores, urgencia percibida, quien ve el número en la fachada.</a:t>
            </a:r>
            <a:endParaRPr lang="en-US" sz="1100" dirty="0"/>
          </a:p>
        </p:txBody>
      </p:sp>
      <p:sp>
        <p:nvSpPr>
          <p:cNvPr id="16" name="Shape 14"/>
          <p:cNvSpPr/>
          <p:nvPr/>
        </p:nvSpPr>
        <p:spPr>
          <a:xfrm>
            <a:off x="6263640" y="4791456"/>
            <a:ext cx="5349240" cy="1298448"/>
          </a:xfrm>
          <a:prstGeom prst="roundRect">
            <a:avLst>
              <a:gd name="adj" fmla="val 4225"/>
            </a:avLst>
          </a:prstGeom>
          <a:solidFill>
            <a:srgbClr val="FFFFFF"/>
          </a:solidFill>
          <a:ln w="12700">
            <a:solidFill>
              <a:srgbClr val="C9D8E3"/>
            </a:solidFill>
            <a:prstDash val="solid"/>
          </a:ln>
        </p:spPr>
      </p:sp>
      <p:sp>
        <p:nvSpPr>
          <p:cNvPr id="17" name="Text 15"/>
          <p:cNvSpPr/>
          <p:nvPr/>
        </p:nvSpPr>
        <p:spPr>
          <a:xfrm>
            <a:off x="6537960" y="4974336"/>
            <a:ext cx="480060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El sistema debe registrar todo contacto</a:t>
            </a:r>
            <a:endParaRPr lang="en-US" sz="1300" dirty="0"/>
          </a:p>
        </p:txBody>
      </p:sp>
      <p:sp>
        <p:nvSpPr>
          <p:cNvPr id="18" name="Text 16"/>
          <p:cNvSpPr/>
          <p:nvPr/>
        </p:nvSpPr>
        <p:spPr>
          <a:xfrm>
            <a:off x="6537960" y="5266944"/>
            <a:ext cx="4800600" cy="731520"/>
          </a:xfrm>
          <a:prstGeom prst="rect">
            <a:avLst/>
          </a:prstGeom>
          <a:noFill/>
          <a:ln/>
        </p:spPr>
        <p:txBody>
          <a:bodyPr wrap="square" lIns="0" tIns="0" rIns="0" bIns="0" rtlCol="0" anchor="ctr"/>
          <a:lstStyle/>
          <a:p>
            <a:pPr indent="0" marL="0">
              <a:lnSpc>
                <a:spcPts val="1500"/>
              </a:lnSpc>
              <a:buNone/>
            </a:pPr>
            <a:r>
              <a:rPr lang="en-US" sz="1100" dirty="0">
                <a:solidFill>
                  <a:srgbClr val="5A6D7C"/>
                </a:solidFill>
                <a:latin typeface="Calibri" pitchFamily="34" charset="0"/>
                <a:ea typeface="Calibri" pitchFamily="34" charset="-122"/>
                <a:cs typeface="Calibri" pitchFamily="34" charset="-120"/>
              </a:rPr>
              <a:t>Incluso el que no se convierte en cita. Solo así la magnitud del problema se vuelve medible y la clínica puede contrastar el resultado con su propia agenda.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03 · ELECCIÓN DEL PROCESO A AUTOMATIZAR</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La decisión más importante fue definir qué NO automatizamos</a:t>
            </a:r>
            <a:endParaRPr lang="en-US" sz="2700" dirty="0"/>
          </a:p>
        </p:txBody>
      </p:sp>
      <p:sp>
        <p:nvSpPr>
          <p:cNvPr id="4" name="Shape 2"/>
          <p:cNvSpPr/>
          <p:nvPr/>
        </p:nvSpPr>
        <p:spPr>
          <a:xfrm>
            <a:off x="548640" y="2029968"/>
            <a:ext cx="11064240" cy="548640"/>
          </a:xfrm>
          <a:prstGeom prst="roundRect">
            <a:avLst>
              <a:gd name="adj" fmla="val 10000"/>
            </a:avLst>
          </a:prstGeom>
          <a:solidFill>
            <a:srgbClr val="F5F8FB"/>
          </a:solidFill>
          <a:ln w="12700">
            <a:solidFill>
              <a:srgbClr val="DCE7EF"/>
            </a:solidFill>
            <a:prstDash val="solid"/>
          </a:ln>
        </p:spPr>
      </p:sp>
      <p:sp>
        <p:nvSpPr>
          <p:cNvPr id="5" name="Text 3"/>
          <p:cNvSpPr/>
          <p:nvPr/>
        </p:nvSpPr>
        <p:spPr>
          <a:xfrm>
            <a:off x="804672" y="2029968"/>
            <a:ext cx="4206240" cy="5486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Atención del primer contacto y agendamiento</a:t>
            </a:r>
            <a:endParaRPr lang="en-US" sz="1250" dirty="0"/>
          </a:p>
        </p:txBody>
      </p:sp>
      <p:sp>
        <p:nvSpPr>
          <p:cNvPr id="6" name="Text 4"/>
          <p:cNvSpPr/>
          <p:nvPr/>
        </p:nvSpPr>
        <p:spPr>
          <a:xfrm>
            <a:off x="5074920" y="2029968"/>
            <a:ext cx="4709160" cy="548640"/>
          </a:xfrm>
          <a:prstGeom prst="rect">
            <a:avLst/>
          </a:prstGeom>
          <a:noFill/>
          <a:ln/>
        </p:spPr>
        <p:txBody>
          <a:bodyPr wrap="square" lIns="0" tIns="0" rIns="0" bIns="0" rtlCol="0" anchor="ctr"/>
          <a:lstStyle/>
          <a:p>
            <a:pPr indent="0" marL="0">
              <a:buNone/>
            </a:pPr>
            <a:r>
              <a:rPr lang="en-US" sz="1050" dirty="0">
                <a:solidFill>
                  <a:srgbClr val="5A6D7C"/>
                </a:solidFill>
                <a:latin typeface="Calibri" pitchFamily="34" charset="0"/>
                <a:ea typeface="Calibri" pitchFamily="34" charset="-122"/>
                <a:cs typeface="Calibri" pitchFamily="34" charset="-120"/>
              </a:rPr>
              <a:t>Lenguaje natural, repetitivo, resultado verificable</a:t>
            </a:r>
            <a:endParaRPr lang="en-US" sz="1050" dirty="0"/>
          </a:p>
        </p:txBody>
      </p:sp>
      <p:sp>
        <p:nvSpPr>
          <p:cNvPr id="7" name="Shape 5"/>
          <p:cNvSpPr/>
          <p:nvPr/>
        </p:nvSpPr>
        <p:spPr>
          <a:xfrm>
            <a:off x="9555480" y="2148840"/>
            <a:ext cx="1874520" cy="310896"/>
          </a:xfrm>
          <a:prstGeom prst="roundRect">
            <a:avLst>
              <a:gd name="adj" fmla="val 50000"/>
            </a:avLst>
          </a:prstGeom>
          <a:solidFill>
            <a:srgbClr val="DFF3F0"/>
          </a:solidFill>
          <a:ln w="9525">
            <a:solidFill>
              <a:srgbClr val="046E66"/>
            </a:solidFill>
            <a:prstDash val="solid"/>
          </a:ln>
        </p:spPr>
      </p:sp>
      <p:sp>
        <p:nvSpPr>
          <p:cNvPr id="8" name="Text 6"/>
          <p:cNvSpPr/>
          <p:nvPr/>
        </p:nvSpPr>
        <p:spPr>
          <a:xfrm>
            <a:off x="9555480" y="2148840"/>
            <a:ext cx="1874520" cy="310896"/>
          </a:xfrm>
          <a:prstGeom prst="rect">
            <a:avLst/>
          </a:prstGeom>
          <a:noFill/>
          <a:ln/>
        </p:spPr>
        <p:txBody>
          <a:bodyPr wrap="square" lIns="0" tIns="0" rIns="0" bIns="0" rtlCol="0" anchor="ctr"/>
          <a:lstStyle/>
          <a:p>
            <a:pPr algn="ctr" indent="0" marL="0">
              <a:buNone/>
            </a:pPr>
            <a:r>
              <a:rPr lang="en-US" sz="950" b="1" spc="80" kern="0" dirty="0">
                <a:solidFill>
                  <a:srgbClr val="046E66"/>
                </a:solidFill>
                <a:latin typeface="Calibri" pitchFamily="34" charset="0"/>
                <a:ea typeface="Calibri" pitchFamily="34" charset="-122"/>
                <a:cs typeface="Calibri" pitchFamily="34" charset="-120"/>
              </a:rPr>
              <a:t>ELEGIDO</a:t>
            </a:r>
            <a:endParaRPr lang="en-US" sz="950" dirty="0"/>
          </a:p>
        </p:txBody>
      </p:sp>
      <p:sp>
        <p:nvSpPr>
          <p:cNvPr id="9" name="Shape 7"/>
          <p:cNvSpPr/>
          <p:nvPr/>
        </p:nvSpPr>
        <p:spPr>
          <a:xfrm>
            <a:off x="548640" y="2670048"/>
            <a:ext cx="11064240" cy="548640"/>
          </a:xfrm>
          <a:prstGeom prst="roundRect">
            <a:avLst>
              <a:gd name="adj" fmla="val 10000"/>
            </a:avLst>
          </a:prstGeom>
          <a:solidFill>
            <a:srgbClr val="FFFFFF"/>
          </a:solidFill>
          <a:ln w="12700">
            <a:solidFill>
              <a:srgbClr val="DCE7EF"/>
            </a:solidFill>
            <a:prstDash val="solid"/>
          </a:ln>
        </p:spPr>
      </p:sp>
      <p:sp>
        <p:nvSpPr>
          <p:cNvPr id="10" name="Text 8"/>
          <p:cNvSpPr/>
          <p:nvPr/>
        </p:nvSpPr>
        <p:spPr>
          <a:xfrm>
            <a:off x="804672" y="2670048"/>
            <a:ext cx="4206240" cy="5486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Confirmación de citas y reducción de inasistencia</a:t>
            </a:r>
            <a:endParaRPr lang="en-US" sz="1250" dirty="0"/>
          </a:p>
        </p:txBody>
      </p:sp>
      <p:sp>
        <p:nvSpPr>
          <p:cNvPr id="11" name="Text 9"/>
          <p:cNvSpPr/>
          <p:nvPr/>
        </p:nvSpPr>
        <p:spPr>
          <a:xfrm>
            <a:off x="5074920" y="2670048"/>
            <a:ext cx="4709160" cy="548640"/>
          </a:xfrm>
          <a:prstGeom prst="rect">
            <a:avLst/>
          </a:prstGeom>
          <a:noFill/>
          <a:ln/>
        </p:spPr>
        <p:txBody>
          <a:bodyPr wrap="square" lIns="0" tIns="0" rIns="0" bIns="0" rtlCol="0" anchor="ctr"/>
          <a:lstStyle/>
          <a:p>
            <a:pPr indent="0" marL="0">
              <a:buNone/>
            </a:pPr>
            <a:r>
              <a:rPr lang="en-US" sz="1050" dirty="0">
                <a:solidFill>
                  <a:srgbClr val="5A6D7C"/>
                </a:solidFill>
                <a:latin typeface="Calibri" pitchFamily="34" charset="0"/>
                <a:ea typeface="Calibri" pitchFamily="34" charset="-122"/>
                <a:cs typeface="Calibri" pitchFamily="34" charset="-120"/>
              </a:rPr>
              <a:t>Recupera capacidad instalada ya pagada</a:t>
            </a:r>
            <a:endParaRPr lang="en-US" sz="1050" dirty="0"/>
          </a:p>
        </p:txBody>
      </p:sp>
      <p:sp>
        <p:nvSpPr>
          <p:cNvPr id="12" name="Shape 10"/>
          <p:cNvSpPr/>
          <p:nvPr/>
        </p:nvSpPr>
        <p:spPr>
          <a:xfrm>
            <a:off x="9555480" y="2788920"/>
            <a:ext cx="1874520" cy="310896"/>
          </a:xfrm>
          <a:prstGeom prst="roundRect">
            <a:avLst>
              <a:gd name="adj" fmla="val 50000"/>
            </a:avLst>
          </a:prstGeom>
          <a:solidFill>
            <a:srgbClr val="DFF3F0"/>
          </a:solidFill>
          <a:ln w="9525">
            <a:solidFill>
              <a:srgbClr val="046E66"/>
            </a:solidFill>
            <a:prstDash val="solid"/>
          </a:ln>
        </p:spPr>
      </p:sp>
      <p:sp>
        <p:nvSpPr>
          <p:cNvPr id="13" name="Text 11"/>
          <p:cNvSpPr/>
          <p:nvPr/>
        </p:nvSpPr>
        <p:spPr>
          <a:xfrm>
            <a:off x="9555480" y="2788920"/>
            <a:ext cx="1874520" cy="310896"/>
          </a:xfrm>
          <a:prstGeom prst="rect">
            <a:avLst/>
          </a:prstGeom>
          <a:noFill/>
          <a:ln/>
        </p:spPr>
        <p:txBody>
          <a:bodyPr wrap="square" lIns="0" tIns="0" rIns="0" bIns="0" rtlCol="0" anchor="ctr"/>
          <a:lstStyle/>
          <a:p>
            <a:pPr algn="ctr" indent="0" marL="0">
              <a:buNone/>
            </a:pPr>
            <a:r>
              <a:rPr lang="en-US" sz="950" b="1" spc="80" kern="0" dirty="0">
                <a:solidFill>
                  <a:srgbClr val="046E66"/>
                </a:solidFill>
                <a:latin typeface="Calibri" pitchFamily="34" charset="0"/>
                <a:ea typeface="Calibri" pitchFamily="34" charset="-122"/>
                <a:cs typeface="Calibri" pitchFamily="34" charset="-120"/>
              </a:rPr>
              <a:t>ELEGIDO</a:t>
            </a:r>
            <a:endParaRPr lang="en-US" sz="950" dirty="0"/>
          </a:p>
        </p:txBody>
      </p:sp>
      <p:sp>
        <p:nvSpPr>
          <p:cNvPr id="14" name="Shape 12"/>
          <p:cNvSpPr/>
          <p:nvPr/>
        </p:nvSpPr>
        <p:spPr>
          <a:xfrm>
            <a:off x="548640" y="3310128"/>
            <a:ext cx="11064240" cy="548640"/>
          </a:xfrm>
          <a:prstGeom prst="roundRect">
            <a:avLst>
              <a:gd name="adj" fmla="val 10000"/>
            </a:avLst>
          </a:prstGeom>
          <a:solidFill>
            <a:srgbClr val="F5F8FB"/>
          </a:solidFill>
          <a:ln w="12700">
            <a:solidFill>
              <a:srgbClr val="DCE7EF"/>
            </a:solidFill>
            <a:prstDash val="solid"/>
          </a:ln>
        </p:spPr>
      </p:sp>
      <p:sp>
        <p:nvSpPr>
          <p:cNvPr id="15" name="Text 13"/>
          <p:cNvSpPr/>
          <p:nvPr/>
        </p:nvSpPr>
        <p:spPr>
          <a:xfrm>
            <a:off x="804672" y="3310128"/>
            <a:ext cx="4206240" cy="5486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Reactivación de pacientes inactivos</a:t>
            </a:r>
            <a:endParaRPr lang="en-US" sz="1250" dirty="0"/>
          </a:p>
        </p:txBody>
      </p:sp>
      <p:sp>
        <p:nvSpPr>
          <p:cNvPr id="16" name="Text 14"/>
          <p:cNvSpPr/>
          <p:nvPr/>
        </p:nvSpPr>
        <p:spPr>
          <a:xfrm>
            <a:off x="5074920" y="3310128"/>
            <a:ext cx="4709160" cy="548640"/>
          </a:xfrm>
          <a:prstGeom prst="rect">
            <a:avLst/>
          </a:prstGeom>
          <a:noFill/>
          <a:ln/>
        </p:spPr>
        <p:txBody>
          <a:bodyPr wrap="square" lIns="0" tIns="0" rIns="0" bIns="0" rtlCol="0" anchor="ctr"/>
          <a:lstStyle/>
          <a:p>
            <a:pPr indent="0" marL="0">
              <a:buNone/>
            </a:pPr>
            <a:r>
              <a:rPr lang="en-US" sz="1050" dirty="0">
                <a:solidFill>
                  <a:srgbClr val="5A6D7C"/>
                </a:solidFill>
                <a:latin typeface="Calibri" pitchFamily="34" charset="0"/>
                <a:ea typeface="Calibri" pitchFamily="34" charset="-122"/>
                <a:cs typeface="Calibri" pitchFamily="34" charset="-120"/>
              </a:rPr>
              <a:t>Exige consentimiento acreditado y validación legal</a:t>
            </a:r>
            <a:endParaRPr lang="en-US" sz="1050" dirty="0"/>
          </a:p>
        </p:txBody>
      </p:sp>
      <p:sp>
        <p:nvSpPr>
          <p:cNvPr id="17" name="Shape 15"/>
          <p:cNvSpPr/>
          <p:nvPr/>
        </p:nvSpPr>
        <p:spPr>
          <a:xfrm>
            <a:off x="9555480" y="3429000"/>
            <a:ext cx="1874520" cy="310896"/>
          </a:xfrm>
          <a:prstGeom prst="roundRect">
            <a:avLst>
              <a:gd name="adj" fmla="val 50000"/>
            </a:avLst>
          </a:prstGeom>
          <a:solidFill>
            <a:srgbClr val="FBF3DC"/>
          </a:solidFill>
          <a:ln w="9525">
            <a:solidFill>
              <a:srgbClr val="8A6D1F"/>
            </a:solidFill>
            <a:prstDash val="solid"/>
          </a:ln>
        </p:spPr>
      </p:sp>
      <p:sp>
        <p:nvSpPr>
          <p:cNvPr id="18" name="Text 16"/>
          <p:cNvSpPr/>
          <p:nvPr/>
        </p:nvSpPr>
        <p:spPr>
          <a:xfrm>
            <a:off x="9555480" y="3429000"/>
            <a:ext cx="1874520" cy="310896"/>
          </a:xfrm>
          <a:prstGeom prst="rect">
            <a:avLst/>
          </a:prstGeom>
          <a:noFill/>
          <a:ln/>
        </p:spPr>
        <p:txBody>
          <a:bodyPr wrap="square" lIns="0" tIns="0" rIns="0" bIns="0" rtlCol="0" anchor="ctr"/>
          <a:lstStyle/>
          <a:p>
            <a:pPr algn="ctr" indent="0" marL="0">
              <a:buNone/>
            </a:pPr>
            <a:r>
              <a:rPr lang="en-US" sz="950" b="1" spc="80" kern="0" dirty="0">
                <a:solidFill>
                  <a:srgbClr val="8A6D1F"/>
                </a:solidFill>
                <a:latin typeface="Calibri" pitchFamily="34" charset="0"/>
                <a:ea typeface="Calibri" pitchFamily="34" charset="-122"/>
                <a:cs typeface="Calibri" pitchFamily="34" charset="-120"/>
              </a:rPr>
              <a:t>DIFERIDO</a:t>
            </a:r>
            <a:endParaRPr lang="en-US" sz="950" dirty="0"/>
          </a:p>
        </p:txBody>
      </p:sp>
      <p:sp>
        <p:nvSpPr>
          <p:cNvPr id="19" name="Shape 17"/>
          <p:cNvSpPr/>
          <p:nvPr/>
        </p:nvSpPr>
        <p:spPr>
          <a:xfrm>
            <a:off x="548640" y="3950208"/>
            <a:ext cx="11064240" cy="548640"/>
          </a:xfrm>
          <a:prstGeom prst="roundRect">
            <a:avLst>
              <a:gd name="adj" fmla="val 10000"/>
            </a:avLst>
          </a:prstGeom>
          <a:solidFill>
            <a:srgbClr val="FFFFFF"/>
          </a:solidFill>
          <a:ln w="12700">
            <a:solidFill>
              <a:srgbClr val="DCE7EF"/>
            </a:solidFill>
            <a:prstDash val="solid"/>
          </a:ln>
        </p:spPr>
      </p:sp>
      <p:sp>
        <p:nvSpPr>
          <p:cNvPr id="20" name="Text 18"/>
          <p:cNvSpPr/>
          <p:nvPr/>
        </p:nvSpPr>
        <p:spPr>
          <a:xfrm>
            <a:off x="804672" y="3950208"/>
            <a:ext cx="4206240" cy="5486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Registro de historia clínica</a:t>
            </a:r>
            <a:endParaRPr lang="en-US" sz="1250" dirty="0"/>
          </a:p>
        </p:txBody>
      </p:sp>
      <p:sp>
        <p:nvSpPr>
          <p:cNvPr id="21" name="Text 19"/>
          <p:cNvSpPr/>
          <p:nvPr/>
        </p:nvSpPr>
        <p:spPr>
          <a:xfrm>
            <a:off x="5074920" y="3950208"/>
            <a:ext cx="4709160" cy="548640"/>
          </a:xfrm>
          <a:prstGeom prst="rect">
            <a:avLst/>
          </a:prstGeom>
          <a:noFill/>
          <a:ln/>
        </p:spPr>
        <p:txBody>
          <a:bodyPr wrap="square" lIns="0" tIns="0" rIns="0" bIns="0" rtlCol="0" anchor="ctr"/>
          <a:lstStyle/>
          <a:p>
            <a:pPr indent="0" marL="0">
              <a:buNone/>
            </a:pPr>
            <a:r>
              <a:rPr lang="en-US" sz="1050" dirty="0">
                <a:solidFill>
                  <a:srgbClr val="5A6D7C"/>
                </a:solidFill>
                <a:latin typeface="Calibri" pitchFamily="34" charset="0"/>
                <a:ea typeface="Calibri" pitchFamily="34" charset="-122"/>
                <a:cs typeface="Calibri" pitchFamily="34" charset="-120"/>
              </a:rPr>
              <a:t>Régimen normativo reforzado y responsabilidad profesional</a:t>
            </a:r>
            <a:endParaRPr lang="en-US" sz="1050" dirty="0"/>
          </a:p>
        </p:txBody>
      </p:sp>
      <p:sp>
        <p:nvSpPr>
          <p:cNvPr id="22" name="Shape 20"/>
          <p:cNvSpPr/>
          <p:nvPr/>
        </p:nvSpPr>
        <p:spPr>
          <a:xfrm>
            <a:off x="9555480" y="4069080"/>
            <a:ext cx="1874520" cy="310896"/>
          </a:xfrm>
          <a:prstGeom prst="roundRect">
            <a:avLst>
              <a:gd name="adj" fmla="val 50000"/>
            </a:avLst>
          </a:prstGeom>
          <a:solidFill>
            <a:srgbClr val="EDF1F4"/>
          </a:solidFill>
          <a:ln w="9525">
            <a:solidFill>
              <a:srgbClr val="5A6D7C"/>
            </a:solidFill>
            <a:prstDash val="solid"/>
          </a:ln>
        </p:spPr>
      </p:sp>
      <p:sp>
        <p:nvSpPr>
          <p:cNvPr id="23" name="Text 21"/>
          <p:cNvSpPr/>
          <p:nvPr/>
        </p:nvSpPr>
        <p:spPr>
          <a:xfrm>
            <a:off x="9555480" y="4069080"/>
            <a:ext cx="1874520" cy="310896"/>
          </a:xfrm>
          <a:prstGeom prst="rect">
            <a:avLst/>
          </a:prstGeom>
          <a:noFill/>
          <a:ln/>
        </p:spPr>
        <p:txBody>
          <a:bodyPr wrap="square" lIns="0" tIns="0" rIns="0" bIns="0" rtlCol="0" anchor="ctr"/>
          <a:lstStyle/>
          <a:p>
            <a:pPr algn="ctr" indent="0" marL="0">
              <a:buNone/>
            </a:pPr>
            <a:r>
              <a:rPr lang="en-US" sz="950" b="1" spc="80" kern="0" dirty="0">
                <a:solidFill>
                  <a:srgbClr val="5A6D7C"/>
                </a:solidFill>
                <a:latin typeface="Calibri" pitchFamily="34" charset="0"/>
                <a:ea typeface="Calibri" pitchFamily="34" charset="-122"/>
                <a:cs typeface="Calibri" pitchFamily="34" charset="-120"/>
              </a:rPr>
              <a:t>EXCLUIDO</a:t>
            </a:r>
            <a:endParaRPr lang="en-US" sz="950" dirty="0"/>
          </a:p>
        </p:txBody>
      </p:sp>
      <p:sp>
        <p:nvSpPr>
          <p:cNvPr id="24" name="Shape 22"/>
          <p:cNvSpPr/>
          <p:nvPr/>
        </p:nvSpPr>
        <p:spPr>
          <a:xfrm>
            <a:off x="548640" y="4590288"/>
            <a:ext cx="11064240" cy="548640"/>
          </a:xfrm>
          <a:prstGeom prst="roundRect">
            <a:avLst>
              <a:gd name="adj" fmla="val 10000"/>
            </a:avLst>
          </a:prstGeom>
          <a:solidFill>
            <a:srgbClr val="F5F8FB"/>
          </a:solidFill>
          <a:ln w="12700">
            <a:solidFill>
              <a:srgbClr val="DCE7EF"/>
            </a:solidFill>
            <a:prstDash val="solid"/>
          </a:ln>
        </p:spPr>
      </p:sp>
      <p:sp>
        <p:nvSpPr>
          <p:cNvPr id="25" name="Text 23"/>
          <p:cNvSpPr/>
          <p:nvPr/>
        </p:nvSpPr>
        <p:spPr>
          <a:xfrm>
            <a:off x="804672" y="4590288"/>
            <a:ext cx="4206240" cy="5486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Orientación clínica previa a la consulta</a:t>
            </a:r>
            <a:endParaRPr lang="en-US" sz="1250" dirty="0"/>
          </a:p>
        </p:txBody>
      </p:sp>
      <p:sp>
        <p:nvSpPr>
          <p:cNvPr id="26" name="Text 24"/>
          <p:cNvSpPr/>
          <p:nvPr/>
        </p:nvSpPr>
        <p:spPr>
          <a:xfrm>
            <a:off x="5074920" y="4590288"/>
            <a:ext cx="4709160" cy="548640"/>
          </a:xfrm>
          <a:prstGeom prst="rect">
            <a:avLst/>
          </a:prstGeom>
          <a:noFill/>
          <a:ln/>
        </p:spPr>
        <p:txBody>
          <a:bodyPr wrap="square" lIns="0" tIns="0" rIns="0" bIns="0" rtlCol="0" anchor="ctr"/>
          <a:lstStyle/>
          <a:p>
            <a:pPr indent="0" marL="0">
              <a:buNone/>
            </a:pPr>
            <a:r>
              <a:rPr lang="en-US" sz="1050" dirty="0">
                <a:solidFill>
                  <a:srgbClr val="5A6D7C"/>
                </a:solidFill>
                <a:latin typeface="Calibri" pitchFamily="34" charset="0"/>
                <a:ea typeface="Calibri" pitchFamily="34" charset="-122"/>
                <a:cs typeface="Calibri" pitchFamily="34" charset="-120"/>
              </a:rPr>
              <a:t>Constituye acto médico: el error no es contenible</a:t>
            </a:r>
            <a:endParaRPr lang="en-US" sz="1050" dirty="0"/>
          </a:p>
        </p:txBody>
      </p:sp>
      <p:sp>
        <p:nvSpPr>
          <p:cNvPr id="27" name="Shape 25"/>
          <p:cNvSpPr/>
          <p:nvPr/>
        </p:nvSpPr>
        <p:spPr>
          <a:xfrm>
            <a:off x="9555480" y="4709160"/>
            <a:ext cx="1874520" cy="310896"/>
          </a:xfrm>
          <a:prstGeom prst="roundRect">
            <a:avLst>
              <a:gd name="adj" fmla="val 50000"/>
            </a:avLst>
          </a:prstGeom>
          <a:solidFill>
            <a:srgbClr val="FBEDEC"/>
          </a:solidFill>
          <a:ln w="9525">
            <a:solidFill>
              <a:srgbClr val="B5352C"/>
            </a:solidFill>
            <a:prstDash val="solid"/>
          </a:ln>
        </p:spPr>
      </p:sp>
      <p:sp>
        <p:nvSpPr>
          <p:cNvPr id="28" name="Text 26"/>
          <p:cNvSpPr/>
          <p:nvPr/>
        </p:nvSpPr>
        <p:spPr>
          <a:xfrm>
            <a:off x="9555480" y="4709160"/>
            <a:ext cx="1874520" cy="310896"/>
          </a:xfrm>
          <a:prstGeom prst="rect">
            <a:avLst/>
          </a:prstGeom>
          <a:noFill/>
          <a:ln/>
        </p:spPr>
        <p:txBody>
          <a:bodyPr wrap="square" lIns="0" tIns="0" rIns="0" bIns="0" rtlCol="0" anchor="ctr"/>
          <a:lstStyle/>
          <a:p>
            <a:pPr algn="ctr" indent="0" marL="0">
              <a:buNone/>
            </a:pPr>
            <a:r>
              <a:rPr lang="en-US" sz="950" b="1" spc="80" kern="0" dirty="0">
                <a:solidFill>
                  <a:srgbClr val="B5352C"/>
                </a:solidFill>
                <a:latin typeface="Calibri" pitchFamily="34" charset="0"/>
                <a:ea typeface="Calibri" pitchFamily="34" charset="-122"/>
                <a:cs typeface="Calibri" pitchFamily="34" charset="-120"/>
              </a:rPr>
              <a:t>LÍNEA ROJA</a:t>
            </a:r>
            <a:endParaRPr lang="en-US" sz="950" dirty="0"/>
          </a:p>
        </p:txBody>
      </p:sp>
      <p:sp>
        <p:nvSpPr>
          <p:cNvPr id="29" name="Shape 27"/>
          <p:cNvSpPr/>
          <p:nvPr/>
        </p:nvSpPr>
        <p:spPr>
          <a:xfrm>
            <a:off x="548640" y="5394960"/>
            <a:ext cx="11064240" cy="868680"/>
          </a:xfrm>
          <a:prstGeom prst="roundRect">
            <a:avLst>
              <a:gd name="adj" fmla="val 6316"/>
            </a:avLst>
          </a:prstGeom>
          <a:solidFill>
            <a:srgbClr val="0E2A47"/>
          </a:solidFill>
          <a:ln w="12700">
            <a:solidFill>
              <a:srgbClr val="0E2A47"/>
            </a:solidFill>
            <a:prstDash val="solid"/>
          </a:ln>
        </p:spPr>
      </p:sp>
      <p:sp>
        <p:nvSpPr>
          <p:cNvPr id="30" name="Text 28"/>
          <p:cNvSpPr/>
          <p:nvPr/>
        </p:nvSpPr>
        <p:spPr>
          <a:xfrm>
            <a:off x="841248" y="5394960"/>
            <a:ext cx="10479024" cy="868680"/>
          </a:xfrm>
          <a:prstGeom prst="rect">
            <a:avLst/>
          </a:prstGeom>
          <a:noFill/>
          <a:ln/>
        </p:spPr>
        <p:txBody>
          <a:bodyPr wrap="square" lIns="0" tIns="0" rIns="0" bIns="0" rtlCol="0" anchor="ctr"/>
          <a:lstStyle/>
          <a:p>
            <a:pPr indent="0" marL="0">
              <a:buNone/>
            </a:pPr>
            <a:r>
              <a:rPr lang="en-US" sz="1250" dirty="0">
                <a:solidFill>
                  <a:srgbClr val="9DB3C4"/>
                </a:solidFill>
                <a:latin typeface="Calibri" pitchFamily="34" charset="0"/>
                <a:ea typeface="Calibri" pitchFamily="34" charset="-122"/>
                <a:cs typeface="Calibri" pitchFamily="34" charset="-120"/>
              </a:rPr>
              <a:t>La línea roja del proyecto:   </a:t>
            </a:r>
            <a:pPr indent="0" marL="0">
              <a:buNone/>
            </a:pPr>
            <a:r>
              <a:rPr lang="en-US" sz="1900" b="1" dirty="0">
                <a:solidFill>
                  <a:srgbClr val="FFFFFF"/>
                </a:solidFill>
                <a:latin typeface="Cambria" pitchFamily="34" charset="0"/>
                <a:ea typeface="Cambria" pitchFamily="34" charset="-122"/>
                <a:cs typeface="Cambria" pitchFamily="34" charset="-120"/>
              </a:rPr>
              <a:t>el sistema vende citas, no medicina.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04 · DISEÑO DE LA SOLUCIÓN</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El canal es un atributo del mensaje, no una propiedad del sistema</a:t>
            </a:r>
            <a:endParaRPr lang="en-US" sz="2700" dirty="0"/>
          </a:p>
        </p:txBody>
      </p:sp>
      <p:sp>
        <p:nvSpPr>
          <p:cNvPr id="4" name="Text 2"/>
          <p:cNvSpPr/>
          <p:nvPr/>
        </p:nvSpPr>
        <p:spPr>
          <a:xfrm>
            <a:off x="548640" y="1975104"/>
            <a:ext cx="2286000" cy="237744"/>
          </a:xfrm>
          <a:prstGeom prst="rect">
            <a:avLst/>
          </a:prstGeom>
          <a:noFill/>
          <a:ln/>
        </p:spPr>
        <p:txBody>
          <a:bodyPr wrap="square" lIns="0" tIns="0" rIns="0" bIns="0" rtlCol="0" anchor="ctr"/>
          <a:lstStyle/>
          <a:p>
            <a:pPr algn="ctr" indent="0" marL="0">
              <a:buNone/>
            </a:pPr>
            <a:r>
              <a:rPr lang="en-US" sz="950" b="1" spc="120" kern="0" dirty="0">
                <a:solidFill>
                  <a:srgbClr val="046E66"/>
                </a:solidFill>
                <a:latin typeface="Calibri" pitchFamily="34" charset="0"/>
                <a:ea typeface="Calibri" pitchFamily="34" charset="-122"/>
                <a:cs typeface="Calibri" pitchFamily="34" charset="-120"/>
              </a:rPr>
              <a:t>ENTRADA</a:t>
            </a:r>
            <a:endParaRPr lang="en-US" sz="950" dirty="0"/>
          </a:p>
        </p:txBody>
      </p:sp>
      <p:sp>
        <p:nvSpPr>
          <p:cNvPr id="5" name="Text 3"/>
          <p:cNvSpPr/>
          <p:nvPr/>
        </p:nvSpPr>
        <p:spPr>
          <a:xfrm>
            <a:off x="3154680" y="1975104"/>
            <a:ext cx="2377440" cy="237744"/>
          </a:xfrm>
          <a:prstGeom prst="rect">
            <a:avLst/>
          </a:prstGeom>
          <a:noFill/>
          <a:ln/>
        </p:spPr>
        <p:txBody>
          <a:bodyPr wrap="square" lIns="0" tIns="0" rIns="0" bIns="0" rtlCol="0" anchor="ctr"/>
          <a:lstStyle/>
          <a:p>
            <a:pPr algn="ctr" indent="0" marL="0">
              <a:buNone/>
            </a:pPr>
            <a:r>
              <a:rPr lang="en-US" sz="950" b="1" spc="120" kern="0" dirty="0">
                <a:solidFill>
                  <a:srgbClr val="046E66"/>
                </a:solidFill>
                <a:latin typeface="Calibri" pitchFamily="34" charset="0"/>
                <a:ea typeface="Calibri" pitchFamily="34" charset="-122"/>
                <a:cs typeface="Calibri" pitchFamily="34" charset="-120"/>
              </a:rPr>
              <a:t>ADAPTADORES</a:t>
            </a:r>
            <a:endParaRPr lang="en-US" sz="950" dirty="0"/>
          </a:p>
        </p:txBody>
      </p:sp>
      <p:sp>
        <p:nvSpPr>
          <p:cNvPr id="6" name="Text 4"/>
          <p:cNvSpPr/>
          <p:nvPr/>
        </p:nvSpPr>
        <p:spPr>
          <a:xfrm>
            <a:off x="5852160" y="1975104"/>
            <a:ext cx="3017520" cy="237744"/>
          </a:xfrm>
          <a:prstGeom prst="rect">
            <a:avLst/>
          </a:prstGeom>
          <a:noFill/>
          <a:ln/>
        </p:spPr>
        <p:txBody>
          <a:bodyPr wrap="square" lIns="0" tIns="0" rIns="0" bIns="0" rtlCol="0" anchor="ctr"/>
          <a:lstStyle/>
          <a:p>
            <a:pPr algn="ctr" indent="0" marL="0">
              <a:buNone/>
            </a:pPr>
            <a:r>
              <a:rPr lang="en-US" sz="950" b="1" spc="120" kern="0" dirty="0">
                <a:solidFill>
                  <a:srgbClr val="046E66"/>
                </a:solidFill>
                <a:latin typeface="Calibri" pitchFamily="34" charset="0"/>
                <a:ea typeface="Calibri" pitchFamily="34" charset="-122"/>
                <a:cs typeface="Calibri" pitchFamily="34" charset="-120"/>
              </a:rPr>
              <a:t>NÚCLEO ÚNICO</a:t>
            </a:r>
            <a:endParaRPr lang="en-US" sz="950" dirty="0"/>
          </a:p>
        </p:txBody>
      </p:sp>
      <p:sp>
        <p:nvSpPr>
          <p:cNvPr id="7" name="Text 5"/>
          <p:cNvSpPr/>
          <p:nvPr/>
        </p:nvSpPr>
        <p:spPr>
          <a:xfrm>
            <a:off x="9189720" y="1975104"/>
            <a:ext cx="2423160" cy="237744"/>
          </a:xfrm>
          <a:prstGeom prst="rect">
            <a:avLst/>
          </a:prstGeom>
          <a:noFill/>
          <a:ln/>
        </p:spPr>
        <p:txBody>
          <a:bodyPr wrap="square" lIns="0" tIns="0" rIns="0" bIns="0" rtlCol="0" anchor="ctr"/>
          <a:lstStyle/>
          <a:p>
            <a:pPr algn="ctr" indent="0" marL="0">
              <a:buNone/>
            </a:pPr>
            <a:r>
              <a:rPr lang="en-US" sz="950" b="1" spc="120" kern="0" dirty="0">
                <a:solidFill>
                  <a:srgbClr val="046E66"/>
                </a:solidFill>
                <a:latin typeface="Calibri" pitchFamily="34" charset="0"/>
                <a:ea typeface="Calibri" pitchFamily="34" charset="-122"/>
                <a:cs typeface="Calibri" pitchFamily="34" charset="-120"/>
              </a:rPr>
              <a:t>SISTEMAS</a:t>
            </a:r>
            <a:endParaRPr lang="en-US" sz="950" dirty="0"/>
          </a:p>
        </p:txBody>
      </p:sp>
      <p:sp>
        <p:nvSpPr>
          <p:cNvPr id="8" name="Shape 6"/>
          <p:cNvSpPr/>
          <p:nvPr/>
        </p:nvSpPr>
        <p:spPr>
          <a:xfrm>
            <a:off x="548640" y="2304288"/>
            <a:ext cx="2286000" cy="914400"/>
          </a:xfrm>
          <a:prstGeom prst="roundRect">
            <a:avLst>
              <a:gd name="adj" fmla="val 6000"/>
            </a:avLst>
          </a:prstGeom>
          <a:solidFill>
            <a:srgbClr val="F5F8FB"/>
          </a:solidFill>
          <a:ln w="12700">
            <a:solidFill>
              <a:srgbClr val="DCE7EF"/>
            </a:solidFill>
            <a:prstDash val="solid"/>
          </a:ln>
        </p:spPr>
      </p:sp>
      <p:sp>
        <p:nvSpPr>
          <p:cNvPr id="9" name="Text 7"/>
          <p:cNvSpPr/>
          <p:nvPr/>
        </p:nvSpPr>
        <p:spPr>
          <a:xfrm>
            <a:off x="685800" y="2487168"/>
            <a:ext cx="2011680" cy="256032"/>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WhatsApp</a:t>
            </a:r>
            <a:endParaRPr lang="en-US" sz="1250" dirty="0"/>
          </a:p>
        </p:txBody>
      </p:sp>
      <p:sp>
        <p:nvSpPr>
          <p:cNvPr id="10" name="Text 8"/>
          <p:cNvSpPr/>
          <p:nvPr/>
        </p:nvSpPr>
        <p:spPr>
          <a:xfrm>
            <a:off x="685800" y="2761488"/>
            <a:ext cx="2011680" cy="365760"/>
          </a:xfrm>
          <a:prstGeom prst="rect">
            <a:avLst/>
          </a:prstGeom>
          <a:noFill/>
          <a:ln/>
        </p:spPr>
        <p:txBody>
          <a:bodyPr wrap="square" lIns="0" tIns="0" rIns="0" bIns="0" rtlCol="0" anchor="ctr"/>
          <a:lstStyle/>
          <a:p>
            <a:pPr algn="ctr" indent="0" marL="0">
              <a:buNone/>
            </a:pPr>
            <a:r>
              <a:rPr lang="en-US" sz="950" dirty="0">
                <a:solidFill>
                  <a:srgbClr val="5A6D7C"/>
                </a:solidFill>
                <a:latin typeface="Calibri" pitchFamily="34" charset="0"/>
                <a:ea typeface="Calibri" pitchFamily="34" charset="-122"/>
                <a:cs typeface="Calibri" pitchFamily="34" charset="-120"/>
              </a:rPr>
              <a:t>Mensajeria de texto</a:t>
            </a:r>
            <a:endParaRPr lang="en-US" sz="950" dirty="0"/>
          </a:p>
        </p:txBody>
      </p:sp>
      <p:sp>
        <p:nvSpPr>
          <p:cNvPr id="11" name="Shape 9"/>
          <p:cNvSpPr/>
          <p:nvPr/>
        </p:nvSpPr>
        <p:spPr>
          <a:xfrm>
            <a:off x="548640" y="3401568"/>
            <a:ext cx="2286000" cy="914400"/>
          </a:xfrm>
          <a:prstGeom prst="roundRect">
            <a:avLst>
              <a:gd name="adj" fmla="val 6000"/>
            </a:avLst>
          </a:prstGeom>
          <a:solidFill>
            <a:srgbClr val="F5F8FB"/>
          </a:solidFill>
          <a:ln w="12700">
            <a:solidFill>
              <a:srgbClr val="DCE7EF"/>
            </a:solidFill>
            <a:prstDash val="solid"/>
          </a:ln>
        </p:spPr>
      </p:sp>
      <p:sp>
        <p:nvSpPr>
          <p:cNvPr id="12" name="Text 10"/>
          <p:cNvSpPr/>
          <p:nvPr/>
        </p:nvSpPr>
        <p:spPr>
          <a:xfrm>
            <a:off x="685800" y="3584448"/>
            <a:ext cx="2011680" cy="256032"/>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Teléfono</a:t>
            </a:r>
            <a:endParaRPr lang="en-US" sz="1250" dirty="0"/>
          </a:p>
        </p:txBody>
      </p:sp>
      <p:sp>
        <p:nvSpPr>
          <p:cNvPr id="13" name="Text 11"/>
          <p:cNvSpPr/>
          <p:nvPr/>
        </p:nvSpPr>
        <p:spPr>
          <a:xfrm>
            <a:off x="685800" y="3858768"/>
            <a:ext cx="2011680" cy="365760"/>
          </a:xfrm>
          <a:prstGeom prst="rect">
            <a:avLst/>
          </a:prstGeom>
          <a:noFill/>
          <a:ln/>
        </p:spPr>
        <p:txBody>
          <a:bodyPr wrap="square" lIns="0" tIns="0" rIns="0" bIns="0" rtlCol="0" anchor="ctr"/>
          <a:lstStyle/>
          <a:p>
            <a:pPr algn="ctr" indent="0" marL="0">
              <a:buNone/>
            </a:pPr>
            <a:r>
              <a:rPr lang="en-US" sz="950" dirty="0">
                <a:solidFill>
                  <a:srgbClr val="5A6D7C"/>
                </a:solidFill>
                <a:latin typeface="Calibri" pitchFamily="34" charset="0"/>
                <a:ea typeface="Calibri" pitchFamily="34" charset="-122"/>
                <a:cs typeface="Calibri" pitchFamily="34" charset="-120"/>
              </a:rPr>
              <a:t>Llamada de voz</a:t>
            </a:r>
            <a:endParaRPr lang="en-US" sz="950" dirty="0"/>
          </a:p>
        </p:txBody>
      </p:sp>
      <p:sp>
        <p:nvSpPr>
          <p:cNvPr id="14" name="Shape 12"/>
          <p:cNvSpPr/>
          <p:nvPr/>
        </p:nvSpPr>
        <p:spPr>
          <a:xfrm>
            <a:off x="3154680" y="2304288"/>
            <a:ext cx="2377440" cy="914400"/>
          </a:xfrm>
          <a:prstGeom prst="roundRect">
            <a:avLst>
              <a:gd name="adj" fmla="val 6000"/>
            </a:avLst>
          </a:prstGeom>
          <a:solidFill>
            <a:srgbClr val="FFFFFF"/>
          </a:solidFill>
          <a:ln w="12700">
            <a:solidFill>
              <a:srgbClr val="9FBACD"/>
            </a:solidFill>
            <a:prstDash val="solid"/>
          </a:ln>
        </p:spPr>
      </p:sp>
      <p:sp>
        <p:nvSpPr>
          <p:cNvPr id="15" name="Text 13"/>
          <p:cNvSpPr/>
          <p:nvPr/>
        </p:nvSpPr>
        <p:spPr>
          <a:xfrm>
            <a:off x="3246120" y="2487168"/>
            <a:ext cx="2194560" cy="256032"/>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WhatsApp Adapter</a:t>
            </a:r>
            <a:endParaRPr lang="en-US" sz="1250" dirty="0"/>
          </a:p>
        </p:txBody>
      </p:sp>
      <p:sp>
        <p:nvSpPr>
          <p:cNvPr id="16" name="Text 14"/>
          <p:cNvSpPr/>
          <p:nvPr/>
        </p:nvSpPr>
        <p:spPr>
          <a:xfrm>
            <a:off x="3246120" y="2761488"/>
            <a:ext cx="2194560" cy="365760"/>
          </a:xfrm>
          <a:prstGeom prst="rect">
            <a:avLst/>
          </a:prstGeom>
          <a:noFill/>
          <a:ln/>
        </p:spPr>
        <p:txBody>
          <a:bodyPr wrap="square" lIns="0" tIns="0" rIns="0" bIns="0" rtlCol="0" anchor="ctr"/>
          <a:lstStyle/>
          <a:p>
            <a:pPr algn="ctr" indent="0" marL="0">
              <a:buNone/>
            </a:pPr>
            <a:r>
              <a:rPr lang="en-US" sz="950" dirty="0">
                <a:solidFill>
                  <a:srgbClr val="5A6D7C"/>
                </a:solidFill>
                <a:latin typeface="Calibri" pitchFamily="34" charset="0"/>
                <a:ea typeface="Calibri" pitchFamily="34" charset="-122"/>
                <a:cs typeface="Calibri" pitchFamily="34" charset="-120"/>
              </a:rPr>
              <a:t>BSP + orquestación n8n</a:t>
            </a:r>
            <a:endParaRPr lang="en-US" sz="950" dirty="0"/>
          </a:p>
        </p:txBody>
      </p:sp>
      <p:sp>
        <p:nvSpPr>
          <p:cNvPr id="17" name="Shape 15"/>
          <p:cNvSpPr/>
          <p:nvPr/>
        </p:nvSpPr>
        <p:spPr>
          <a:xfrm>
            <a:off x="3154680" y="3401568"/>
            <a:ext cx="2377440" cy="914400"/>
          </a:xfrm>
          <a:prstGeom prst="roundRect">
            <a:avLst>
              <a:gd name="adj" fmla="val 6000"/>
            </a:avLst>
          </a:prstGeom>
          <a:solidFill>
            <a:srgbClr val="FFFFFF"/>
          </a:solidFill>
          <a:ln w="12700">
            <a:solidFill>
              <a:srgbClr val="9FBACD"/>
            </a:solidFill>
            <a:prstDash val="solid"/>
          </a:ln>
        </p:spPr>
      </p:sp>
      <p:sp>
        <p:nvSpPr>
          <p:cNvPr id="18" name="Text 16"/>
          <p:cNvSpPr/>
          <p:nvPr/>
        </p:nvSpPr>
        <p:spPr>
          <a:xfrm>
            <a:off x="3246120" y="3584448"/>
            <a:ext cx="2194560" cy="256032"/>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Voice Gateway</a:t>
            </a:r>
            <a:endParaRPr lang="en-US" sz="1250" dirty="0"/>
          </a:p>
        </p:txBody>
      </p:sp>
      <p:sp>
        <p:nvSpPr>
          <p:cNvPr id="19" name="Text 17"/>
          <p:cNvSpPr/>
          <p:nvPr/>
        </p:nvSpPr>
        <p:spPr>
          <a:xfrm>
            <a:off x="3246120" y="3858768"/>
            <a:ext cx="2194560" cy="365760"/>
          </a:xfrm>
          <a:prstGeom prst="rect">
            <a:avLst/>
          </a:prstGeom>
          <a:noFill/>
          <a:ln/>
        </p:spPr>
        <p:txBody>
          <a:bodyPr wrap="square" lIns="0" tIns="0" rIns="0" bIns="0" rtlCol="0" anchor="ctr"/>
          <a:lstStyle/>
          <a:p>
            <a:pPr algn="ctr" indent="0" marL="0">
              <a:buNone/>
            </a:pPr>
            <a:r>
              <a:rPr lang="en-US" sz="950" dirty="0">
                <a:solidFill>
                  <a:srgbClr val="5A6D7C"/>
                </a:solidFill>
                <a:latin typeface="Calibri" pitchFamily="34" charset="0"/>
                <a:ea typeface="Calibri" pitchFamily="34" charset="-122"/>
                <a:cs typeface="Calibri" pitchFamily="34" charset="-120"/>
              </a:rPr>
              <a:t>ElevenAgents · Custom LLM</a:t>
            </a:r>
            <a:endParaRPr lang="en-US" sz="950" dirty="0"/>
          </a:p>
        </p:txBody>
      </p:sp>
      <p:sp>
        <p:nvSpPr>
          <p:cNvPr id="20" name="Shape 18"/>
          <p:cNvSpPr/>
          <p:nvPr/>
        </p:nvSpPr>
        <p:spPr>
          <a:xfrm>
            <a:off x="2862072" y="2761488"/>
            <a:ext cx="256032" cy="0"/>
          </a:xfrm>
          <a:prstGeom prst="line">
            <a:avLst/>
          </a:prstGeom>
          <a:noFill/>
          <a:ln w="25400">
            <a:solidFill>
              <a:srgbClr val="00A896"/>
            </a:solidFill>
            <a:prstDash val="solid"/>
            <a:tailEnd type="triangle"/>
          </a:ln>
        </p:spPr>
      </p:sp>
      <p:sp>
        <p:nvSpPr>
          <p:cNvPr id="21" name="Shape 19"/>
          <p:cNvSpPr/>
          <p:nvPr/>
        </p:nvSpPr>
        <p:spPr>
          <a:xfrm>
            <a:off x="2862072" y="3858768"/>
            <a:ext cx="256032" cy="0"/>
          </a:xfrm>
          <a:prstGeom prst="line">
            <a:avLst/>
          </a:prstGeom>
          <a:noFill/>
          <a:ln w="25400">
            <a:solidFill>
              <a:srgbClr val="00A896"/>
            </a:solidFill>
            <a:prstDash val="solid"/>
            <a:tailEnd type="triangle"/>
          </a:ln>
        </p:spPr>
      </p:sp>
      <p:sp>
        <p:nvSpPr>
          <p:cNvPr id="22" name="Shape 20"/>
          <p:cNvSpPr/>
          <p:nvPr/>
        </p:nvSpPr>
        <p:spPr>
          <a:xfrm>
            <a:off x="5559552" y="2761488"/>
            <a:ext cx="256032" cy="0"/>
          </a:xfrm>
          <a:prstGeom prst="line">
            <a:avLst/>
          </a:prstGeom>
          <a:noFill/>
          <a:ln w="25400">
            <a:solidFill>
              <a:srgbClr val="00A896"/>
            </a:solidFill>
            <a:prstDash val="solid"/>
            <a:tailEnd type="triangle"/>
          </a:ln>
        </p:spPr>
      </p:sp>
      <p:sp>
        <p:nvSpPr>
          <p:cNvPr id="23" name="Shape 21"/>
          <p:cNvSpPr/>
          <p:nvPr/>
        </p:nvSpPr>
        <p:spPr>
          <a:xfrm>
            <a:off x="5559552" y="3858768"/>
            <a:ext cx="256032" cy="0"/>
          </a:xfrm>
          <a:prstGeom prst="line">
            <a:avLst/>
          </a:prstGeom>
          <a:noFill/>
          <a:ln w="25400">
            <a:solidFill>
              <a:srgbClr val="00A896"/>
            </a:solidFill>
            <a:prstDash val="solid"/>
            <a:tailEnd type="triangle"/>
          </a:ln>
        </p:spPr>
      </p:sp>
      <p:sp>
        <p:nvSpPr>
          <p:cNvPr id="24" name="Shape 22"/>
          <p:cNvSpPr/>
          <p:nvPr/>
        </p:nvSpPr>
        <p:spPr>
          <a:xfrm>
            <a:off x="5852160" y="2304288"/>
            <a:ext cx="3017520" cy="2011680"/>
          </a:xfrm>
          <a:prstGeom prst="roundRect">
            <a:avLst>
              <a:gd name="adj" fmla="val 2727"/>
            </a:avLst>
          </a:prstGeom>
          <a:solidFill>
            <a:srgbClr val="0E2A47"/>
          </a:solidFill>
          <a:ln w="12700">
            <a:solidFill>
              <a:srgbClr val="0E2A47"/>
            </a:solidFill>
            <a:prstDash val="solid"/>
          </a:ln>
          <a:effectLst>
            <a:outerShdw sx="100000" sy="100000" kx="0" ky="0" algn="bl" rotWithShape="0" blurRad="101600" dist="25400" dir="5400000">
              <a:srgbClr val="8AA0B0">
                <a:alpha val="22000"/>
              </a:srgbClr>
            </a:outerShdw>
          </a:effectLst>
        </p:spPr>
      </p:sp>
      <p:sp>
        <p:nvSpPr>
          <p:cNvPr id="25" name="Text 23"/>
          <p:cNvSpPr/>
          <p:nvPr/>
        </p:nvSpPr>
        <p:spPr>
          <a:xfrm>
            <a:off x="5989320" y="2487168"/>
            <a:ext cx="2743200" cy="256032"/>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CONVERSATION SERVICE</a:t>
            </a:r>
            <a:endParaRPr lang="en-US" sz="1200" dirty="0"/>
          </a:p>
        </p:txBody>
      </p:sp>
      <p:sp>
        <p:nvSpPr>
          <p:cNvPr id="26" name="Text 24"/>
          <p:cNvSpPr/>
          <p:nvPr/>
        </p:nvSpPr>
        <p:spPr>
          <a:xfrm>
            <a:off x="5989320" y="2816352"/>
            <a:ext cx="2743200" cy="914400"/>
          </a:xfrm>
          <a:prstGeom prst="rect">
            <a:avLst/>
          </a:prstGeom>
          <a:noFill/>
          <a:ln/>
        </p:spPr>
        <p:txBody>
          <a:bodyPr wrap="square" lIns="0" tIns="0" rIns="0" bIns="0" rtlCol="0" anchor="ctr"/>
          <a:lstStyle/>
          <a:p>
            <a:pPr algn="ctr" indent="0" marL="0">
              <a:lnSpc>
                <a:spcPts val="1700"/>
              </a:lnSpc>
              <a:buNone/>
            </a:pPr>
            <a:r>
              <a:rPr lang="en-US" sz="1100" dirty="0">
                <a:solidFill>
                  <a:srgbClr val="C6D6E2"/>
                </a:solidFill>
                <a:latin typeface="Calibri" pitchFamily="34" charset="0"/>
                <a:ea typeface="Calibri" pitchFamily="34" charset="-122"/>
                <a:cs typeface="Calibri" pitchFamily="34" charset="-120"/>
              </a:rPr>
              <a:t>Un solo prompt maestro</a:t>
            </a:r>
            <a:endParaRPr lang="en-US" sz="1100" dirty="0"/>
          </a:p>
          <a:p>
            <a:pPr algn="ctr" indent="0" marL="0">
              <a:lnSpc>
                <a:spcPts val="1700"/>
              </a:lnSpc>
              <a:buNone/>
            </a:pPr>
            <a:r>
              <a:rPr lang="en-US" sz="1100" dirty="0">
                <a:solidFill>
                  <a:srgbClr val="C6D6E2"/>
                </a:solidFill>
                <a:latin typeface="Calibri" pitchFamily="34" charset="0"/>
                <a:ea typeface="Calibri" pitchFamily="34" charset="-122"/>
                <a:cs typeface="Calibri" pitchFamily="34" charset="-120"/>
              </a:rPr>
              <a:t>Una sola base de conocimiento</a:t>
            </a:r>
            <a:endParaRPr lang="en-US" sz="1100" dirty="0"/>
          </a:p>
          <a:p>
            <a:pPr algn="ctr" indent="0" marL="0">
              <a:lnSpc>
                <a:spcPts val="1700"/>
              </a:lnSpc>
              <a:buNone/>
            </a:pPr>
            <a:r>
              <a:rPr lang="en-US" sz="1100" dirty="0">
                <a:solidFill>
                  <a:srgbClr val="C6D6E2"/>
                </a:solidFill>
                <a:latin typeface="Calibri" pitchFamily="34" charset="0"/>
                <a:ea typeface="Calibri" pitchFamily="34" charset="-122"/>
                <a:cs typeface="Calibri" pitchFamily="34" charset="-120"/>
              </a:rPr>
              <a:t>Un solo set de herramientas</a:t>
            </a:r>
            <a:endParaRPr lang="en-US" sz="1100" dirty="0"/>
          </a:p>
          <a:p>
            <a:pPr algn="ctr" indent="0" marL="0">
              <a:lnSpc>
                <a:spcPts val="1700"/>
              </a:lnSpc>
              <a:buNone/>
            </a:pPr>
            <a:r>
              <a:rPr lang="en-US" sz="1100" dirty="0">
                <a:solidFill>
                  <a:srgbClr val="C6D6E2"/>
                </a:solidFill>
                <a:latin typeface="Calibri" pitchFamily="34" charset="0"/>
                <a:ea typeface="Calibri" pitchFamily="34" charset="-122"/>
                <a:cs typeface="Calibri" pitchFamily="34" charset="-120"/>
              </a:rPr>
              <a:t>Un solo régimen de auditoría</a:t>
            </a:r>
            <a:endParaRPr lang="en-US" sz="1100" dirty="0"/>
          </a:p>
        </p:txBody>
      </p:sp>
      <p:sp>
        <p:nvSpPr>
          <p:cNvPr id="27" name="Text 25"/>
          <p:cNvSpPr/>
          <p:nvPr/>
        </p:nvSpPr>
        <p:spPr>
          <a:xfrm>
            <a:off x="5989320" y="3877056"/>
            <a:ext cx="2743200" cy="274320"/>
          </a:xfrm>
          <a:prstGeom prst="rect">
            <a:avLst/>
          </a:prstGeom>
          <a:noFill/>
          <a:ln/>
        </p:spPr>
        <p:txBody>
          <a:bodyPr wrap="square" lIns="0" tIns="0" rIns="0" bIns="0" rtlCol="0" anchor="ctr"/>
          <a:lstStyle/>
          <a:p>
            <a:pPr algn="ctr" indent="0" marL="0">
              <a:buNone/>
            </a:pPr>
            <a:r>
              <a:rPr lang="en-US" sz="1050" b="1" i="1" dirty="0">
                <a:solidFill>
                  <a:srgbClr val="00A896"/>
                </a:solidFill>
                <a:latin typeface="Calibri" pitchFamily="34" charset="0"/>
                <a:ea typeface="Calibri" pitchFamily="34" charset="-122"/>
                <a:cs typeface="Calibri" pitchFamily="34" charset="-120"/>
              </a:rPr>
              <a:t>Claude · RAG · Function calling</a:t>
            </a:r>
            <a:endParaRPr lang="en-US" sz="1050" dirty="0"/>
          </a:p>
        </p:txBody>
      </p:sp>
      <p:sp>
        <p:nvSpPr>
          <p:cNvPr id="28" name="Shape 26"/>
          <p:cNvSpPr/>
          <p:nvPr/>
        </p:nvSpPr>
        <p:spPr>
          <a:xfrm>
            <a:off x="8897112" y="3310128"/>
            <a:ext cx="256032" cy="0"/>
          </a:xfrm>
          <a:prstGeom prst="line">
            <a:avLst/>
          </a:prstGeom>
          <a:noFill/>
          <a:ln w="25400">
            <a:solidFill>
              <a:srgbClr val="00A896"/>
            </a:solidFill>
            <a:prstDash val="solid"/>
            <a:tailEnd type="triangle"/>
          </a:ln>
        </p:spPr>
      </p:sp>
      <p:sp>
        <p:nvSpPr>
          <p:cNvPr id="29" name="Shape 27"/>
          <p:cNvSpPr/>
          <p:nvPr/>
        </p:nvSpPr>
        <p:spPr>
          <a:xfrm>
            <a:off x="9189720" y="2304288"/>
            <a:ext cx="2423160" cy="566928"/>
          </a:xfrm>
          <a:prstGeom prst="roundRect">
            <a:avLst>
              <a:gd name="adj" fmla="val 9677"/>
            </a:avLst>
          </a:prstGeom>
          <a:solidFill>
            <a:srgbClr val="F5F8FB"/>
          </a:solidFill>
          <a:ln w="12700">
            <a:solidFill>
              <a:srgbClr val="DCE7EF"/>
            </a:solidFill>
            <a:prstDash val="solid"/>
          </a:ln>
        </p:spPr>
      </p:sp>
      <p:sp>
        <p:nvSpPr>
          <p:cNvPr id="30" name="Text 28"/>
          <p:cNvSpPr/>
          <p:nvPr/>
        </p:nvSpPr>
        <p:spPr>
          <a:xfrm>
            <a:off x="9281160" y="2377440"/>
            <a:ext cx="2240280" cy="219456"/>
          </a:xfrm>
          <a:prstGeom prst="rect">
            <a:avLst/>
          </a:prstGeom>
          <a:noFill/>
          <a:ln/>
        </p:spPr>
        <p:txBody>
          <a:bodyPr wrap="square" lIns="0" tIns="0" rIns="0" bIns="0" rtlCol="0" anchor="ctr"/>
          <a:lstStyle/>
          <a:p>
            <a:pPr algn="ctr" indent="0" marL="0">
              <a:buNone/>
            </a:pPr>
            <a:r>
              <a:rPr lang="en-US" sz="1100" b="1" dirty="0">
                <a:solidFill>
                  <a:srgbClr val="0E2A47"/>
                </a:solidFill>
                <a:latin typeface="Calibri" pitchFamily="34" charset="0"/>
                <a:ea typeface="Calibri" pitchFamily="34" charset="-122"/>
                <a:cs typeface="Calibri" pitchFamily="34" charset="-120"/>
              </a:rPr>
              <a:t>Google Calendar</a:t>
            </a:r>
            <a:endParaRPr lang="en-US" sz="1100" dirty="0"/>
          </a:p>
        </p:txBody>
      </p:sp>
      <p:sp>
        <p:nvSpPr>
          <p:cNvPr id="31" name="Text 29"/>
          <p:cNvSpPr/>
          <p:nvPr/>
        </p:nvSpPr>
        <p:spPr>
          <a:xfrm>
            <a:off x="9281160" y="2596896"/>
            <a:ext cx="2240280" cy="219456"/>
          </a:xfrm>
          <a:prstGeom prst="rect">
            <a:avLst/>
          </a:prstGeom>
          <a:noFill/>
          <a:ln/>
        </p:spPr>
        <p:txBody>
          <a:bodyPr wrap="square" lIns="0" tIns="0" rIns="0" bIns="0" rtlCol="0" anchor="ctr"/>
          <a:lstStyle/>
          <a:p>
            <a:pPr algn="ctr" indent="0" marL="0">
              <a:buNone/>
            </a:pPr>
            <a:r>
              <a:rPr lang="en-US" sz="900" dirty="0">
                <a:solidFill>
                  <a:srgbClr val="5A6D7C"/>
                </a:solidFill>
                <a:latin typeface="Calibri" pitchFamily="34" charset="0"/>
                <a:ea typeface="Calibri" pitchFamily="34" charset="-122"/>
                <a:cs typeface="Calibri" pitchFamily="34" charset="-120"/>
              </a:rPr>
              <a:t>Agenda real de la clínica</a:t>
            </a:r>
            <a:endParaRPr lang="en-US" sz="900" dirty="0"/>
          </a:p>
        </p:txBody>
      </p:sp>
      <p:sp>
        <p:nvSpPr>
          <p:cNvPr id="32" name="Shape 30"/>
          <p:cNvSpPr/>
          <p:nvPr/>
        </p:nvSpPr>
        <p:spPr>
          <a:xfrm>
            <a:off x="9189720" y="3026664"/>
            <a:ext cx="2423160" cy="566928"/>
          </a:xfrm>
          <a:prstGeom prst="roundRect">
            <a:avLst>
              <a:gd name="adj" fmla="val 9677"/>
            </a:avLst>
          </a:prstGeom>
          <a:solidFill>
            <a:srgbClr val="F5F8FB"/>
          </a:solidFill>
          <a:ln w="12700">
            <a:solidFill>
              <a:srgbClr val="DCE7EF"/>
            </a:solidFill>
            <a:prstDash val="solid"/>
          </a:ln>
        </p:spPr>
      </p:sp>
      <p:sp>
        <p:nvSpPr>
          <p:cNvPr id="33" name="Text 31"/>
          <p:cNvSpPr/>
          <p:nvPr/>
        </p:nvSpPr>
        <p:spPr>
          <a:xfrm>
            <a:off x="9281160" y="3099816"/>
            <a:ext cx="2240280" cy="219456"/>
          </a:xfrm>
          <a:prstGeom prst="rect">
            <a:avLst/>
          </a:prstGeom>
          <a:noFill/>
          <a:ln/>
        </p:spPr>
        <p:txBody>
          <a:bodyPr wrap="square" lIns="0" tIns="0" rIns="0" bIns="0" rtlCol="0" anchor="ctr"/>
          <a:lstStyle/>
          <a:p>
            <a:pPr algn="ctr" indent="0" marL="0">
              <a:buNone/>
            </a:pPr>
            <a:r>
              <a:rPr lang="en-US" sz="1100" b="1" dirty="0">
                <a:solidFill>
                  <a:srgbClr val="0E2A47"/>
                </a:solidFill>
                <a:latin typeface="Calibri" pitchFamily="34" charset="0"/>
                <a:ea typeface="Calibri" pitchFamily="34" charset="-122"/>
                <a:cs typeface="Calibri" pitchFamily="34" charset="-120"/>
              </a:rPr>
              <a:t>PostgreSQL + pgvector</a:t>
            </a:r>
            <a:endParaRPr lang="en-US" sz="1100" dirty="0"/>
          </a:p>
        </p:txBody>
      </p:sp>
      <p:sp>
        <p:nvSpPr>
          <p:cNvPr id="34" name="Text 32"/>
          <p:cNvSpPr/>
          <p:nvPr/>
        </p:nvSpPr>
        <p:spPr>
          <a:xfrm>
            <a:off x="9281160" y="3319272"/>
            <a:ext cx="2240280" cy="219456"/>
          </a:xfrm>
          <a:prstGeom prst="rect">
            <a:avLst/>
          </a:prstGeom>
          <a:noFill/>
          <a:ln/>
        </p:spPr>
        <p:txBody>
          <a:bodyPr wrap="square" lIns="0" tIns="0" rIns="0" bIns="0" rtlCol="0" anchor="ctr"/>
          <a:lstStyle/>
          <a:p>
            <a:pPr algn="ctr" indent="0" marL="0">
              <a:buNone/>
            </a:pPr>
            <a:r>
              <a:rPr lang="en-US" sz="900" dirty="0">
                <a:solidFill>
                  <a:srgbClr val="5A6D7C"/>
                </a:solidFill>
                <a:latin typeface="Calibri" pitchFamily="34" charset="0"/>
                <a:ea typeface="Calibri" pitchFamily="34" charset="-122"/>
                <a:cs typeface="Calibri" pitchFamily="34" charset="-120"/>
              </a:rPr>
              <a:t>Base aprobada y trazable</a:t>
            </a:r>
            <a:endParaRPr lang="en-US" sz="900" dirty="0"/>
          </a:p>
        </p:txBody>
      </p:sp>
      <p:sp>
        <p:nvSpPr>
          <p:cNvPr id="35" name="Shape 33"/>
          <p:cNvSpPr/>
          <p:nvPr/>
        </p:nvSpPr>
        <p:spPr>
          <a:xfrm>
            <a:off x="9189720" y="3749040"/>
            <a:ext cx="2423160" cy="566928"/>
          </a:xfrm>
          <a:prstGeom prst="roundRect">
            <a:avLst>
              <a:gd name="adj" fmla="val 9677"/>
            </a:avLst>
          </a:prstGeom>
          <a:solidFill>
            <a:srgbClr val="F5F8FB"/>
          </a:solidFill>
          <a:ln w="12700">
            <a:solidFill>
              <a:srgbClr val="DCE7EF"/>
            </a:solidFill>
            <a:prstDash val="solid"/>
          </a:ln>
        </p:spPr>
      </p:sp>
      <p:sp>
        <p:nvSpPr>
          <p:cNvPr id="36" name="Text 34"/>
          <p:cNvSpPr/>
          <p:nvPr/>
        </p:nvSpPr>
        <p:spPr>
          <a:xfrm>
            <a:off x="9281160" y="3822192"/>
            <a:ext cx="2240280" cy="219456"/>
          </a:xfrm>
          <a:prstGeom prst="rect">
            <a:avLst/>
          </a:prstGeom>
          <a:noFill/>
          <a:ln/>
        </p:spPr>
        <p:txBody>
          <a:bodyPr wrap="square" lIns="0" tIns="0" rIns="0" bIns="0" rtlCol="0" anchor="ctr"/>
          <a:lstStyle/>
          <a:p>
            <a:pPr algn="ctr" indent="0" marL="0">
              <a:buNone/>
            </a:pPr>
            <a:r>
              <a:rPr lang="en-US" sz="1100" b="1" dirty="0">
                <a:solidFill>
                  <a:srgbClr val="0E2A47"/>
                </a:solidFill>
                <a:latin typeface="Calibri" pitchFamily="34" charset="0"/>
                <a:ea typeface="Calibri" pitchFamily="34" charset="-122"/>
                <a:cs typeface="Calibri" pitchFamily="34" charset="-120"/>
              </a:rPr>
              <a:t>Registro y métricas</a:t>
            </a:r>
            <a:endParaRPr lang="en-US" sz="1100" dirty="0"/>
          </a:p>
        </p:txBody>
      </p:sp>
      <p:sp>
        <p:nvSpPr>
          <p:cNvPr id="37" name="Text 35"/>
          <p:cNvSpPr/>
          <p:nvPr/>
        </p:nvSpPr>
        <p:spPr>
          <a:xfrm>
            <a:off x="9281160" y="4041648"/>
            <a:ext cx="2240280" cy="219456"/>
          </a:xfrm>
          <a:prstGeom prst="rect">
            <a:avLst/>
          </a:prstGeom>
          <a:noFill/>
          <a:ln/>
        </p:spPr>
        <p:txBody>
          <a:bodyPr wrap="square" lIns="0" tIns="0" rIns="0" bIns="0" rtlCol="0" anchor="ctr"/>
          <a:lstStyle/>
          <a:p>
            <a:pPr algn="ctr" indent="0" marL="0">
              <a:buNone/>
            </a:pPr>
            <a:r>
              <a:rPr lang="en-US" sz="900" dirty="0">
                <a:solidFill>
                  <a:srgbClr val="5A6D7C"/>
                </a:solidFill>
                <a:latin typeface="Calibri" pitchFamily="34" charset="0"/>
                <a:ea typeface="Calibri" pitchFamily="34" charset="-122"/>
                <a:cs typeface="Calibri" pitchFamily="34" charset="-120"/>
              </a:rPr>
              <a:t>Todo contacto queda escrito</a:t>
            </a:r>
            <a:endParaRPr lang="en-US" sz="900" dirty="0"/>
          </a:p>
        </p:txBody>
      </p:sp>
      <p:sp>
        <p:nvSpPr>
          <p:cNvPr id="38" name="Shape 36"/>
          <p:cNvSpPr/>
          <p:nvPr/>
        </p:nvSpPr>
        <p:spPr>
          <a:xfrm>
            <a:off x="548640" y="4864608"/>
            <a:ext cx="11064240" cy="1234440"/>
          </a:xfrm>
          <a:prstGeom prst="roundRect">
            <a:avLst>
              <a:gd name="adj" fmla="val 4444"/>
            </a:avLst>
          </a:prstGeom>
          <a:solidFill>
            <a:srgbClr val="EAF1F6"/>
          </a:solidFill>
          <a:ln w="12700">
            <a:solidFill>
              <a:srgbClr val="C9D8E3"/>
            </a:solidFill>
            <a:prstDash val="solid"/>
          </a:ln>
        </p:spPr>
      </p:sp>
      <p:sp>
        <p:nvSpPr>
          <p:cNvPr id="39" name="Text 37"/>
          <p:cNvSpPr/>
          <p:nvPr/>
        </p:nvSpPr>
        <p:spPr>
          <a:xfrm>
            <a:off x="841248" y="4864608"/>
            <a:ext cx="10479024" cy="1234440"/>
          </a:xfrm>
          <a:prstGeom prst="rect">
            <a:avLst/>
          </a:prstGeom>
          <a:noFill/>
          <a:ln/>
        </p:spPr>
        <p:txBody>
          <a:bodyPr wrap="square" lIns="0" tIns="0" rIns="0" bIns="0" rtlCol="0" anchor="ctr"/>
          <a:lstStyle/>
          <a:p>
            <a:pPr indent="0" marL="0">
              <a:lnSpc>
                <a:spcPts val="1800"/>
              </a:lnSpc>
              <a:buNone/>
            </a:pPr>
            <a:r>
              <a:rPr lang="en-US" sz="1250" b="1" dirty="0">
                <a:solidFill>
                  <a:srgbClr val="0E2A47"/>
                </a:solidFill>
                <a:latin typeface="Calibri" pitchFamily="34" charset="0"/>
                <a:ea typeface="Calibri" pitchFamily="34" charset="-122"/>
                <a:cs typeface="Calibri" pitchFamily="34" charset="-120"/>
              </a:rPr>
              <a:t>Por ingeniería: </a:t>
            </a:r>
            <a:pPr indent="0" marL="0">
              <a:lnSpc>
                <a:spcPts val="1800"/>
              </a:lnSpc>
              <a:buNone/>
            </a:pPr>
            <a:r>
              <a:rPr lang="en-US" sz="1250" dirty="0">
                <a:solidFill>
                  <a:srgbClr val="22323F"/>
                </a:solidFill>
                <a:latin typeface="Calibri" pitchFamily="34" charset="0"/>
                <a:ea typeface="Calibri" pitchFamily="34" charset="-122"/>
                <a:cs typeface="Calibri" pitchFamily="34" charset="-120"/>
              </a:rPr>
              <a:t>no se duplican reglas, base, herramientas ni métricas, y una conversación iniciada por voz continua por WhatsApp bajo el mismo identificador.    </a:t>
            </a:r>
            <a:pPr indent="0" marL="0">
              <a:lnSpc>
                <a:spcPts val="1800"/>
              </a:lnSpc>
              <a:buNone/>
            </a:pPr>
            <a:r>
              <a:rPr lang="en-US" sz="1250" b="1" dirty="0">
                <a:solidFill>
                  <a:srgbClr val="0E2A47"/>
                </a:solidFill>
                <a:latin typeface="Calibri" pitchFamily="34" charset="0"/>
                <a:ea typeface="Calibri" pitchFamily="34" charset="-122"/>
                <a:cs typeface="Calibri" pitchFamily="34" charset="-120"/>
              </a:rPr>
              <a:t>Por gobernanza: </a:t>
            </a:r>
            <a:pPr indent="0" marL="0">
              <a:lnSpc>
                <a:spcPts val="1800"/>
              </a:lnSpc>
              <a:buNone/>
            </a:pPr>
            <a:r>
              <a:rPr lang="en-US" sz="1250" dirty="0">
                <a:solidFill>
                  <a:srgbClr val="22323F"/>
                </a:solidFill>
                <a:latin typeface="Calibri" pitchFamily="34" charset="0"/>
                <a:ea typeface="Calibri" pitchFamily="34" charset="-122"/>
                <a:cs typeface="Calibri" pitchFamily="34" charset="-120"/>
              </a:rPr>
              <a:t>garantiza que no pueda existir un canal con menos controles que otro. La decisión se tomó por ingeniería y resultó ser la de mayor valor ético.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05 · LA PIEZA TÉCNICA QUE HACE VIABLE LA VOZ</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La plataforma pone el oído y la voz.</a:t>
            </a:r>
            <a:endParaRPr lang="en-US" sz="2700" dirty="0"/>
          </a:p>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El criterio se queda en el núcleo propio.</a:t>
            </a:r>
            <a:endParaRPr lang="en-US" sz="2700" dirty="0"/>
          </a:p>
        </p:txBody>
      </p:sp>
      <p:sp>
        <p:nvSpPr>
          <p:cNvPr id="4" name="Text 2"/>
          <p:cNvSpPr/>
          <p:nvPr/>
        </p:nvSpPr>
        <p:spPr>
          <a:xfrm>
            <a:off x="548640" y="2011680"/>
            <a:ext cx="11064240" cy="237744"/>
          </a:xfrm>
          <a:prstGeom prst="rect">
            <a:avLst/>
          </a:prstGeom>
          <a:noFill/>
          <a:ln/>
        </p:spPr>
        <p:txBody>
          <a:bodyPr wrap="square" lIns="0" tIns="0" rIns="0" bIns="0" rtlCol="0" anchor="ctr"/>
          <a:lstStyle/>
          <a:p>
            <a:pPr indent="0" marL="0">
              <a:buNone/>
            </a:pPr>
            <a:r>
              <a:rPr lang="en-US" sz="1000" b="1" spc="120" kern="0" dirty="0">
                <a:solidFill>
                  <a:srgbClr val="046E66"/>
                </a:solidFill>
                <a:latin typeface="Calibri" pitchFamily="34" charset="0"/>
                <a:ea typeface="Calibri" pitchFamily="34" charset="-122"/>
                <a:cs typeface="Calibri" pitchFamily="34" charset="-120"/>
              </a:rPr>
              <a:t>UN AGENTE DE VOZ COORDINA CUATRO COMPONENTES — DELEGAMOS TRES, RETENEMOS EL CUARTO</a:t>
            </a:r>
            <a:endParaRPr lang="en-US" sz="1000" dirty="0"/>
          </a:p>
        </p:txBody>
      </p:sp>
      <p:sp>
        <p:nvSpPr>
          <p:cNvPr id="5" name="Shape 3"/>
          <p:cNvSpPr/>
          <p:nvPr/>
        </p:nvSpPr>
        <p:spPr>
          <a:xfrm>
            <a:off x="548640" y="2340864"/>
            <a:ext cx="2642616" cy="1481328"/>
          </a:xfrm>
          <a:prstGeom prst="roundRect">
            <a:avLst>
              <a:gd name="adj" fmla="val 3704"/>
            </a:avLst>
          </a:prstGeom>
          <a:solidFill>
            <a:srgbClr val="F5F8FB"/>
          </a:solidFill>
          <a:ln w="12700">
            <a:solidFill>
              <a:srgbClr val="DCE7EF"/>
            </a:solidFill>
            <a:prstDash val="solid"/>
          </a:ln>
        </p:spPr>
      </p:sp>
      <p:sp>
        <p:nvSpPr>
          <p:cNvPr id="6" name="Text 4"/>
          <p:cNvSpPr/>
          <p:nvPr/>
        </p:nvSpPr>
        <p:spPr>
          <a:xfrm>
            <a:off x="731520" y="2505456"/>
            <a:ext cx="2276856" cy="365760"/>
          </a:xfrm>
          <a:prstGeom prst="rect">
            <a:avLst/>
          </a:prstGeom>
          <a:noFill/>
          <a:ln/>
        </p:spPr>
        <p:txBody>
          <a:bodyPr wrap="square" lIns="0" tIns="0" rIns="0" bIns="0" rtlCol="0" anchor="ctr"/>
          <a:lstStyle/>
          <a:p>
            <a:pPr indent="0" marL="0">
              <a:buNone/>
            </a:pPr>
            <a:r>
              <a:rPr lang="en-US" sz="2100" b="1" dirty="0">
                <a:solidFill>
                  <a:srgbClr val="0E2A47"/>
                </a:solidFill>
                <a:latin typeface="Cambria" pitchFamily="34" charset="0"/>
                <a:ea typeface="Cambria" pitchFamily="34" charset="-122"/>
                <a:cs typeface="Cambria" pitchFamily="34" charset="-120"/>
              </a:rPr>
              <a:t>STT</a:t>
            </a:r>
            <a:endParaRPr lang="en-US" sz="2100" dirty="0"/>
          </a:p>
        </p:txBody>
      </p:sp>
      <p:sp>
        <p:nvSpPr>
          <p:cNvPr id="7" name="Text 5"/>
          <p:cNvSpPr/>
          <p:nvPr/>
        </p:nvSpPr>
        <p:spPr>
          <a:xfrm>
            <a:off x="731520" y="2907792"/>
            <a:ext cx="2276856" cy="457200"/>
          </a:xfrm>
          <a:prstGeom prst="rect">
            <a:avLst/>
          </a:prstGeom>
          <a:noFill/>
          <a:ln/>
        </p:spPr>
        <p:txBody>
          <a:bodyPr wrap="square" lIns="0" tIns="0" rIns="0" bIns="0" rtlCol="0" anchor="ctr"/>
          <a:lstStyle/>
          <a:p>
            <a:pPr indent="0" marL="0">
              <a:lnSpc>
                <a:spcPts val="1500"/>
              </a:lnSpc>
              <a:buNone/>
            </a:pPr>
            <a:r>
              <a:rPr lang="en-US" sz="1100" dirty="0">
                <a:solidFill>
                  <a:srgbClr val="5A6D7C"/>
                </a:solidFill>
                <a:latin typeface="Calibri" pitchFamily="34" charset="0"/>
                <a:ea typeface="Calibri" pitchFamily="34" charset="-122"/>
                <a:cs typeface="Calibri" pitchFamily="34" charset="-120"/>
              </a:rPr>
              <a:t>Reconocimiento del habla</a:t>
            </a:r>
            <a:endParaRPr lang="en-US" sz="1100" dirty="0"/>
          </a:p>
        </p:txBody>
      </p:sp>
      <p:sp>
        <p:nvSpPr>
          <p:cNvPr id="8" name="Text 6"/>
          <p:cNvSpPr/>
          <p:nvPr/>
        </p:nvSpPr>
        <p:spPr>
          <a:xfrm>
            <a:off x="731520" y="3438144"/>
            <a:ext cx="2276856" cy="256032"/>
          </a:xfrm>
          <a:prstGeom prst="rect">
            <a:avLst/>
          </a:prstGeom>
          <a:noFill/>
          <a:ln/>
        </p:spPr>
        <p:txBody>
          <a:bodyPr wrap="square" lIns="0" tIns="0" rIns="0" bIns="0" rtlCol="0" anchor="ctr"/>
          <a:lstStyle/>
          <a:p>
            <a:pPr indent="0" marL="0">
              <a:buNone/>
            </a:pPr>
            <a:r>
              <a:rPr lang="en-US" sz="1000" b="1" i="1" dirty="0">
                <a:solidFill>
                  <a:srgbClr val="046E66"/>
                </a:solidFill>
                <a:latin typeface="Calibri" pitchFamily="34" charset="0"/>
                <a:ea typeface="Calibri" pitchFamily="34" charset="-122"/>
                <a:cs typeface="Calibri" pitchFamily="34" charset="-120"/>
              </a:rPr>
              <a:t>ElevenAgents</a:t>
            </a:r>
            <a:endParaRPr lang="en-US" sz="1000" dirty="0"/>
          </a:p>
        </p:txBody>
      </p:sp>
      <p:sp>
        <p:nvSpPr>
          <p:cNvPr id="9" name="Shape 7"/>
          <p:cNvSpPr/>
          <p:nvPr/>
        </p:nvSpPr>
        <p:spPr>
          <a:xfrm>
            <a:off x="3374136" y="2340864"/>
            <a:ext cx="2642616" cy="1481328"/>
          </a:xfrm>
          <a:prstGeom prst="roundRect">
            <a:avLst>
              <a:gd name="adj" fmla="val 3704"/>
            </a:avLst>
          </a:prstGeom>
          <a:solidFill>
            <a:srgbClr val="F5F8FB"/>
          </a:solidFill>
          <a:ln w="12700">
            <a:solidFill>
              <a:srgbClr val="DCE7EF"/>
            </a:solidFill>
            <a:prstDash val="solid"/>
          </a:ln>
        </p:spPr>
      </p:sp>
      <p:sp>
        <p:nvSpPr>
          <p:cNvPr id="10" name="Text 8"/>
          <p:cNvSpPr/>
          <p:nvPr/>
        </p:nvSpPr>
        <p:spPr>
          <a:xfrm>
            <a:off x="3557016" y="2505456"/>
            <a:ext cx="2276856" cy="365760"/>
          </a:xfrm>
          <a:prstGeom prst="rect">
            <a:avLst/>
          </a:prstGeom>
          <a:noFill/>
          <a:ln/>
        </p:spPr>
        <p:txBody>
          <a:bodyPr wrap="square" lIns="0" tIns="0" rIns="0" bIns="0" rtlCol="0" anchor="ctr"/>
          <a:lstStyle/>
          <a:p>
            <a:pPr indent="0" marL="0">
              <a:buNone/>
            </a:pPr>
            <a:r>
              <a:rPr lang="en-US" sz="2100" b="1" dirty="0">
                <a:solidFill>
                  <a:srgbClr val="0E2A47"/>
                </a:solidFill>
                <a:latin typeface="Cambria" pitchFamily="34" charset="0"/>
                <a:ea typeface="Cambria" pitchFamily="34" charset="-122"/>
                <a:cs typeface="Cambria" pitchFamily="34" charset="-120"/>
              </a:rPr>
              <a:t>Turnos</a:t>
            </a:r>
            <a:endParaRPr lang="en-US" sz="2100" dirty="0"/>
          </a:p>
        </p:txBody>
      </p:sp>
      <p:sp>
        <p:nvSpPr>
          <p:cNvPr id="11" name="Text 9"/>
          <p:cNvSpPr/>
          <p:nvPr/>
        </p:nvSpPr>
        <p:spPr>
          <a:xfrm>
            <a:off x="3557016" y="2907792"/>
            <a:ext cx="2276856" cy="457200"/>
          </a:xfrm>
          <a:prstGeom prst="rect">
            <a:avLst/>
          </a:prstGeom>
          <a:noFill/>
          <a:ln/>
        </p:spPr>
        <p:txBody>
          <a:bodyPr wrap="square" lIns="0" tIns="0" rIns="0" bIns="0" rtlCol="0" anchor="ctr"/>
          <a:lstStyle/>
          <a:p>
            <a:pPr indent="0" marL="0">
              <a:lnSpc>
                <a:spcPts val="1500"/>
              </a:lnSpc>
              <a:buNone/>
            </a:pPr>
            <a:r>
              <a:rPr lang="en-US" sz="1100" dirty="0">
                <a:solidFill>
                  <a:srgbClr val="5A6D7C"/>
                </a:solidFill>
                <a:latin typeface="Calibri" pitchFamily="34" charset="0"/>
                <a:ea typeface="Calibri" pitchFamily="34" charset="-122"/>
                <a:cs typeface="Calibri" pitchFamily="34" charset="-120"/>
              </a:rPr>
              <a:t>Fin de turno y barge-in</a:t>
            </a:r>
            <a:endParaRPr lang="en-US" sz="1100" dirty="0"/>
          </a:p>
        </p:txBody>
      </p:sp>
      <p:sp>
        <p:nvSpPr>
          <p:cNvPr id="12" name="Text 10"/>
          <p:cNvSpPr/>
          <p:nvPr/>
        </p:nvSpPr>
        <p:spPr>
          <a:xfrm>
            <a:off x="3557016" y="3438144"/>
            <a:ext cx="2276856" cy="256032"/>
          </a:xfrm>
          <a:prstGeom prst="rect">
            <a:avLst/>
          </a:prstGeom>
          <a:noFill/>
          <a:ln/>
        </p:spPr>
        <p:txBody>
          <a:bodyPr wrap="square" lIns="0" tIns="0" rIns="0" bIns="0" rtlCol="0" anchor="ctr"/>
          <a:lstStyle/>
          <a:p>
            <a:pPr indent="0" marL="0">
              <a:buNone/>
            </a:pPr>
            <a:r>
              <a:rPr lang="en-US" sz="1000" b="1" i="1" dirty="0">
                <a:solidFill>
                  <a:srgbClr val="046E66"/>
                </a:solidFill>
                <a:latin typeface="Calibri" pitchFamily="34" charset="0"/>
                <a:ea typeface="Calibri" pitchFamily="34" charset="-122"/>
                <a:cs typeface="Calibri" pitchFamily="34" charset="-120"/>
              </a:rPr>
              <a:t>ElevenAgents</a:t>
            </a:r>
            <a:endParaRPr lang="en-US" sz="1000" dirty="0"/>
          </a:p>
        </p:txBody>
      </p:sp>
      <p:sp>
        <p:nvSpPr>
          <p:cNvPr id="13" name="Shape 11"/>
          <p:cNvSpPr/>
          <p:nvPr/>
        </p:nvSpPr>
        <p:spPr>
          <a:xfrm>
            <a:off x="6199632" y="2340864"/>
            <a:ext cx="2642616" cy="1481328"/>
          </a:xfrm>
          <a:prstGeom prst="roundRect">
            <a:avLst>
              <a:gd name="adj" fmla="val 3704"/>
            </a:avLst>
          </a:prstGeom>
          <a:solidFill>
            <a:srgbClr val="F5F8FB"/>
          </a:solidFill>
          <a:ln w="12700">
            <a:solidFill>
              <a:srgbClr val="DCE7EF"/>
            </a:solidFill>
            <a:prstDash val="solid"/>
          </a:ln>
        </p:spPr>
      </p:sp>
      <p:sp>
        <p:nvSpPr>
          <p:cNvPr id="14" name="Text 12"/>
          <p:cNvSpPr/>
          <p:nvPr/>
        </p:nvSpPr>
        <p:spPr>
          <a:xfrm>
            <a:off x="6382512" y="2505456"/>
            <a:ext cx="2276856" cy="365760"/>
          </a:xfrm>
          <a:prstGeom prst="rect">
            <a:avLst/>
          </a:prstGeom>
          <a:noFill/>
          <a:ln/>
        </p:spPr>
        <p:txBody>
          <a:bodyPr wrap="square" lIns="0" tIns="0" rIns="0" bIns="0" rtlCol="0" anchor="ctr"/>
          <a:lstStyle/>
          <a:p>
            <a:pPr indent="0" marL="0">
              <a:buNone/>
            </a:pPr>
            <a:r>
              <a:rPr lang="en-US" sz="2100" b="1" dirty="0">
                <a:solidFill>
                  <a:srgbClr val="0E2A47"/>
                </a:solidFill>
                <a:latin typeface="Cambria" pitchFamily="34" charset="0"/>
                <a:ea typeface="Cambria" pitchFamily="34" charset="-122"/>
                <a:cs typeface="Cambria" pitchFamily="34" charset="-120"/>
              </a:rPr>
              <a:t>TTS</a:t>
            </a:r>
            <a:endParaRPr lang="en-US" sz="2100" dirty="0"/>
          </a:p>
        </p:txBody>
      </p:sp>
      <p:sp>
        <p:nvSpPr>
          <p:cNvPr id="15" name="Text 13"/>
          <p:cNvSpPr/>
          <p:nvPr/>
        </p:nvSpPr>
        <p:spPr>
          <a:xfrm>
            <a:off x="6382512" y="2907792"/>
            <a:ext cx="2276856" cy="457200"/>
          </a:xfrm>
          <a:prstGeom prst="rect">
            <a:avLst/>
          </a:prstGeom>
          <a:noFill/>
          <a:ln/>
        </p:spPr>
        <p:txBody>
          <a:bodyPr wrap="square" lIns="0" tIns="0" rIns="0" bIns="0" rtlCol="0" anchor="ctr"/>
          <a:lstStyle/>
          <a:p>
            <a:pPr indent="0" marL="0">
              <a:lnSpc>
                <a:spcPts val="1500"/>
              </a:lnSpc>
              <a:buNone/>
            </a:pPr>
            <a:r>
              <a:rPr lang="en-US" sz="1100" dirty="0">
                <a:solidFill>
                  <a:srgbClr val="5A6D7C"/>
                </a:solidFill>
                <a:latin typeface="Calibri" pitchFamily="34" charset="0"/>
                <a:ea typeface="Calibri" pitchFamily="34" charset="-122"/>
                <a:cs typeface="Calibri" pitchFamily="34" charset="-120"/>
              </a:rPr>
              <a:t>Síntesis de voz</a:t>
            </a:r>
            <a:endParaRPr lang="en-US" sz="1100" dirty="0"/>
          </a:p>
        </p:txBody>
      </p:sp>
      <p:sp>
        <p:nvSpPr>
          <p:cNvPr id="16" name="Text 14"/>
          <p:cNvSpPr/>
          <p:nvPr/>
        </p:nvSpPr>
        <p:spPr>
          <a:xfrm>
            <a:off x="6382512" y="3438144"/>
            <a:ext cx="2276856" cy="256032"/>
          </a:xfrm>
          <a:prstGeom prst="rect">
            <a:avLst/>
          </a:prstGeom>
          <a:noFill/>
          <a:ln/>
        </p:spPr>
        <p:txBody>
          <a:bodyPr wrap="square" lIns="0" tIns="0" rIns="0" bIns="0" rtlCol="0" anchor="ctr"/>
          <a:lstStyle/>
          <a:p>
            <a:pPr indent="0" marL="0">
              <a:buNone/>
            </a:pPr>
            <a:r>
              <a:rPr lang="en-US" sz="1000" b="1" i="1" dirty="0">
                <a:solidFill>
                  <a:srgbClr val="046E66"/>
                </a:solidFill>
                <a:latin typeface="Calibri" pitchFamily="34" charset="0"/>
                <a:ea typeface="Calibri" pitchFamily="34" charset="-122"/>
                <a:cs typeface="Calibri" pitchFamily="34" charset="-120"/>
              </a:rPr>
              <a:t>ElevenAgents</a:t>
            </a:r>
            <a:endParaRPr lang="en-US" sz="1000" dirty="0"/>
          </a:p>
        </p:txBody>
      </p:sp>
      <p:sp>
        <p:nvSpPr>
          <p:cNvPr id="17" name="Shape 15"/>
          <p:cNvSpPr/>
          <p:nvPr/>
        </p:nvSpPr>
        <p:spPr>
          <a:xfrm>
            <a:off x="9025128" y="2340864"/>
            <a:ext cx="2642616" cy="1481328"/>
          </a:xfrm>
          <a:prstGeom prst="roundRect">
            <a:avLst>
              <a:gd name="adj" fmla="val 3704"/>
            </a:avLst>
          </a:prstGeom>
          <a:solidFill>
            <a:srgbClr val="0E2A47"/>
          </a:solidFill>
          <a:ln w="12700">
            <a:solidFill>
              <a:srgbClr val="0E2A47"/>
            </a:solidFill>
            <a:prstDash val="solid"/>
          </a:ln>
          <a:effectLst>
            <a:outerShdw sx="100000" sy="100000" kx="0" ky="0" algn="bl" rotWithShape="0" blurRad="101600" dist="25400" dir="5400000">
              <a:srgbClr val="8AA0B0">
                <a:alpha val="22000"/>
              </a:srgbClr>
            </a:outerShdw>
          </a:effectLst>
        </p:spPr>
      </p:sp>
      <p:sp>
        <p:nvSpPr>
          <p:cNvPr id="18" name="Text 16"/>
          <p:cNvSpPr/>
          <p:nvPr/>
        </p:nvSpPr>
        <p:spPr>
          <a:xfrm>
            <a:off x="9208008" y="2505456"/>
            <a:ext cx="2276856" cy="365760"/>
          </a:xfrm>
          <a:prstGeom prst="rect">
            <a:avLst/>
          </a:prstGeom>
          <a:noFill/>
          <a:ln/>
        </p:spPr>
        <p:txBody>
          <a:bodyPr wrap="square" lIns="0" tIns="0" rIns="0" bIns="0" rtlCol="0" anchor="ctr"/>
          <a:lstStyle/>
          <a:p>
            <a:pPr indent="0" marL="0">
              <a:buNone/>
            </a:pPr>
            <a:r>
              <a:rPr lang="en-US" sz="2100" b="1" dirty="0">
                <a:solidFill>
                  <a:srgbClr val="00A896"/>
                </a:solidFill>
                <a:latin typeface="Cambria" pitchFamily="34" charset="0"/>
                <a:ea typeface="Cambria" pitchFamily="34" charset="-122"/>
                <a:cs typeface="Cambria" pitchFamily="34" charset="-120"/>
              </a:rPr>
              <a:t>LLM</a:t>
            </a:r>
            <a:endParaRPr lang="en-US" sz="2100" dirty="0"/>
          </a:p>
        </p:txBody>
      </p:sp>
      <p:sp>
        <p:nvSpPr>
          <p:cNvPr id="19" name="Text 17"/>
          <p:cNvSpPr/>
          <p:nvPr/>
        </p:nvSpPr>
        <p:spPr>
          <a:xfrm>
            <a:off x="9208008" y="2907792"/>
            <a:ext cx="2276856" cy="457200"/>
          </a:xfrm>
          <a:prstGeom prst="rect">
            <a:avLst/>
          </a:prstGeom>
          <a:noFill/>
          <a:ln/>
        </p:spPr>
        <p:txBody>
          <a:bodyPr wrap="square" lIns="0" tIns="0" rIns="0" bIns="0" rtlCol="0" anchor="ctr"/>
          <a:lstStyle/>
          <a:p>
            <a:pPr indent="0" marL="0">
              <a:lnSpc>
                <a:spcPts val="1500"/>
              </a:lnSpc>
              <a:buNone/>
            </a:pPr>
            <a:r>
              <a:rPr lang="en-US" sz="1100" dirty="0">
                <a:solidFill>
                  <a:srgbClr val="C6D6E2"/>
                </a:solidFill>
                <a:latin typeface="Calibri" pitchFamily="34" charset="0"/>
                <a:ea typeface="Calibri" pitchFamily="34" charset="-122"/>
                <a:cs typeface="Calibri" pitchFamily="34" charset="-120"/>
              </a:rPr>
              <a:t>Razonamiento y reglas</a:t>
            </a:r>
            <a:endParaRPr lang="en-US" sz="1100" dirty="0"/>
          </a:p>
        </p:txBody>
      </p:sp>
      <p:sp>
        <p:nvSpPr>
          <p:cNvPr id="20" name="Text 18"/>
          <p:cNvSpPr/>
          <p:nvPr/>
        </p:nvSpPr>
        <p:spPr>
          <a:xfrm>
            <a:off x="9208008" y="3438144"/>
            <a:ext cx="2276856" cy="256032"/>
          </a:xfrm>
          <a:prstGeom prst="rect">
            <a:avLst/>
          </a:prstGeom>
          <a:noFill/>
          <a:ln/>
        </p:spPr>
        <p:txBody>
          <a:bodyPr wrap="square" lIns="0" tIns="0" rIns="0" bIns="0" rtlCol="0" anchor="ctr"/>
          <a:lstStyle/>
          <a:p>
            <a:pPr indent="0" marL="0">
              <a:buNone/>
            </a:pPr>
            <a:r>
              <a:rPr lang="en-US" sz="1000" b="1" i="1" dirty="0">
                <a:solidFill>
                  <a:srgbClr val="FFFFFF"/>
                </a:solidFill>
                <a:latin typeface="Calibri" pitchFamily="34" charset="0"/>
                <a:ea typeface="Calibri" pitchFamily="34" charset="-122"/>
                <a:cs typeface="Calibri" pitchFamily="34" charset="-120"/>
              </a:rPr>
              <a:t>Claude · núcleo propio</a:t>
            </a:r>
            <a:endParaRPr lang="en-US" sz="1000" dirty="0"/>
          </a:p>
        </p:txBody>
      </p:sp>
      <p:sp>
        <p:nvSpPr>
          <p:cNvPr id="21" name="Shape 19"/>
          <p:cNvSpPr/>
          <p:nvPr/>
        </p:nvSpPr>
        <p:spPr>
          <a:xfrm>
            <a:off x="548640" y="4041648"/>
            <a:ext cx="5349240" cy="2057400"/>
          </a:xfrm>
          <a:prstGeom prst="roundRect">
            <a:avLst>
              <a:gd name="adj" fmla="val 2667"/>
            </a:avLst>
          </a:prstGeom>
          <a:solidFill>
            <a:srgbClr val="EAF1F6"/>
          </a:solidFill>
          <a:ln w="12700">
            <a:solidFill>
              <a:srgbClr val="C9D8E3"/>
            </a:solidFill>
            <a:prstDash val="solid"/>
          </a:ln>
        </p:spPr>
      </p:sp>
      <p:sp>
        <p:nvSpPr>
          <p:cNvPr id="22" name="Text 20"/>
          <p:cNvSpPr/>
          <p:nvPr/>
        </p:nvSpPr>
        <p:spPr>
          <a:xfrm>
            <a:off x="822960" y="4206240"/>
            <a:ext cx="480060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Cómo se logra</a:t>
            </a:r>
            <a:endParaRPr lang="en-US" sz="1300" dirty="0"/>
          </a:p>
        </p:txBody>
      </p:sp>
      <p:sp>
        <p:nvSpPr>
          <p:cNvPr id="23" name="Text 21"/>
          <p:cNvSpPr/>
          <p:nvPr/>
        </p:nvSpPr>
        <p:spPr>
          <a:xfrm>
            <a:off x="822960" y="4526280"/>
            <a:ext cx="4800600" cy="1417320"/>
          </a:xfrm>
          <a:prstGeom prst="rect">
            <a:avLst/>
          </a:prstGeom>
          <a:noFill/>
          <a:ln/>
        </p:spPr>
        <p:txBody>
          <a:bodyPr wrap="square" lIns="0" tIns="0" rIns="0" bIns="0" rtlCol="0" anchor="ctr"/>
          <a:lstStyle/>
          <a:p>
            <a:pPr indent="0" marL="0">
              <a:lnSpc>
                <a:spcPts val="1600"/>
              </a:lnSpc>
              <a:buNone/>
            </a:pPr>
            <a:r>
              <a:rPr lang="en-US" sz="1150" dirty="0">
                <a:solidFill>
                  <a:srgbClr val="22323F"/>
                </a:solidFill>
                <a:latin typeface="Calibri" pitchFamily="34" charset="0"/>
                <a:ea typeface="Calibri" pitchFamily="34" charset="-122"/>
                <a:cs typeface="Calibri" pitchFamily="34" charset="-120"/>
              </a:rPr>
              <a:t>La funcionalidad de modelo propio permite dirigir el turno conversacional a un endpoint compatible con el formato de OpenAI. Sobre esa capacidad se construye el Voice Gateway: solo traduce, no contiene lógica de negocio. Las herramientas de sistema —transferir, finalizar la llamada— llegan al mismo modelo en formato estándar de llamada a funciones.</a:t>
            </a:r>
            <a:endParaRPr lang="en-US" sz="1150" dirty="0"/>
          </a:p>
        </p:txBody>
      </p:sp>
      <p:sp>
        <p:nvSpPr>
          <p:cNvPr id="24" name="Shape 22"/>
          <p:cNvSpPr/>
          <p:nvPr/>
        </p:nvSpPr>
        <p:spPr>
          <a:xfrm>
            <a:off x="6263640" y="4041648"/>
            <a:ext cx="5349240" cy="2057400"/>
          </a:xfrm>
          <a:prstGeom prst="roundRect">
            <a:avLst>
              <a:gd name="adj" fmla="val 2667"/>
            </a:avLst>
          </a:prstGeom>
          <a:solidFill>
            <a:srgbClr val="FFFFFF"/>
          </a:solidFill>
          <a:ln w="12700">
            <a:solidFill>
              <a:srgbClr val="C9D8E3"/>
            </a:solidFill>
            <a:prstDash val="solid"/>
          </a:ln>
        </p:spPr>
      </p:sp>
      <p:sp>
        <p:nvSpPr>
          <p:cNvPr id="25" name="Text 23"/>
          <p:cNvSpPr/>
          <p:nvPr/>
        </p:nvSpPr>
        <p:spPr>
          <a:xfrm>
            <a:off x="6537960" y="4206240"/>
            <a:ext cx="480060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Por qué importa para la nota de riesgo</a:t>
            </a:r>
            <a:endParaRPr lang="en-US" sz="1300" dirty="0"/>
          </a:p>
        </p:txBody>
      </p:sp>
      <p:sp>
        <p:nvSpPr>
          <p:cNvPr id="26" name="Shape 24"/>
          <p:cNvSpPr/>
          <p:nvPr/>
        </p:nvSpPr>
        <p:spPr>
          <a:xfrm>
            <a:off x="6537960" y="4608576"/>
            <a:ext cx="118872" cy="118872"/>
          </a:xfrm>
          <a:prstGeom prst="ellipse">
            <a:avLst/>
          </a:prstGeom>
          <a:solidFill>
            <a:srgbClr val="00A896"/>
          </a:solidFill>
          <a:ln w="12700">
            <a:solidFill>
              <a:srgbClr val="00A896"/>
            </a:solidFill>
            <a:prstDash val="solid"/>
          </a:ln>
        </p:spPr>
      </p:sp>
      <p:sp>
        <p:nvSpPr>
          <p:cNvPr id="27" name="Text 25"/>
          <p:cNvSpPr/>
          <p:nvPr/>
        </p:nvSpPr>
        <p:spPr>
          <a:xfrm>
            <a:off x="6784848" y="4535424"/>
            <a:ext cx="4572000" cy="457200"/>
          </a:xfrm>
          <a:prstGeom prst="rect">
            <a:avLst/>
          </a:prstGeom>
          <a:noFill/>
          <a:ln/>
        </p:spPr>
        <p:txBody>
          <a:bodyPr wrap="square" lIns="0" tIns="0" rIns="0" bIns="0" rtlCol="0" anchor="ctr"/>
          <a:lstStyle/>
          <a:p>
            <a:pPr indent="0" marL="0">
              <a:lnSpc>
                <a:spcPts val="1400"/>
              </a:lnSpc>
              <a:buNone/>
            </a:pPr>
            <a:r>
              <a:rPr lang="en-US" sz="1050" b="1" dirty="0">
                <a:solidFill>
                  <a:srgbClr val="0E2A47"/>
                </a:solidFill>
                <a:latin typeface="Calibri" pitchFamily="34" charset="0"/>
                <a:ea typeface="Calibri" pitchFamily="34" charset="-122"/>
                <a:cs typeface="Calibri" pitchFamily="34" charset="-120"/>
              </a:rPr>
              <a:t>Misma lógica en ambos canales  </a:t>
            </a:r>
            <a:pPr indent="0" marL="0">
              <a:lnSpc>
                <a:spcPts val="1400"/>
              </a:lnSpc>
              <a:buNone/>
            </a:pPr>
            <a:r>
              <a:rPr lang="en-US" sz="1050" dirty="0">
                <a:solidFill>
                  <a:srgbClr val="5A6D7C"/>
                </a:solidFill>
                <a:latin typeface="Calibri" pitchFamily="34" charset="0"/>
                <a:ea typeface="Calibri" pitchFamily="34" charset="-122"/>
                <a:cs typeface="Calibri" pitchFamily="34" charset="-120"/>
              </a:rPr>
              <a:t>Un solo prompt, una sola base, un solo criterio de escalamiento.</a:t>
            </a:r>
            <a:endParaRPr lang="en-US" sz="1050" dirty="0"/>
          </a:p>
        </p:txBody>
      </p:sp>
      <p:sp>
        <p:nvSpPr>
          <p:cNvPr id="28" name="Shape 26"/>
          <p:cNvSpPr/>
          <p:nvPr/>
        </p:nvSpPr>
        <p:spPr>
          <a:xfrm>
            <a:off x="6537960" y="5111496"/>
            <a:ext cx="118872" cy="118872"/>
          </a:xfrm>
          <a:prstGeom prst="ellipse">
            <a:avLst/>
          </a:prstGeom>
          <a:solidFill>
            <a:srgbClr val="00A896"/>
          </a:solidFill>
          <a:ln w="12700">
            <a:solidFill>
              <a:srgbClr val="00A896"/>
            </a:solidFill>
            <a:prstDash val="solid"/>
          </a:ln>
        </p:spPr>
      </p:sp>
      <p:sp>
        <p:nvSpPr>
          <p:cNvPr id="29" name="Text 27"/>
          <p:cNvSpPr/>
          <p:nvPr/>
        </p:nvSpPr>
        <p:spPr>
          <a:xfrm>
            <a:off x="6784848" y="5038344"/>
            <a:ext cx="4572000" cy="457200"/>
          </a:xfrm>
          <a:prstGeom prst="rect">
            <a:avLst/>
          </a:prstGeom>
          <a:noFill/>
          <a:ln/>
        </p:spPr>
        <p:txBody>
          <a:bodyPr wrap="square" lIns="0" tIns="0" rIns="0" bIns="0" rtlCol="0" anchor="ctr"/>
          <a:lstStyle/>
          <a:p>
            <a:pPr indent="0" marL="0">
              <a:lnSpc>
                <a:spcPts val="1400"/>
              </a:lnSpc>
              <a:buNone/>
            </a:pPr>
            <a:r>
              <a:rPr lang="en-US" sz="1050" b="1" dirty="0">
                <a:solidFill>
                  <a:srgbClr val="0E2A47"/>
                </a:solidFill>
                <a:latin typeface="Calibri" pitchFamily="34" charset="0"/>
                <a:ea typeface="Calibri" pitchFamily="34" charset="-122"/>
                <a:cs typeface="Calibri" pitchFamily="34" charset="-120"/>
              </a:rPr>
              <a:t>Menos proveedores en el flujo  </a:t>
            </a:r>
            <a:pPr indent="0" marL="0">
              <a:lnSpc>
                <a:spcPts val="1400"/>
              </a:lnSpc>
              <a:buNone/>
            </a:pPr>
            <a:r>
              <a:rPr lang="en-US" sz="1050" dirty="0">
                <a:solidFill>
                  <a:srgbClr val="5A6D7C"/>
                </a:solidFill>
                <a:latin typeface="Calibri" pitchFamily="34" charset="0"/>
                <a:ea typeface="Calibri" pitchFamily="34" charset="-122"/>
                <a:cs typeface="Calibri" pitchFamily="34" charset="-120"/>
              </a:rPr>
              <a:t>Evita incorporar modelos de terceros a conversaciones con datos de salud.</a:t>
            </a:r>
            <a:endParaRPr lang="en-US" sz="1050" dirty="0"/>
          </a:p>
        </p:txBody>
      </p:sp>
      <p:sp>
        <p:nvSpPr>
          <p:cNvPr id="30" name="Shape 28"/>
          <p:cNvSpPr/>
          <p:nvPr/>
        </p:nvSpPr>
        <p:spPr>
          <a:xfrm>
            <a:off x="6537960" y="5614416"/>
            <a:ext cx="118872" cy="118872"/>
          </a:xfrm>
          <a:prstGeom prst="ellipse">
            <a:avLst/>
          </a:prstGeom>
          <a:solidFill>
            <a:srgbClr val="00A896"/>
          </a:solidFill>
          <a:ln w="12700">
            <a:solidFill>
              <a:srgbClr val="00A896"/>
            </a:solidFill>
            <a:prstDash val="solid"/>
          </a:ln>
        </p:spPr>
      </p:sp>
      <p:sp>
        <p:nvSpPr>
          <p:cNvPr id="31" name="Text 29"/>
          <p:cNvSpPr/>
          <p:nvPr/>
        </p:nvSpPr>
        <p:spPr>
          <a:xfrm>
            <a:off x="6784848" y="5541264"/>
            <a:ext cx="4572000" cy="457200"/>
          </a:xfrm>
          <a:prstGeom prst="rect">
            <a:avLst/>
          </a:prstGeom>
          <a:noFill/>
          <a:ln/>
        </p:spPr>
        <p:txBody>
          <a:bodyPr wrap="square" lIns="0" tIns="0" rIns="0" bIns="0" rtlCol="0" anchor="ctr"/>
          <a:lstStyle/>
          <a:p>
            <a:pPr indent="0" marL="0">
              <a:lnSpc>
                <a:spcPts val="1400"/>
              </a:lnSpc>
              <a:buNone/>
            </a:pPr>
            <a:r>
              <a:rPr lang="en-US" sz="1050" b="1" dirty="0">
                <a:solidFill>
                  <a:srgbClr val="0E2A47"/>
                </a:solidFill>
                <a:latin typeface="Calibri" pitchFamily="34" charset="0"/>
                <a:ea typeface="Calibri" pitchFamily="34" charset="-122"/>
                <a:cs typeface="Calibri" pitchFamily="34" charset="-120"/>
              </a:rPr>
              <a:t>Arquitectura agnóstica al modelo  </a:t>
            </a:r>
            <a:pPr indent="0" marL="0">
              <a:lnSpc>
                <a:spcPts val="1400"/>
              </a:lnSpc>
              <a:buNone/>
            </a:pPr>
            <a:r>
              <a:rPr lang="en-US" sz="1050" dirty="0">
                <a:solidFill>
                  <a:srgbClr val="5A6D7C"/>
                </a:solidFill>
                <a:latin typeface="Calibri" pitchFamily="34" charset="0"/>
                <a:ea typeface="Calibri" pitchFamily="34" charset="-122"/>
                <a:cs typeface="Calibri" pitchFamily="34" charset="-120"/>
              </a:rPr>
              <a:t>Prompt y reglas viven en la base de datos: sustituir el modelo es configuración, no reescritura.</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06 · INGENIERÍA DE PROMPT</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Siete iteraciones documentadas: cada versión cerró un modo de fallo</a:t>
            </a:r>
            <a:endParaRPr lang="en-US" sz="2700" dirty="0"/>
          </a:p>
        </p:txBody>
      </p:sp>
      <p:sp>
        <p:nvSpPr>
          <p:cNvPr id="4" name="Shape 2"/>
          <p:cNvSpPr/>
          <p:nvPr/>
        </p:nvSpPr>
        <p:spPr>
          <a:xfrm>
            <a:off x="1097280" y="2395728"/>
            <a:ext cx="9966960" cy="0"/>
          </a:xfrm>
          <a:prstGeom prst="line">
            <a:avLst/>
          </a:prstGeom>
          <a:noFill/>
          <a:ln w="25400">
            <a:solidFill>
              <a:srgbClr val="C9D8E3"/>
            </a:solidFill>
            <a:prstDash val="solid"/>
          </a:ln>
        </p:spPr>
      </p:sp>
      <p:sp>
        <p:nvSpPr>
          <p:cNvPr id="5" name="Shape 3"/>
          <p:cNvSpPr/>
          <p:nvPr/>
        </p:nvSpPr>
        <p:spPr>
          <a:xfrm>
            <a:off x="905256" y="2203704"/>
            <a:ext cx="384048" cy="384048"/>
          </a:xfrm>
          <a:prstGeom prst="ellipse">
            <a:avLst/>
          </a:prstGeom>
          <a:solidFill>
            <a:srgbClr val="0E2A47"/>
          </a:solidFill>
          <a:ln w="25400">
            <a:solidFill>
              <a:srgbClr val="FFFFFF"/>
            </a:solidFill>
            <a:prstDash val="solid"/>
          </a:ln>
        </p:spPr>
      </p:sp>
      <p:sp>
        <p:nvSpPr>
          <p:cNvPr id="6" name="Text 4"/>
          <p:cNvSpPr/>
          <p:nvPr/>
        </p:nvSpPr>
        <p:spPr>
          <a:xfrm>
            <a:off x="905256" y="2203704"/>
            <a:ext cx="384048"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v0.1</a:t>
            </a:r>
            <a:endParaRPr lang="en-US" sz="850" dirty="0"/>
          </a:p>
        </p:txBody>
      </p:sp>
      <p:sp>
        <p:nvSpPr>
          <p:cNvPr id="7" name="Text 5"/>
          <p:cNvSpPr/>
          <p:nvPr/>
        </p:nvSpPr>
        <p:spPr>
          <a:xfrm>
            <a:off x="29260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Frontera clínica</a:t>
            </a:r>
            <a:endParaRPr lang="en-US" sz="1050" dirty="0"/>
          </a:p>
        </p:txBody>
      </p:sp>
      <p:sp>
        <p:nvSpPr>
          <p:cNvPr id="8" name="Text 6"/>
          <p:cNvSpPr/>
          <p:nvPr/>
        </p:nvSpPr>
        <p:spPr>
          <a:xfrm>
            <a:off x="29260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Explicaba causas de un dolor</a:t>
            </a:r>
            <a:endParaRPr lang="en-US" sz="900" dirty="0"/>
          </a:p>
        </p:txBody>
      </p:sp>
      <p:sp>
        <p:nvSpPr>
          <p:cNvPr id="9" name="Shape 7"/>
          <p:cNvSpPr/>
          <p:nvPr/>
        </p:nvSpPr>
        <p:spPr>
          <a:xfrm>
            <a:off x="2566416" y="2203704"/>
            <a:ext cx="384048" cy="384048"/>
          </a:xfrm>
          <a:prstGeom prst="ellipse">
            <a:avLst/>
          </a:prstGeom>
          <a:solidFill>
            <a:srgbClr val="0E2A47"/>
          </a:solidFill>
          <a:ln w="25400">
            <a:solidFill>
              <a:srgbClr val="FFFFFF"/>
            </a:solidFill>
            <a:prstDash val="solid"/>
          </a:ln>
        </p:spPr>
      </p:sp>
      <p:sp>
        <p:nvSpPr>
          <p:cNvPr id="10" name="Text 8"/>
          <p:cNvSpPr/>
          <p:nvPr/>
        </p:nvSpPr>
        <p:spPr>
          <a:xfrm>
            <a:off x="2566416" y="2203704"/>
            <a:ext cx="384048"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v0.2</a:t>
            </a:r>
            <a:endParaRPr lang="en-US" sz="850" dirty="0"/>
          </a:p>
        </p:txBody>
      </p:sp>
      <p:sp>
        <p:nvSpPr>
          <p:cNvPr id="11" name="Text 9"/>
          <p:cNvSpPr/>
          <p:nvPr/>
        </p:nvSpPr>
        <p:spPr>
          <a:xfrm>
            <a:off x="195376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Derivación amable</a:t>
            </a:r>
            <a:endParaRPr lang="en-US" sz="1050" dirty="0"/>
          </a:p>
        </p:txBody>
      </p:sp>
      <p:sp>
        <p:nvSpPr>
          <p:cNvPr id="12" name="Text 10"/>
          <p:cNvSpPr/>
          <p:nvPr/>
        </p:nvSpPr>
        <p:spPr>
          <a:xfrm>
            <a:off x="195376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Negativa seca que corta</a:t>
            </a:r>
            <a:endParaRPr lang="en-US" sz="900" dirty="0"/>
          </a:p>
        </p:txBody>
      </p:sp>
      <p:sp>
        <p:nvSpPr>
          <p:cNvPr id="13" name="Shape 11"/>
          <p:cNvSpPr/>
          <p:nvPr/>
        </p:nvSpPr>
        <p:spPr>
          <a:xfrm>
            <a:off x="4227576" y="2203704"/>
            <a:ext cx="384048" cy="384048"/>
          </a:xfrm>
          <a:prstGeom prst="ellipse">
            <a:avLst/>
          </a:prstGeom>
          <a:solidFill>
            <a:srgbClr val="0E2A47"/>
          </a:solidFill>
          <a:ln w="25400">
            <a:solidFill>
              <a:srgbClr val="FFFFFF"/>
            </a:solidFill>
            <a:prstDash val="solid"/>
          </a:ln>
        </p:spPr>
      </p:sp>
      <p:sp>
        <p:nvSpPr>
          <p:cNvPr id="14" name="Text 12"/>
          <p:cNvSpPr/>
          <p:nvPr/>
        </p:nvSpPr>
        <p:spPr>
          <a:xfrm>
            <a:off x="4227576" y="2203704"/>
            <a:ext cx="384048"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v0.3</a:t>
            </a:r>
            <a:endParaRPr lang="en-US" sz="850" dirty="0"/>
          </a:p>
        </p:txBody>
      </p:sp>
      <p:sp>
        <p:nvSpPr>
          <p:cNvPr id="15" name="Text 13"/>
          <p:cNvSpPr/>
          <p:nvPr/>
        </p:nvSpPr>
        <p:spPr>
          <a:xfrm>
            <a:off x="361492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Precios</a:t>
            </a:r>
            <a:endParaRPr lang="en-US" sz="1050" dirty="0"/>
          </a:p>
        </p:txBody>
      </p:sp>
      <p:sp>
        <p:nvSpPr>
          <p:cNvPr id="16" name="Text 14"/>
          <p:cNvSpPr/>
          <p:nvPr/>
        </p:nvSpPr>
        <p:spPr>
          <a:xfrm>
            <a:off x="361492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Daba cifras cerradas</a:t>
            </a:r>
            <a:endParaRPr lang="en-US" sz="900" dirty="0"/>
          </a:p>
        </p:txBody>
      </p:sp>
      <p:sp>
        <p:nvSpPr>
          <p:cNvPr id="17" name="Shape 15"/>
          <p:cNvSpPr/>
          <p:nvPr/>
        </p:nvSpPr>
        <p:spPr>
          <a:xfrm>
            <a:off x="5888736" y="2203704"/>
            <a:ext cx="384048" cy="384048"/>
          </a:xfrm>
          <a:prstGeom prst="ellipse">
            <a:avLst/>
          </a:prstGeom>
          <a:solidFill>
            <a:srgbClr val="0E2A47"/>
          </a:solidFill>
          <a:ln w="25400">
            <a:solidFill>
              <a:srgbClr val="FFFFFF"/>
            </a:solidFill>
            <a:prstDash val="solid"/>
          </a:ln>
        </p:spPr>
      </p:sp>
      <p:sp>
        <p:nvSpPr>
          <p:cNvPr id="18" name="Text 16"/>
          <p:cNvSpPr/>
          <p:nvPr/>
        </p:nvSpPr>
        <p:spPr>
          <a:xfrm>
            <a:off x="5888736" y="2203704"/>
            <a:ext cx="384048"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v0.4</a:t>
            </a:r>
            <a:endParaRPr lang="en-US" sz="850" dirty="0"/>
          </a:p>
        </p:txBody>
      </p:sp>
      <p:sp>
        <p:nvSpPr>
          <p:cNvPr id="19" name="Text 17"/>
          <p:cNvSpPr/>
          <p:nvPr/>
        </p:nvSpPr>
        <p:spPr>
          <a:xfrm>
            <a:off x="527608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Vacíos de base</a:t>
            </a:r>
            <a:endParaRPr lang="en-US" sz="1050" dirty="0"/>
          </a:p>
        </p:txBody>
      </p:sp>
      <p:sp>
        <p:nvSpPr>
          <p:cNvPr id="20" name="Text 18"/>
          <p:cNvSpPr/>
          <p:nvPr/>
        </p:nvSpPr>
        <p:spPr>
          <a:xfrm>
            <a:off x="527608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Completaba lo que no sabia</a:t>
            </a:r>
            <a:endParaRPr lang="en-US" sz="900" dirty="0"/>
          </a:p>
        </p:txBody>
      </p:sp>
      <p:sp>
        <p:nvSpPr>
          <p:cNvPr id="21" name="Shape 19"/>
          <p:cNvSpPr/>
          <p:nvPr/>
        </p:nvSpPr>
        <p:spPr>
          <a:xfrm>
            <a:off x="7549896" y="2203704"/>
            <a:ext cx="384048" cy="384048"/>
          </a:xfrm>
          <a:prstGeom prst="ellipse">
            <a:avLst/>
          </a:prstGeom>
          <a:solidFill>
            <a:srgbClr val="0E2A47"/>
          </a:solidFill>
          <a:ln w="25400">
            <a:solidFill>
              <a:srgbClr val="FFFFFF"/>
            </a:solidFill>
            <a:prstDash val="solid"/>
          </a:ln>
        </p:spPr>
      </p:sp>
      <p:sp>
        <p:nvSpPr>
          <p:cNvPr id="22" name="Text 20"/>
          <p:cNvSpPr/>
          <p:nvPr/>
        </p:nvSpPr>
        <p:spPr>
          <a:xfrm>
            <a:off x="7549896" y="2203704"/>
            <a:ext cx="384048"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v0.5</a:t>
            </a:r>
            <a:endParaRPr lang="en-US" sz="850" dirty="0"/>
          </a:p>
        </p:txBody>
      </p:sp>
      <p:sp>
        <p:nvSpPr>
          <p:cNvPr id="23" name="Text 21"/>
          <p:cNvSpPr/>
          <p:nvPr/>
        </p:nvSpPr>
        <p:spPr>
          <a:xfrm>
            <a:off x="693724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Fechas relativas</a:t>
            </a:r>
            <a:endParaRPr lang="en-US" sz="1050" dirty="0"/>
          </a:p>
        </p:txBody>
      </p:sp>
      <p:sp>
        <p:nvSpPr>
          <p:cNvPr id="24" name="Text 22"/>
          <p:cNvSpPr/>
          <p:nvPr/>
        </p:nvSpPr>
        <p:spPr>
          <a:xfrm>
            <a:off x="693724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Calculaba mal el mañana</a:t>
            </a:r>
            <a:endParaRPr lang="en-US" sz="900" dirty="0"/>
          </a:p>
        </p:txBody>
      </p:sp>
      <p:sp>
        <p:nvSpPr>
          <p:cNvPr id="25" name="Shape 23"/>
          <p:cNvSpPr/>
          <p:nvPr/>
        </p:nvSpPr>
        <p:spPr>
          <a:xfrm>
            <a:off x="9211056" y="2203704"/>
            <a:ext cx="384048" cy="384048"/>
          </a:xfrm>
          <a:prstGeom prst="ellipse">
            <a:avLst/>
          </a:prstGeom>
          <a:solidFill>
            <a:srgbClr val="0E2A47"/>
          </a:solidFill>
          <a:ln w="25400">
            <a:solidFill>
              <a:srgbClr val="FFFFFF"/>
            </a:solidFill>
            <a:prstDash val="solid"/>
          </a:ln>
        </p:spPr>
      </p:sp>
      <p:sp>
        <p:nvSpPr>
          <p:cNvPr id="26" name="Text 24"/>
          <p:cNvSpPr/>
          <p:nvPr/>
        </p:nvSpPr>
        <p:spPr>
          <a:xfrm>
            <a:off x="9211056" y="2203704"/>
            <a:ext cx="384048" cy="38404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v0.6</a:t>
            </a:r>
            <a:endParaRPr lang="en-US" sz="850" dirty="0"/>
          </a:p>
        </p:txBody>
      </p:sp>
      <p:sp>
        <p:nvSpPr>
          <p:cNvPr id="27" name="Text 25"/>
          <p:cNvSpPr/>
          <p:nvPr/>
        </p:nvSpPr>
        <p:spPr>
          <a:xfrm>
            <a:off x="859840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Confirmación</a:t>
            </a:r>
            <a:endParaRPr lang="en-US" sz="1050" dirty="0"/>
          </a:p>
        </p:txBody>
      </p:sp>
      <p:sp>
        <p:nvSpPr>
          <p:cNvPr id="28" name="Text 26"/>
          <p:cNvSpPr/>
          <p:nvPr/>
        </p:nvSpPr>
        <p:spPr>
          <a:xfrm>
            <a:off x="859840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Confirmaba antes de agendar</a:t>
            </a:r>
            <a:endParaRPr lang="en-US" sz="900" dirty="0"/>
          </a:p>
        </p:txBody>
      </p:sp>
      <p:sp>
        <p:nvSpPr>
          <p:cNvPr id="29" name="Shape 27"/>
          <p:cNvSpPr/>
          <p:nvPr/>
        </p:nvSpPr>
        <p:spPr>
          <a:xfrm>
            <a:off x="10872216" y="2203704"/>
            <a:ext cx="384048" cy="384048"/>
          </a:xfrm>
          <a:prstGeom prst="ellipse">
            <a:avLst/>
          </a:prstGeom>
          <a:solidFill>
            <a:srgbClr val="00A896"/>
          </a:solidFill>
          <a:ln w="25400">
            <a:solidFill>
              <a:srgbClr val="FFFFFF"/>
            </a:solidFill>
            <a:prstDash val="solid"/>
          </a:ln>
        </p:spPr>
      </p:sp>
      <p:sp>
        <p:nvSpPr>
          <p:cNvPr id="30" name="Text 28"/>
          <p:cNvSpPr/>
          <p:nvPr/>
        </p:nvSpPr>
        <p:spPr>
          <a:xfrm>
            <a:off x="10872216" y="2203704"/>
            <a:ext cx="384048" cy="384048"/>
          </a:xfrm>
          <a:prstGeom prst="rect">
            <a:avLst/>
          </a:prstGeom>
          <a:noFill/>
          <a:ln/>
        </p:spPr>
        <p:txBody>
          <a:bodyPr wrap="square" lIns="0" tIns="0" rIns="0" bIns="0" rtlCol="0" anchor="ctr"/>
          <a:lstStyle/>
          <a:p>
            <a:pPr algn="ctr" indent="0" marL="0">
              <a:buNone/>
            </a:pPr>
            <a:r>
              <a:rPr lang="en-US" sz="850" b="1" dirty="0">
                <a:solidFill>
                  <a:srgbClr val="07182A"/>
                </a:solidFill>
                <a:latin typeface="Calibri" pitchFamily="34" charset="0"/>
                <a:ea typeface="Calibri" pitchFamily="34" charset="-122"/>
                <a:cs typeface="Calibri" pitchFamily="34" charset="-120"/>
              </a:rPr>
              <a:t>v0.7</a:t>
            </a:r>
            <a:endParaRPr lang="en-US" sz="850" dirty="0"/>
          </a:p>
        </p:txBody>
      </p:sp>
      <p:sp>
        <p:nvSpPr>
          <p:cNvPr id="31" name="Text 29"/>
          <p:cNvSpPr/>
          <p:nvPr/>
        </p:nvSpPr>
        <p:spPr>
          <a:xfrm>
            <a:off x="10259568" y="2706624"/>
            <a:ext cx="1609344" cy="237744"/>
          </a:xfrm>
          <a:prstGeom prst="rect">
            <a:avLst/>
          </a:prstGeom>
          <a:noFill/>
          <a:ln/>
        </p:spPr>
        <p:txBody>
          <a:bodyPr wrap="square" lIns="0" tIns="0" rIns="0" bIns="0" rtlCol="0" anchor="ctr"/>
          <a:lstStyle/>
          <a:p>
            <a:pPr algn="ctr" indent="0" marL="0">
              <a:buNone/>
            </a:pPr>
            <a:r>
              <a:rPr lang="en-US" sz="1050" b="1" dirty="0">
                <a:solidFill>
                  <a:srgbClr val="0E2A47"/>
                </a:solidFill>
                <a:latin typeface="Calibri" pitchFamily="34" charset="0"/>
                <a:ea typeface="Calibri" pitchFamily="34" charset="-122"/>
                <a:cs typeface="Calibri" pitchFamily="34" charset="-120"/>
              </a:rPr>
              <a:t>Inyección</a:t>
            </a:r>
            <a:endParaRPr lang="en-US" sz="1050" dirty="0"/>
          </a:p>
        </p:txBody>
      </p:sp>
      <p:sp>
        <p:nvSpPr>
          <p:cNvPr id="32" name="Text 30"/>
          <p:cNvSpPr/>
          <p:nvPr/>
        </p:nvSpPr>
        <p:spPr>
          <a:xfrm>
            <a:off x="10259568" y="2944368"/>
            <a:ext cx="1609344" cy="530352"/>
          </a:xfrm>
          <a:prstGeom prst="rect">
            <a:avLst/>
          </a:prstGeom>
          <a:noFill/>
          <a:ln/>
        </p:spPr>
        <p:txBody>
          <a:bodyPr wrap="square" lIns="0" tIns="0" rIns="0" bIns="0" rtlCol="0" anchor="ctr"/>
          <a:lstStyle/>
          <a:p>
            <a:pPr algn="ctr" indent="0" marL="0">
              <a:lnSpc>
                <a:spcPts val="1200"/>
              </a:lnSpc>
              <a:buNone/>
            </a:pPr>
            <a:r>
              <a:rPr lang="en-US" sz="900" dirty="0">
                <a:solidFill>
                  <a:srgbClr val="5A6D7C"/>
                </a:solidFill>
                <a:latin typeface="Calibri" pitchFamily="34" charset="0"/>
                <a:ea typeface="Calibri" pitchFamily="34" charset="-122"/>
                <a:cs typeface="Calibri" pitchFamily="34" charset="-120"/>
              </a:rPr>
              <a:t>Vaciló ante instrucciones hostiles</a:t>
            </a:r>
            <a:endParaRPr lang="en-US" sz="900" dirty="0"/>
          </a:p>
        </p:txBody>
      </p:sp>
      <p:sp>
        <p:nvSpPr>
          <p:cNvPr id="33" name="Shape 31"/>
          <p:cNvSpPr/>
          <p:nvPr/>
        </p:nvSpPr>
        <p:spPr>
          <a:xfrm>
            <a:off x="548640" y="3675888"/>
            <a:ext cx="5349240" cy="2395728"/>
          </a:xfrm>
          <a:prstGeom prst="roundRect">
            <a:avLst>
              <a:gd name="adj" fmla="val 2290"/>
            </a:avLst>
          </a:prstGeom>
          <a:solidFill>
            <a:srgbClr val="EAF1F6"/>
          </a:solidFill>
          <a:ln w="12700">
            <a:solidFill>
              <a:srgbClr val="9FCFC8"/>
            </a:solidFill>
            <a:prstDash val="solid"/>
          </a:ln>
        </p:spPr>
      </p:sp>
      <p:sp>
        <p:nvSpPr>
          <p:cNvPr id="34" name="Text 32"/>
          <p:cNvSpPr/>
          <p:nvPr/>
        </p:nvSpPr>
        <p:spPr>
          <a:xfrm>
            <a:off x="822960" y="3858768"/>
            <a:ext cx="4800600" cy="274320"/>
          </a:xfrm>
          <a:prstGeom prst="rect">
            <a:avLst/>
          </a:prstGeom>
          <a:noFill/>
          <a:ln/>
        </p:spPr>
        <p:txBody>
          <a:bodyPr wrap="square" lIns="0" tIns="0" rIns="0" bIns="0" rtlCol="0" anchor="ctr"/>
          <a:lstStyle/>
          <a:p>
            <a:pPr indent="0" marL="0">
              <a:buNone/>
            </a:pPr>
            <a:r>
              <a:rPr lang="en-US" sz="1300" b="1" dirty="0">
                <a:solidFill>
                  <a:srgbClr val="046E66"/>
                </a:solidFill>
                <a:latin typeface="Calibri" pitchFamily="34" charset="0"/>
                <a:ea typeface="Calibri" pitchFamily="34" charset="-122"/>
                <a:cs typeface="Calibri" pitchFamily="34" charset="-120"/>
              </a:rPr>
              <a:t>El hallazgo más transferible</a:t>
            </a:r>
            <a:endParaRPr lang="en-US" sz="1300" dirty="0"/>
          </a:p>
        </p:txBody>
      </p:sp>
      <p:sp>
        <p:nvSpPr>
          <p:cNvPr id="35" name="Text 33"/>
          <p:cNvSpPr/>
          <p:nvPr/>
        </p:nvSpPr>
        <p:spPr>
          <a:xfrm>
            <a:off x="822960" y="4169664"/>
            <a:ext cx="4800600" cy="685800"/>
          </a:xfrm>
          <a:prstGeom prst="rect">
            <a:avLst/>
          </a:prstGeom>
          <a:noFill/>
          <a:ln/>
        </p:spPr>
        <p:txBody>
          <a:bodyPr wrap="square" lIns="0" tIns="0" rIns="0" bIns="0" rtlCol="0" anchor="ctr"/>
          <a:lstStyle/>
          <a:p>
            <a:pPr indent="0" marL="0">
              <a:lnSpc>
                <a:spcPts val="1600"/>
              </a:lnSpc>
              <a:buNone/>
            </a:pPr>
            <a:r>
              <a:rPr lang="en-US" sz="1150" dirty="0">
                <a:solidFill>
                  <a:srgbClr val="22323F"/>
                </a:solidFill>
                <a:latin typeface="Calibri" pitchFamily="34" charset="0"/>
                <a:ea typeface="Calibri" pitchFamily="34" charset="-122"/>
                <a:cs typeface="Calibri" pitchFamily="34" charset="-120"/>
              </a:rPr>
              <a:t>Prohibir sin ofrecer alternativa produce un sistema inservible. La versión que solo contenía prohibiciones respondía con negativas secas que cortaban la conversación.</a:t>
            </a:r>
            <a:endParaRPr lang="en-US" sz="1150" dirty="0"/>
          </a:p>
        </p:txBody>
      </p:sp>
      <p:sp>
        <p:nvSpPr>
          <p:cNvPr id="36" name="Shape 34"/>
          <p:cNvSpPr/>
          <p:nvPr/>
        </p:nvSpPr>
        <p:spPr>
          <a:xfrm>
            <a:off x="822960" y="4882896"/>
            <a:ext cx="4800600" cy="457200"/>
          </a:xfrm>
          <a:prstGeom prst="roundRect">
            <a:avLst>
              <a:gd name="adj" fmla="val 12000"/>
            </a:avLst>
          </a:prstGeom>
          <a:solidFill>
            <a:srgbClr val="FFFFFF"/>
          </a:solidFill>
          <a:ln w="12700">
            <a:solidFill>
              <a:srgbClr val="00A896"/>
            </a:solidFill>
            <a:prstDash val="solid"/>
          </a:ln>
        </p:spPr>
      </p:sp>
      <p:sp>
        <p:nvSpPr>
          <p:cNvPr id="37" name="Text 35"/>
          <p:cNvSpPr/>
          <p:nvPr/>
        </p:nvSpPr>
        <p:spPr>
          <a:xfrm>
            <a:off x="822960" y="4882896"/>
            <a:ext cx="4800600" cy="45720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Respuesta canónica:  reconocer  →  derivar  →  ofrecer cita</a:t>
            </a:r>
            <a:endParaRPr lang="en-US" sz="1200" dirty="0"/>
          </a:p>
        </p:txBody>
      </p:sp>
      <p:sp>
        <p:nvSpPr>
          <p:cNvPr id="38" name="Text 36"/>
          <p:cNvSpPr/>
          <p:nvPr/>
        </p:nvSpPr>
        <p:spPr>
          <a:xfrm>
            <a:off x="822960" y="5413248"/>
            <a:ext cx="4800600" cy="502920"/>
          </a:xfrm>
          <a:prstGeom prst="rect">
            <a:avLst/>
          </a:prstGeom>
          <a:noFill/>
          <a:ln/>
        </p:spPr>
        <p:txBody>
          <a:bodyPr wrap="square" lIns="0" tIns="0" rIns="0" bIns="0" rtlCol="0" anchor="ctr"/>
          <a:lstStyle/>
          <a:p>
            <a:pPr indent="0" marL="0">
              <a:lnSpc>
                <a:spcPts val="1500"/>
              </a:lnSpc>
              <a:buNone/>
            </a:pPr>
            <a:r>
              <a:rPr lang="en-US" sz="1150" i="1" dirty="0">
                <a:solidFill>
                  <a:srgbClr val="046E66"/>
                </a:solidFill>
                <a:latin typeface="Cambria" pitchFamily="34" charset="0"/>
                <a:ea typeface="Cambria" pitchFamily="34" charset="-122"/>
                <a:cs typeface="Cambria" pitchFamily="34" charset="-120"/>
              </a:rPr>
              <a:t>En un dominio regulado, diseñar el prompt consiste tanto en definir la salida correcta como en cerrar las incorrectas.</a:t>
            </a:r>
            <a:endParaRPr lang="en-US" sz="1150" dirty="0"/>
          </a:p>
        </p:txBody>
      </p:sp>
      <p:sp>
        <p:nvSpPr>
          <p:cNvPr id="39" name="Shape 37"/>
          <p:cNvSpPr/>
          <p:nvPr/>
        </p:nvSpPr>
        <p:spPr>
          <a:xfrm>
            <a:off x="6263640" y="3675888"/>
            <a:ext cx="5349240" cy="2395728"/>
          </a:xfrm>
          <a:prstGeom prst="roundRect">
            <a:avLst>
              <a:gd name="adj" fmla="val 2290"/>
            </a:avLst>
          </a:prstGeom>
          <a:solidFill>
            <a:srgbClr val="0E2A47"/>
          </a:solidFill>
          <a:ln w="12700">
            <a:solidFill>
              <a:srgbClr val="0E2A47"/>
            </a:solidFill>
            <a:prstDash val="solid"/>
          </a:ln>
        </p:spPr>
      </p:sp>
      <p:sp>
        <p:nvSpPr>
          <p:cNvPr id="40" name="Text 38"/>
          <p:cNvSpPr/>
          <p:nvPr/>
        </p:nvSpPr>
        <p:spPr>
          <a:xfrm>
            <a:off x="6537960" y="3858768"/>
            <a:ext cx="480060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Las reglas del prompt no bastan</a:t>
            </a:r>
            <a:endParaRPr lang="en-US" sz="1300" dirty="0"/>
          </a:p>
        </p:txBody>
      </p:sp>
      <p:sp>
        <p:nvSpPr>
          <p:cNvPr id="41" name="Text 39"/>
          <p:cNvSpPr/>
          <p:nvPr/>
        </p:nvSpPr>
        <p:spPr>
          <a:xfrm>
            <a:off x="6537960" y="4169664"/>
            <a:ext cx="4800600" cy="1188720"/>
          </a:xfrm>
          <a:prstGeom prst="rect">
            <a:avLst/>
          </a:prstGeom>
          <a:noFill/>
          <a:ln/>
        </p:spPr>
        <p:txBody>
          <a:bodyPr wrap="square" lIns="0" tIns="0" rIns="0" bIns="0" rtlCol="0" anchor="ctr"/>
          <a:lstStyle/>
          <a:p>
            <a:pPr indent="0" marL="0">
              <a:lnSpc>
                <a:spcPts val="1600"/>
              </a:lnSpc>
              <a:buNone/>
            </a:pPr>
            <a:r>
              <a:rPr lang="en-US" sz="1150" dirty="0">
                <a:solidFill>
                  <a:srgbClr val="C6D6E2"/>
                </a:solidFill>
                <a:latin typeface="Calibri" pitchFamily="34" charset="0"/>
                <a:ea typeface="Calibri" pitchFamily="34" charset="-122"/>
                <a:cs typeface="Calibri" pitchFamily="34" charset="-120"/>
              </a:rPr>
              <a:t>Las pruebas de inyección mostraron vacilación del modelo ante instrucciones adversariales. Se incorporó verificación de la salida como control independiente: si la respuesta contiene una afirmación clínica o un precio cerrado no autorizado, se bloquea antes de enviarse o sintetizarse.</a:t>
            </a:r>
            <a:endParaRPr lang="en-US" sz="1150" dirty="0"/>
          </a:p>
        </p:txBody>
      </p:sp>
      <p:sp>
        <p:nvSpPr>
          <p:cNvPr id="42" name="Text 40"/>
          <p:cNvSpPr/>
          <p:nvPr/>
        </p:nvSpPr>
        <p:spPr>
          <a:xfrm>
            <a:off x="6537960" y="5413248"/>
            <a:ext cx="4800600" cy="548640"/>
          </a:xfrm>
          <a:prstGeom prst="rect">
            <a:avLst/>
          </a:prstGeom>
          <a:noFill/>
          <a:ln/>
        </p:spPr>
        <p:txBody>
          <a:bodyPr wrap="square" lIns="0" tIns="0" rIns="0" bIns="0" rtlCol="0" anchor="ctr"/>
          <a:lstStyle/>
          <a:p>
            <a:pPr indent="0" marL="0">
              <a:lnSpc>
                <a:spcPts val="1600"/>
              </a:lnSpc>
              <a:buNone/>
            </a:pPr>
            <a:r>
              <a:rPr lang="en-US" sz="1200" i="1" dirty="0">
                <a:solidFill>
                  <a:srgbClr val="FFFFFF"/>
                </a:solidFill>
                <a:latin typeface="Cambria" pitchFamily="34" charset="0"/>
                <a:ea typeface="Cambria" pitchFamily="34" charset="-122"/>
                <a:cs typeface="Cambria" pitchFamily="34" charset="-120"/>
              </a:rPr>
              <a:t>«Un sistema que confía únicamente en que el modelo obedezca sus instrucciones no tiene un control: tiene una expectativa.»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07 · PROTOCOLO DE PRUEBAS Y EVALUACIÓN</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Criterios binarios y no negociables: sin aprobación no hay producción</a:t>
            </a:r>
            <a:endParaRPr lang="en-US" sz="2700" dirty="0"/>
          </a:p>
        </p:txBody>
      </p:sp>
      <p:sp>
        <p:nvSpPr>
          <p:cNvPr id="4" name="Shape 2"/>
          <p:cNvSpPr/>
          <p:nvPr/>
        </p:nvSpPr>
        <p:spPr>
          <a:xfrm>
            <a:off x="548640" y="2048256"/>
            <a:ext cx="2642616" cy="2011680"/>
          </a:xfrm>
          <a:prstGeom prst="roundRect">
            <a:avLst>
              <a:gd name="adj" fmla="val 2727"/>
            </a:avLst>
          </a:prstGeom>
          <a:solidFill>
            <a:srgbClr val="F5F8FB"/>
          </a:solidFill>
          <a:ln w="12700">
            <a:solidFill>
              <a:srgbClr val="DCE7EF"/>
            </a:solidFill>
            <a:prstDash val="solid"/>
          </a:ln>
        </p:spPr>
      </p:sp>
      <p:sp>
        <p:nvSpPr>
          <p:cNvPr id="5" name="Text 3"/>
          <p:cNvSpPr/>
          <p:nvPr/>
        </p:nvSpPr>
        <p:spPr>
          <a:xfrm>
            <a:off x="731520" y="2194560"/>
            <a:ext cx="2276856" cy="640080"/>
          </a:xfrm>
          <a:prstGeom prst="rect">
            <a:avLst/>
          </a:prstGeom>
          <a:noFill/>
          <a:ln/>
        </p:spPr>
        <p:txBody>
          <a:bodyPr wrap="square" lIns="0" tIns="0" rIns="0" bIns="0" rtlCol="0" anchor="ctr"/>
          <a:lstStyle/>
          <a:p>
            <a:pPr indent="0" marL="0">
              <a:buNone/>
            </a:pPr>
            <a:r>
              <a:rPr lang="en-US" sz="4000" b="1" dirty="0">
                <a:solidFill>
                  <a:srgbClr val="0E2A47"/>
                </a:solidFill>
                <a:latin typeface="Cambria" pitchFamily="34" charset="0"/>
                <a:ea typeface="Cambria" pitchFamily="34" charset="-122"/>
                <a:cs typeface="Cambria" pitchFamily="34" charset="-120"/>
              </a:rPr>
              <a:t>13</a:t>
            </a:r>
            <a:endParaRPr lang="en-US" sz="4000" dirty="0"/>
          </a:p>
        </p:txBody>
      </p:sp>
      <p:sp>
        <p:nvSpPr>
          <p:cNvPr id="6" name="Text 4"/>
          <p:cNvSpPr/>
          <p:nvPr/>
        </p:nvSpPr>
        <p:spPr>
          <a:xfrm>
            <a:off x="731520" y="2852928"/>
            <a:ext cx="2276856" cy="457200"/>
          </a:xfrm>
          <a:prstGeom prst="rect">
            <a:avLst/>
          </a:prstGeom>
          <a:noFill/>
          <a:ln/>
        </p:spPr>
        <p:txBody>
          <a:bodyPr wrap="square" lIns="0" tIns="0" rIns="0" bIns="0" rtlCol="0" anchor="ctr"/>
          <a:lstStyle/>
          <a:p>
            <a:pPr indent="0" marL="0">
              <a:lnSpc>
                <a:spcPts val="1500"/>
              </a:lnSpc>
              <a:buNone/>
            </a:pPr>
            <a:r>
              <a:rPr lang="en-US" sz="1150" b="1" dirty="0">
                <a:solidFill>
                  <a:srgbClr val="0E2A47"/>
                </a:solidFill>
                <a:latin typeface="Calibri" pitchFamily="34" charset="0"/>
                <a:ea typeface="Calibri" pitchFamily="34" charset="-122"/>
                <a:cs typeface="Calibri" pitchFamily="34" charset="-120"/>
              </a:rPr>
              <a:t>categorías de la batería adversarial</a:t>
            </a:r>
            <a:endParaRPr lang="en-US" sz="1150" dirty="0"/>
          </a:p>
        </p:txBody>
      </p:sp>
      <p:sp>
        <p:nvSpPr>
          <p:cNvPr id="7" name="Text 5"/>
          <p:cNvSpPr/>
          <p:nvPr/>
        </p:nvSpPr>
        <p:spPr>
          <a:xfrm>
            <a:off x="731520" y="3346704"/>
            <a:ext cx="2276856" cy="621792"/>
          </a:xfrm>
          <a:prstGeom prst="rect">
            <a:avLst/>
          </a:prstGeom>
          <a:noFill/>
          <a:ln/>
        </p:spPr>
        <p:txBody>
          <a:bodyPr wrap="square" lIns="0" tIns="0" rIns="0" bIns="0" rtlCol="0" anchor="ctr"/>
          <a:lstStyle/>
          <a:p>
            <a:pPr indent="0" marL="0">
              <a:lnSpc>
                <a:spcPts val="1300"/>
              </a:lnSpc>
              <a:buNone/>
            </a:pPr>
            <a:r>
              <a:rPr lang="en-US" sz="950" dirty="0">
                <a:solidFill>
                  <a:srgbClr val="5A6D7C"/>
                </a:solidFill>
                <a:latin typeface="Calibri" pitchFamily="34" charset="0"/>
                <a:ea typeface="Calibri" pitchFamily="34" charset="-122"/>
                <a:cs typeface="Calibri" pitchFamily="34" charset="-120"/>
              </a:rPr>
              <a:t>Se reejecuta íntegra tras cada cambio del prompt, no solo al incorporar una clínica</a:t>
            </a:r>
            <a:endParaRPr lang="en-US" sz="950" dirty="0"/>
          </a:p>
        </p:txBody>
      </p:sp>
      <p:sp>
        <p:nvSpPr>
          <p:cNvPr id="8" name="Shape 6"/>
          <p:cNvSpPr/>
          <p:nvPr/>
        </p:nvSpPr>
        <p:spPr>
          <a:xfrm>
            <a:off x="3374136" y="2048256"/>
            <a:ext cx="2642616" cy="2011680"/>
          </a:xfrm>
          <a:prstGeom prst="roundRect">
            <a:avLst>
              <a:gd name="adj" fmla="val 2727"/>
            </a:avLst>
          </a:prstGeom>
          <a:solidFill>
            <a:srgbClr val="F5F8FB"/>
          </a:solidFill>
          <a:ln w="12700">
            <a:solidFill>
              <a:srgbClr val="DCE7EF"/>
            </a:solidFill>
            <a:prstDash val="solid"/>
          </a:ln>
        </p:spPr>
      </p:sp>
      <p:sp>
        <p:nvSpPr>
          <p:cNvPr id="9" name="Text 7"/>
          <p:cNvSpPr/>
          <p:nvPr/>
        </p:nvSpPr>
        <p:spPr>
          <a:xfrm>
            <a:off x="3557016" y="2194560"/>
            <a:ext cx="2276856" cy="640080"/>
          </a:xfrm>
          <a:prstGeom prst="rect">
            <a:avLst/>
          </a:prstGeom>
          <a:noFill/>
          <a:ln/>
        </p:spPr>
        <p:txBody>
          <a:bodyPr wrap="square" lIns="0" tIns="0" rIns="0" bIns="0" rtlCol="0" anchor="ctr"/>
          <a:lstStyle/>
          <a:p>
            <a:pPr indent="0" marL="0">
              <a:buNone/>
            </a:pPr>
            <a:r>
              <a:rPr lang="en-US" sz="4000" b="1" dirty="0">
                <a:solidFill>
                  <a:srgbClr val="B5352C"/>
                </a:solidFill>
                <a:latin typeface="Cambria" pitchFamily="34" charset="0"/>
                <a:ea typeface="Cambria" pitchFamily="34" charset="-122"/>
                <a:cs typeface="Cambria" pitchFamily="34" charset="-120"/>
              </a:rPr>
              <a:t>0</a:t>
            </a:r>
            <a:endParaRPr lang="en-US" sz="4000" dirty="0"/>
          </a:p>
        </p:txBody>
      </p:sp>
      <p:sp>
        <p:nvSpPr>
          <p:cNvPr id="10" name="Text 8"/>
          <p:cNvSpPr/>
          <p:nvPr/>
        </p:nvSpPr>
        <p:spPr>
          <a:xfrm>
            <a:off x="3557016" y="2852928"/>
            <a:ext cx="2276856" cy="457200"/>
          </a:xfrm>
          <a:prstGeom prst="rect">
            <a:avLst/>
          </a:prstGeom>
          <a:noFill/>
          <a:ln/>
        </p:spPr>
        <p:txBody>
          <a:bodyPr wrap="square" lIns="0" tIns="0" rIns="0" bIns="0" rtlCol="0" anchor="ctr"/>
          <a:lstStyle/>
          <a:p>
            <a:pPr indent="0" marL="0">
              <a:lnSpc>
                <a:spcPts val="1500"/>
              </a:lnSpc>
              <a:buNone/>
            </a:pPr>
            <a:r>
              <a:rPr lang="en-US" sz="1150" b="1" dirty="0">
                <a:solidFill>
                  <a:srgbClr val="0E2A47"/>
                </a:solidFill>
                <a:latin typeface="Calibri" pitchFamily="34" charset="0"/>
                <a:ea typeface="Calibri" pitchFamily="34" charset="-122"/>
                <a:cs typeface="Calibri" pitchFamily="34" charset="-120"/>
              </a:rPr>
              <a:t>afirmaciones clínicas o precios cerrados</a:t>
            </a:r>
            <a:endParaRPr lang="en-US" sz="1150" dirty="0"/>
          </a:p>
        </p:txBody>
      </p:sp>
      <p:sp>
        <p:nvSpPr>
          <p:cNvPr id="11" name="Text 9"/>
          <p:cNvSpPr/>
          <p:nvPr/>
        </p:nvSpPr>
        <p:spPr>
          <a:xfrm>
            <a:off x="3557016" y="3346704"/>
            <a:ext cx="2276856" cy="621792"/>
          </a:xfrm>
          <a:prstGeom prst="rect">
            <a:avLst/>
          </a:prstGeom>
          <a:noFill/>
          <a:ln/>
        </p:spPr>
        <p:txBody>
          <a:bodyPr wrap="square" lIns="0" tIns="0" rIns="0" bIns="0" rtlCol="0" anchor="ctr"/>
          <a:lstStyle/>
          <a:p>
            <a:pPr indent="0" marL="0">
              <a:lnSpc>
                <a:spcPts val="1300"/>
              </a:lnSpc>
              <a:buNone/>
            </a:pPr>
            <a:r>
              <a:rPr lang="en-US" sz="950" dirty="0">
                <a:solidFill>
                  <a:srgbClr val="5A6D7C"/>
                </a:solidFill>
                <a:latin typeface="Calibri" pitchFamily="34" charset="0"/>
                <a:ea typeface="Calibri" pitchFamily="34" charset="-122"/>
                <a:cs typeface="Calibri" pitchFamily="34" charset="-120"/>
              </a:rPr>
              <a:t>Bloqueante absoluto. También 0 fugas de datos entre clínicas y 0 citas mal creadas</a:t>
            </a:r>
            <a:endParaRPr lang="en-US" sz="950" dirty="0"/>
          </a:p>
        </p:txBody>
      </p:sp>
      <p:sp>
        <p:nvSpPr>
          <p:cNvPr id="12" name="Shape 10"/>
          <p:cNvSpPr/>
          <p:nvPr/>
        </p:nvSpPr>
        <p:spPr>
          <a:xfrm>
            <a:off x="6199632" y="2048256"/>
            <a:ext cx="2642616" cy="2011680"/>
          </a:xfrm>
          <a:prstGeom prst="roundRect">
            <a:avLst>
              <a:gd name="adj" fmla="val 2727"/>
            </a:avLst>
          </a:prstGeom>
          <a:solidFill>
            <a:srgbClr val="F5F8FB"/>
          </a:solidFill>
          <a:ln w="12700">
            <a:solidFill>
              <a:srgbClr val="DCE7EF"/>
            </a:solidFill>
            <a:prstDash val="solid"/>
          </a:ln>
        </p:spPr>
      </p:sp>
      <p:sp>
        <p:nvSpPr>
          <p:cNvPr id="13" name="Text 11"/>
          <p:cNvSpPr/>
          <p:nvPr/>
        </p:nvSpPr>
        <p:spPr>
          <a:xfrm>
            <a:off x="6382512" y="2194560"/>
            <a:ext cx="2276856" cy="640080"/>
          </a:xfrm>
          <a:prstGeom prst="rect">
            <a:avLst/>
          </a:prstGeom>
          <a:noFill/>
          <a:ln/>
        </p:spPr>
        <p:txBody>
          <a:bodyPr wrap="square" lIns="0" tIns="0" rIns="0" bIns="0" rtlCol="0" anchor="ctr"/>
          <a:lstStyle/>
          <a:p>
            <a:pPr indent="0" marL="0">
              <a:buNone/>
            </a:pPr>
            <a:r>
              <a:rPr lang="en-US" sz="4000" b="1" dirty="0">
                <a:solidFill>
                  <a:srgbClr val="B5352C"/>
                </a:solidFill>
                <a:latin typeface="Cambria" pitchFamily="34" charset="0"/>
                <a:ea typeface="Cambria" pitchFamily="34" charset="-122"/>
                <a:cs typeface="Cambria" pitchFamily="34" charset="-120"/>
              </a:rPr>
              <a:t>100 %</a:t>
            </a:r>
            <a:endParaRPr lang="en-US" sz="4000" dirty="0"/>
          </a:p>
        </p:txBody>
      </p:sp>
      <p:sp>
        <p:nvSpPr>
          <p:cNvPr id="14" name="Text 12"/>
          <p:cNvSpPr/>
          <p:nvPr/>
        </p:nvSpPr>
        <p:spPr>
          <a:xfrm>
            <a:off x="6382512" y="2852928"/>
            <a:ext cx="2276856" cy="457200"/>
          </a:xfrm>
          <a:prstGeom prst="rect">
            <a:avLst/>
          </a:prstGeom>
          <a:noFill/>
          <a:ln/>
        </p:spPr>
        <p:txBody>
          <a:bodyPr wrap="square" lIns="0" tIns="0" rIns="0" bIns="0" rtlCol="0" anchor="ctr"/>
          <a:lstStyle/>
          <a:p>
            <a:pPr indent="0" marL="0">
              <a:lnSpc>
                <a:spcPts val="1500"/>
              </a:lnSpc>
              <a:buNone/>
            </a:pPr>
            <a:r>
              <a:rPr lang="en-US" sz="1150" b="1" dirty="0">
                <a:solidFill>
                  <a:srgbClr val="0E2A47"/>
                </a:solidFill>
                <a:latin typeface="Calibri" pitchFamily="34" charset="0"/>
                <a:ea typeface="Calibri" pitchFamily="34" charset="-122"/>
                <a:cs typeface="Calibri" pitchFamily="34" charset="-120"/>
              </a:rPr>
              <a:t>urgencias derivadas y escaladas</a:t>
            </a:r>
            <a:endParaRPr lang="en-US" sz="1150" dirty="0"/>
          </a:p>
        </p:txBody>
      </p:sp>
      <p:sp>
        <p:nvSpPr>
          <p:cNvPr id="15" name="Text 13"/>
          <p:cNvSpPr/>
          <p:nvPr/>
        </p:nvSpPr>
        <p:spPr>
          <a:xfrm>
            <a:off x="6382512" y="3346704"/>
            <a:ext cx="2276856" cy="621792"/>
          </a:xfrm>
          <a:prstGeom prst="rect">
            <a:avLst/>
          </a:prstGeom>
          <a:noFill/>
          <a:ln/>
        </p:spPr>
        <p:txBody>
          <a:bodyPr wrap="square" lIns="0" tIns="0" rIns="0" bIns="0" rtlCol="0" anchor="ctr"/>
          <a:lstStyle/>
          <a:p>
            <a:pPr indent="0" marL="0">
              <a:lnSpc>
                <a:spcPts val="1300"/>
              </a:lnSpc>
              <a:buNone/>
            </a:pPr>
            <a:r>
              <a:rPr lang="en-US" sz="950" dirty="0">
                <a:solidFill>
                  <a:srgbClr val="5A6D7C"/>
                </a:solidFill>
                <a:latin typeface="Calibri" pitchFamily="34" charset="0"/>
                <a:ea typeface="Calibri" pitchFamily="34" charset="-122"/>
                <a:cs typeface="Calibri" pitchFamily="34" charset="-120"/>
              </a:rPr>
              <a:t>Bloqueante absoluto, junto con la revelación de la naturaleza artificial del agente</a:t>
            </a:r>
            <a:endParaRPr lang="en-US" sz="950" dirty="0"/>
          </a:p>
        </p:txBody>
      </p:sp>
      <p:sp>
        <p:nvSpPr>
          <p:cNvPr id="16" name="Shape 14"/>
          <p:cNvSpPr/>
          <p:nvPr/>
        </p:nvSpPr>
        <p:spPr>
          <a:xfrm>
            <a:off x="9025128" y="2048256"/>
            <a:ext cx="2642616" cy="2011680"/>
          </a:xfrm>
          <a:prstGeom prst="roundRect">
            <a:avLst>
              <a:gd name="adj" fmla="val 2727"/>
            </a:avLst>
          </a:prstGeom>
          <a:solidFill>
            <a:srgbClr val="FFFFFF"/>
          </a:solidFill>
          <a:ln w="12700">
            <a:solidFill>
              <a:srgbClr val="DCE7EF"/>
            </a:solidFill>
            <a:prstDash val="solid"/>
          </a:ln>
        </p:spPr>
      </p:sp>
      <p:sp>
        <p:nvSpPr>
          <p:cNvPr id="17" name="Text 15"/>
          <p:cNvSpPr/>
          <p:nvPr/>
        </p:nvSpPr>
        <p:spPr>
          <a:xfrm>
            <a:off x="9208008" y="2194560"/>
            <a:ext cx="2276856" cy="640080"/>
          </a:xfrm>
          <a:prstGeom prst="rect">
            <a:avLst/>
          </a:prstGeom>
          <a:noFill/>
          <a:ln/>
        </p:spPr>
        <p:txBody>
          <a:bodyPr wrap="square" lIns="0" tIns="0" rIns="0" bIns="0" rtlCol="0" anchor="ctr"/>
          <a:lstStyle/>
          <a:p>
            <a:pPr indent="0" marL="0">
              <a:buNone/>
            </a:pPr>
            <a:r>
              <a:rPr lang="en-US" sz="4000" b="1" dirty="0">
                <a:solidFill>
                  <a:srgbClr val="046E66"/>
                </a:solidFill>
                <a:latin typeface="Cambria" pitchFamily="34" charset="0"/>
                <a:ea typeface="Cambria" pitchFamily="34" charset="-122"/>
                <a:cs typeface="Cambria" pitchFamily="34" charset="-120"/>
              </a:rPr>
              <a:t>≥ 95 %</a:t>
            </a:r>
            <a:endParaRPr lang="en-US" sz="4000" dirty="0"/>
          </a:p>
        </p:txBody>
      </p:sp>
      <p:sp>
        <p:nvSpPr>
          <p:cNvPr id="18" name="Text 16"/>
          <p:cNvSpPr/>
          <p:nvPr/>
        </p:nvSpPr>
        <p:spPr>
          <a:xfrm>
            <a:off x="9208008" y="2852928"/>
            <a:ext cx="2276856" cy="457200"/>
          </a:xfrm>
          <a:prstGeom prst="rect">
            <a:avLst/>
          </a:prstGeom>
          <a:noFill/>
          <a:ln/>
        </p:spPr>
        <p:txBody>
          <a:bodyPr wrap="square" lIns="0" tIns="0" rIns="0" bIns="0" rtlCol="0" anchor="ctr"/>
          <a:lstStyle/>
          <a:p>
            <a:pPr indent="0" marL="0">
              <a:lnSpc>
                <a:spcPts val="1500"/>
              </a:lnSpc>
              <a:buNone/>
            </a:pPr>
            <a:r>
              <a:rPr lang="en-US" sz="1150" b="1" dirty="0">
                <a:solidFill>
                  <a:srgbClr val="0E2A47"/>
                </a:solidFill>
                <a:latin typeface="Calibri" pitchFamily="34" charset="0"/>
                <a:ea typeface="Calibri" pitchFamily="34" charset="-122"/>
                <a:cs typeface="Calibri" pitchFamily="34" charset="-120"/>
              </a:rPr>
              <a:t>respuestas correctas y en tono</a:t>
            </a:r>
            <a:endParaRPr lang="en-US" sz="1150" dirty="0"/>
          </a:p>
        </p:txBody>
      </p:sp>
      <p:sp>
        <p:nvSpPr>
          <p:cNvPr id="19" name="Text 17"/>
          <p:cNvSpPr/>
          <p:nvPr/>
        </p:nvSpPr>
        <p:spPr>
          <a:xfrm>
            <a:off x="9208008" y="3346704"/>
            <a:ext cx="2276856" cy="621792"/>
          </a:xfrm>
          <a:prstGeom prst="rect">
            <a:avLst/>
          </a:prstGeom>
          <a:noFill/>
          <a:ln/>
        </p:spPr>
        <p:txBody>
          <a:bodyPr wrap="square" lIns="0" tIns="0" rIns="0" bIns="0" rtlCol="0" anchor="ctr"/>
          <a:lstStyle/>
          <a:p>
            <a:pPr indent="0" marL="0">
              <a:lnSpc>
                <a:spcPts val="1300"/>
              </a:lnSpc>
              <a:buNone/>
            </a:pPr>
            <a:r>
              <a:rPr lang="en-US" sz="950" dirty="0">
                <a:solidFill>
                  <a:srgbClr val="5A6D7C"/>
                </a:solidFill>
                <a:latin typeface="Calibri" pitchFamily="34" charset="0"/>
                <a:ea typeface="Calibri" pitchFamily="34" charset="-122"/>
                <a:cs typeface="Calibri" pitchFamily="34" charset="-120"/>
              </a:rPr>
              <a:t>Único criterio con margen: se acepta el error de forma, nunca el error de frontera</a:t>
            </a:r>
            <a:endParaRPr lang="en-US" sz="950" dirty="0"/>
          </a:p>
        </p:txBody>
      </p:sp>
      <p:sp>
        <p:nvSpPr>
          <p:cNvPr id="20" name="Shape 18"/>
          <p:cNvSpPr/>
          <p:nvPr/>
        </p:nvSpPr>
        <p:spPr>
          <a:xfrm>
            <a:off x="548640" y="4279392"/>
            <a:ext cx="6858000" cy="1810512"/>
          </a:xfrm>
          <a:prstGeom prst="roundRect">
            <a:avLst>
              <a:gd name="adj" fmla="val 3030"/>
            </a:avLst>
          </a:prstGeom>
          <a:solidFill>
            <a:srgbClr val="FFFFFF"/>
          </a:solidFill>
          <a:ln w="12700">
            <a:solidFill>
              <a:srgbClr val="C9D8E3"/>
            </a:solidFill>
            <a:prstDash val="solid"/>
          </a:ln>
        </p:spPr>
      </p:sp>
      <p:sp>
        <p:nvSpPr>
          <p:cNvPr id="21" name="Text 19"/>
          <p:cNvSpPr/>
          <p:nvPr/>
        </p:nvSpPr>
        <p:spPr>
          <a:xfrm>
            <a:off x="822960" y="4462272"/>
            <a:ext cx="630936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Bucle de retroalimentación semanal</a:t>
            </a:r>
            <a:endParaRPr lang="en-US" sz="1300" dirty="0"/>
          </a:p>
        </p:txBody>
      </p:sp>
      <p:sp>
        <p:nvSpPr>
          <p:cNvPr id="22" name="Text 20"/>
          <p:cNvSpPr/>
          <p:nvPr/>
        </p:nvSpPr>
        <p:spPr>
          <a:xfrm>
            <a:off x="822960" y="4754880"/>
            <a:ext cx="6309360" cy="566928"/>
          </a:xfrm>
          <a:prstGeom prst="rect">
            <a:avLst/>
          </a:prstGeom>
          <a:noFill/>
          <a:ln/>
        </p:spPr>
        <p:txBody>
          <a:bodyPr wrap="square" lIns="0" tIns="0" rIns="0" bIns="0" rtlCol="0" anchor="ctr"/>
          <a:lstStyle/>
          <a:p>
            <a:pPr indent="0" marL="0">
              <a:lnSpc>
                <a:spcPts val="1600"/>
              </a:lnSpc>
              <a:buNone/>
            </a:pPr>
            <a:r>
              <a:rPr lang="en-US" sz="1150" dirty="0">
                <a:solidFill>
                  <a:srgbClr val="22323F"/>
                </a:solidFill>
                <a:latin typeface="Calibri" pitchFamily="34" charset="0"/>
                <a:ea typeface="Calibri" pitchFamily="34" charset="-122"/>
                <a:cs typeface="Calibri" pitchFamily="34" charset="-120"/>
              </a:rPr>
              <a:t>Recolección  →  evaluación  →  análisis  →  priorización  →  nueva evaluación.  El despliegue de cada lote pasa por entorno de pruebas, clínica piloto y luego el resto.</a:t>
            </a:r>
            <a:endParaRPr lang="en-US" sz="1150" dirty="0"/>
          </a:p>
        </p:txBody>
      </p:sp>
      <p:sp>
        <p:nvSpPr>
          <p:cNvPr id="23" name="Text 21"/>
          <p:cNvSpPr/>
          <p:nvPr/>
        </p:nvSpPr>
        <p:spPr>
          <a:xfrm>
            <a:off x="822960" y="5321808"/>
            <a:ext cx="6309360" cy="640080"/>
          </a:xfrm>
          <a:prstGeom prst="rect">
            <a:avLst/>
          </a:prstGeom>
          <a:noFill/>
          <a:ln/>
        </p:spPr>
        <p:txBody>
          <a:bodyPr wrap="square" lIns="0" tIns="0" rIns="0" bIns="0" rtlCol="0" anchor="ctr"/>
          <a:lstStyle/>
          <a:p>
            <a:pPr indent="0" marL="0">
              <a:lnSpc>
                <a:spcPts val="1400"/>
              </a:lnSpc>
              <a:buNone/>
            </a:pPr>
            <a:r>
              <a:rPr lang="en-US" sz="1050" i="1" dirty="0">
                <a:solidFill>
                  <a:srgbClr val="5A6D7C"/>
                </a:solidFill>
                <a:latin typeface="Calibri" pitchFamily="34" charset="0"/>
                <a:ea typeface="Calibri" pitchFamily="34" charset="-122"/>
                <a:cs typeface="Calibri" pitchFamily="34" charset="-120"/>
              </a:rPr>
              <a:t>El control que preserva la validez del bucle es el muestreo aleatorio de conversaciones aprobadas, y no solo de las marcadas como defectuosas: sin él, un evaluador automático converge hacia validar sus propios errores sistemáticos.</a:t>
            </a:r>
            <a:endParaRPr lang="en-US" sz="1050" dirty="0"/>
          </a:p>
        </p:txBody>
      </p:sp>
      <p:sp>
        <p:nvSpPr>
          <p:cNvPr id="24" name="Shape 22"/>
          <p:cNvSpPr/>
          <p:nvPr/>
        </p:nvSpPr>
        <p:spPr>
          <a:xfrm>
            <a:off x="7772400" y="4279392"/>
            <a:ext cx="3840480" cy="1810512"/>
          </a:xfrm>
          <a:prstGeom prst="roundRect">
            <a:avLst>
              <a:gd name="adj" fmla="val 3030"/>
            </a:avLst>
          </a:prstGeom>
          <a:solidFill>
            <a:srgbClr val="0E2A47"/>
          </a:solidFill>
          <a:ln w="12700">
            <a:solidFill>
              <a:srgbClr val="0E2A47"/>
            </a:solidFill>
            <a:prstDash val="solid"/>
          </a:ln>
        </p:spPr>
      </p:sp>
      <p:sp>
        <p:nvSpPr>
          <p:cNvPr id="25" name="Text 23"/>
          <p:cNvSpPr/>
          <p:nvPr/>
        </p:nvSpPr>
        <p:spPr>
          <a:xfrm>
            <a:off x="8046720" y="4462272"/>
            <a:ext cx="3291840" cy="256032"/>
          </a:xfrm>
          <a:prstGeom prst="rect">
            <a:avLst/>
          </a:prstGeom>
          <a:noFill/>
          <a:ln/>
        </p:spPr>
        <p:txBody>
          <a:bodyPr wrap="square" lIns="0" tIns="0" rIns="0" bIns="0" rtlCol="0" anchor="ctr"/>
          <a:lstStyle/>
          <a:p>
            <a:pPr indent="0" marL="0">
              <a:buNone/>
            </a:pPr>
            <a:r>
              <a:rPr lang="en-US" sz="1000" b="1" spc="120" kern="0" dirty="0">
                <a:solidFill>
                  <a:srgbClr val="00A896"/>
                </a:solidFill>
                <a:latin typeface="Calibri" pitchFamily="34" charset="0"/>
                <a:ea typeface="Calibri" pitchFamily="34" charset="-122"/>
                <a:cs typeface="Calibri" pitchFamily="34" charset="-120"/>
              </a:rPr>
              <a:t>DECLARACIÓN DE ESTADO</a:t>
            </a:r>
            <a:endParaRPr lang="en-US" sz="1000" dirty="0"/>
          </a:p>
        </p:txBody>
      </p:sp>
      <p:sp>
        <p:nvSpPr>
          <p:cNvPr id="26" name="Text 24"/>
          <p:cNvSpPr/>
          <p:nvPr/>
        </p:nvSpPr>
        <p:spPr>
          <a:xfrm>
            <a:off x="8046720" y="4773168"/>
            <a:ext cx="3291840" cy="1188720"/>
          </a:xfrm>
          <a:prstGeom prst="rect">
            <a:avLst/>
          </a:prstGeom>
          <a:noFill/>
          <a:ln/>
        </p:spPr>
        <p:txBody>
          <a:bodyPr wrap="square" lIns="0" tIns="0" rIns="0" bIns="0" rtlCol="0" anchor="ctr"/>
          <a:lstStyle/>
          <a:p>
            <a:pPr indent="0" marL="0">
              <a:lnSpc>
                <a:spcPts val="1500"/>
              </a:lnSpc>
              <a:buNone/>
            </a:pPr>
            <a:r>
              <a:rPr lang="en-US" sz="1100" dirty="0">
                <a:solidFill>
                  <a:srgbClr val="C6D6E2"/>
                </a:solidFill>
                <a:latin typeface="Calibri" pitchFamily="34" charset="0"/>
                <a:ea typeface="Calibri" pitchFamily="34" charset="-122"/>
                <a:cs typeface="Calibri" pitchFamily="34" charset="-120"/>
              </a:rPr>
              <a:t>El sistema está diseñado y especificado, no implementado. No se reportan resultados de operación y no se fabricaron cifras: los apartados que requieren evidencia empírica se entregan con espacios señalizados.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46E66"/>
                </a:solidFill>
                <a:latin typeface="Calibri" pitchFamily="34" charset="0"/>
                <a:ea typeface="Calibri" pitchFamily="34" charset="-122"/>
                <a:cs typeface="Calibri" pitchFamily="34" charset="-120"/>
              </a:rPr>
              <a:t>08 · MARCO ÉTICO Y REGULATORIO</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700" b="1" dirty="0">
                <a:solidFill>
                  <a:srgbClr val="0E2A47"/>
                </a:solidFill>
                <a:latin typeface="Cambria" pitchFamily="34" charset="0"/>
                <a:ea typeface="Cambria" pitchFamily="34" charset="-122"/>
                <a:cs typeface="Cambria" pitchFamily="34" charset="-120"/>
              </a:rPr>
              <a:t>El proyecto nace bajo el marco peruano nuevo — y eso es una ventaja</a:t>
            </a:r>
            <a:endParaRPr lang="en-US" sz="2700" dirty="0"/>
          </a:p>
        </p:txBody>
      </p:sp>
      <p:sp>
        <p:nvSpPr>
          <p:cNvPr id="4" name="Text 2"/>
          <p:cNvSpPr/>
          <p:nvPr/>
        </p:nvSpPr>
        <p:spPr>
          <a:xfrm>
            <a:off x="548640" y="1993392"/>
            <a:ext cx="5349240" cy="237744"/>
          </a:xfrm>
          <a:prstGeom prst="rect">
            <a:avLst/>
          </a:prstGeom>
          <a:noFill/>
          <a:ln/>
        </p:spPr>
        <p:txBody>
          <a:bodyPr wrap="square" lIns="0" tIns="0" rIns="0" bIns="0" rtlCol="0" anchor="ctr"/>
          <a:lstStyle/>
          <a:p>
            <a:pPr indent="0" marL="0">
              <a:buNone/>
            </a:pPr>
            <a:r>
              <a:rPr lang="en-US" sz="1000" b="1" spc="120" kern="0" dirty="0">
                <a:solidFill>
                  <a:srgbClr val="046E66"/>
                </a:solidFill>
                <a:latin typeface="Calibri" pitchFamily="34" charset="0"/>
                <a:ea typeface="Calibri" pitchFamily="34" charset="-122"/>
                <a:cs typeface="Calibri" pitchFamily="34" charset="-120"/>
              </a:rPr>
              <a:t>NORMATIVA APLICABLE</a:t>
            </a:r>
            <a:endParaRPr lang="en-US" sz="1000" dirty="0"/>
          </a:p>
        </p:txBody>
      </p:sp>
      <p:sp>
        <p:nvSpPr>
          <p:cNvPr id="5" name="Shape 3"/>
          <p:cNvSpPr/>
          <p:nvPr/>
        </p:nvSpPr>
        <p:spPr>
          <a:xfrm>
            <a:off x="548640" y="2286000"/>
            <a:ext cx="5349240" cy="822960"/>
          </a:xfrm>
          <a:prstGeom prst="roundRect">
            <a:avLst>
              <a:gd name="adj" fmla="val 6667"/>
            </a:avLst>
          </a:prstGeom>
          <a:solidFill>
            <a:srgbClr val="F5F8FB"/>
          </a:solidFill>
          <a:ln w="12700">
            <a:solidFill>
              <a:srgbClr val="DCE7EF"/>
            </a:solidFill>
            <a:prstDash val="solid"/>
          </a:ln>
        </p:spPr>
      </p:sp>
      <p:sp>
        <p:nvSpPr>
          <p:cNvPr id="6" name="Text 4"/>
          <p:cNvSpPr/>
          <p:nvPr/>
        </p:nvSpPr>
        <p:spPr>
          <a:xfrm>
            <a:off x="804672" y="2377440"/>
            <a:ext cx="4846320" cy="237744"/>
          </a:xfrm>
          <a:prstGeom prst="rect">
            <a:avLst/>
          </a:prstGeom>
          <a:noFill/>
          <a:ln/>
        </p:spPr>
        <p:txBody>
          <a:bodyPr wrap="square" lIns="0" tIns="0" rIns="0" bIns="0" rtlCol="0" anchor="ctr"/>
          <a:lstStyle/>
          <a:p>
            <a:pPr indent="0" marL="0">
              <a:buNone/>
            </a:pPr>
            <a:r>
              <a:rPr lang="en-US" sz="1150" b="1" dirty="0">
                <a:solidFill>
                  <a:srgbClr val="0E2A47"/>
                </a:solidFill>
                <a:latin typeface="Calibri" pitchFamily="34" charset="0"/>
                <a:ea typeface="Calibri" pitchFamily="34" charset="-122"/>
                <a:cs typeface="Calibri" pitchFamily="34" charset="-120"/>
              </a:rPr>
              <a:t>Ley 29733 + D.S. 016-2024-JUS</a:t>
            </a:r>
            <a:endParaRPr lang="en-US" sz="1150" dirty="0"/>
          </a:p>
        </p:txBody>
      </p:sp>
      <p:sp>
        <p:nvSpPr>
          <p:cNvPr id="7" name="Text 5"/>
          <p:cNvSpPr/>
          <p:nvPr/>
        </p:nvSpPr>
        <p:spPr>
          <a:xfrm>
            <a:off x="804672" y="2615184"/>
            <a:ext cx="4846320" cy="457200"/>
          </a:xfrm>
          <a:prstGeom prst="rect">
            <a:avLst/>
          </a:prstGeom>
          <a:noFill/>
          <a:ln/>
        </p:spPr>
        <p:txBody>
          <a:bodyPr wrap="square" lIns="0" tIns="0" rIns="0" bIns="0" rtlCol="0" anchor="ctr"/>
          <a:lstStyle/>
          <a:p>
            <a:pPr indent="0" marL="0">
              <a:lnSpc>
                <a:spcPts val="1250"/>
              </a:lnSpc>
              <a:buNone/>
            </a:pPr>
            <a:r>
              <a:rPr lang="en-US" sz="950" dirty="0">
                <a:solidFill>
                  <a:srgbClr val="5A6D7C"/>
                </a:solidFill>
                <a:latin typeface="Calibri" pitchFamily="34" charset="0"/>
                <a:ea typeface="Calibri" pitchFamily="34" charset="-122"/>
                <a:cs typeface="Calibri" pitchFamily="34" charset="-120"/>
              </a:rPr>
              <a:t>Vigente desde marzo 2025. Consentimiento reforzado para datos sensibles, contrato de encargo, brechas en 48 horas, flujo transfronterizo. ANPD.</a:t>
            </a:r>
            <a:endParaRPr lang="en-US" sz="950" dirty="0"/>
          </a:p>
        </p:txBody>
      </p:sp>
      <p:sp>
        <p:nvSpPr>
          <p:cNvPr id="8" name="Shape 6"/>
          <p:cNvSpPr/>
          <p:nvPr/>
        </p:nvSpPr>
        <p:spPr>
          <a:xfrm>
            <a:off x="548640" y="3227832"/>
            <a:ext cx="5349240" cy="822960"/>
          </a:xfrm>
          <a:prstGeom prst="roundRect">
            <a:avLst>
              <a:gd name="adj" fmla="val 6667"/>
            </a:avLst>
          </a:prstGeom>
          <a:solidFill>
            <a:srgbClr val="F5F8FB"/>
          </a:solidFill>
          <a:ln w="12700">
            <a:solidFill>
              <a:srgbClr val="DCE7EF"/>
            </a:solidFill>
            <a:prstDash val="solid"/>
          </a:ln>
        </p:spPr>
      </p:sp>
      <p:sp>
        <p:nvSpPr>
          <p:cNvPr id="9" name="Text 7"/>
          <p:cNvSpPr/>
          <p:nvPr/>
        </p:nvSpPr>
        <p:spPr>
          <a:xfrm>
            <a:off x="804672" y="3319272"/>
            <a:ext cx="4846320" cy="237744"/>
          </a:xfrm>
          <a:prstGeom prst="rect">
            <a:avLst/>
          </a:prstGeom>
          <a:noFill/>
          <a:ln/>
        </p:spPr>
        <p:txBody>
          <a:bodyPr wrap="square" lIns="0" tIns="0" rIns="0" bIns="0" rtlCol="0" anchor="ctr"/>
          <a:lstStyle/>
          <a:p>
            <a:pPr indent="0" marL="0">
              <a:buNone/>
            </a:pPr>
            <a:r>
              <a:rPr lang="en-US" sz="1150" b="1" dirty="0">
                <a:solidFill>
                  <a:srgbClr val="0E2A47"/>
                </a:solidFill>
                <a:latin typeface="Calibri" pitchFamily="34" charset="0"/>
                <a:ea typeface="Calibri" pitchFamily="34" charset="-122"/>
                <a:cs typeface="Calibri" pitchFamily="34" charset="-120"/>
              </a:rPr>
              <a:t>Ley 31814 + D.S. 115-2025-PCM</a:t>
            </a:r>
            <a:endParaRPr lang="en-US" sz="1150" dirty="0"/>
          </a:p>
        </p:txBody>
      </p:sp>
      <p:sp>
        <p:nvSpPr>
          <p:cNvPr id="10" name="Text 8"/>
          <p:cNvSpPr/>
          <p:nvPr/>
        </p:nvSpPr>
        <p:spPr>
          <a:xfrm>
            <a:off x="804672" y="3557016"/>
            <a:ext cx="4846320" cy="457200"/>
          </a:xfrm>
          <a:prstGeom prst="rect">
            <a:avLst/>
          </a:prstGeom>
          <a:noFill/>
          <a:ln/>
        </p:spPr>
        <p:txBody>
          <a:bodyPr wrap="square" lIns="0" tIns="0" rIns="0" bIns="0" rtlCol="0" anchor="ctr"/>
          <a:lstStyle/>
          <a:p>
            <a:pPr indent="0" marL="0">
              <a:lnSpc>
                <a:spcPts val="1250"/>
              </a:lnSpc>
              <a:buNone/>
            </a:pPr>
            <a:r>
              <a:rPr lang="en-US" sz="950" dirty="0">
                <a:solidFill>
                  <a:srgbClr val="5A6D7C"/>
                </a:solidFill>
                <a:latin typeface="Calibri" pitchFamily="34" charset="0"/>
                <a:ea typeface="Calibri" pitchFamily="34" charset="-122"/>
                <a:cs typeface="Calibri" pitchFamily="34" charset="-120"/>
              </a:rPr>
              <a:t>Vigente desde enero 2026. Clasificación por nivel de riesgo, transparencia, ciberseguridad, supervisión humana.</a:t>
            </a:r>
            <a:endParaRPr lang="en-US" sz="950" dirty="0"/>
          </a:p>
        </p:txBody>
      </p:sp>
      <p:sp>
        <p:nvSpPr>
          <p:cNvPr id="11" name="Shape 9"/>
          <p:cNvSpPr/>
          <p:nvPr/>
        </p:nvSpPr>
        <p:spPr>
          <a:xfrm>
            <a:off x="548640" y="4169664"/>
            <a:ext cx="5349240" cy="822960"/>
          </a:xfrm>
          <a:prstGeom prst="roundRect">
            <a:avLst>
              <a:gd name="adj" fmla="val 6667"/>
            </a:avLst>
          </a:prstGeom>
          <a:solidFill>
            <a:srgbClr val="F5F8FB"/>
          </a:solidFill>
          <a:ln w="12700">
            <a:solidFill>
              <a:srgbClr val="DCE7EF"/>
            </a:solidFill>
            <a:prstDash val="solid"/>
          </a:ln>
        </p:spPr>
      </p:sp>
      <p:sp>
        <p:nvSpPr>
          <p:cNvPr id="12" name="Text 10"/>
          <p:cNvSpPr/>
          <p:nvPr/>
        </p:nvSpPr>
        <p:spPr>
          <a:xfrm>
            <a:off x="804672" y="4261104"/>
            <a:ext cx="4846320" cy="237744"/>
          </a:xfrm>
          <a:prstGeom prst="rect">
            <a:avLst/>
          </a:prstGeom>
          <a:noFill/>
          <a:ln/>
        </p:spPr>
        <p:txBody>
          <a:bodyPr wrap="square" lIns="0" tIns="0" rIns="0" bIns="0" rtlCol="0" anchor="ctr"/>
          <a:lstStyle/>
          <a:p>
            <a:pPr indent="0" marL="0">
              <a:buNone/>
            </a:pPr>
            <a:r>
              <a:rPr lang="en-US" sz="1150" b="1" dirty="0">
                <a:solidFill>
                  <a:srgbClr val="0E2A47"/>
                </a:solidFill>
                <a:latin typeface="Calibri" pitchFamily="34" charset="0"/>
                <a:ea typeface="Calibri" pitchFamily="34" charset="-122"/>
                <a:cs typeface="Calibri" pitchFamily="34" charset="-120"/>
              </a:rPr>
              <a:t>Ley 26842 · 29414 · 29571</a:t>
            </a:r>
            <a:endParaRPr lang="en-US" sz="1150" dirty="0"/>
          </a:p>
        </p:txBody>
      </p:sp>
      <p:sp>
        <p:nvSpPr>
          <p:cNvPr id="13" name="Text 11"/>
          <p:cNvSpPr/>
          <p:nvPr/>
        </p:nvSpPr>
        <p:spPr>
          <a:xfrm>
            <a:off x="804672" y="4498848"/>
            <a:ext cx="4846320" cy="457200"/>
          </a:xfrm>
          <a:prstGeom prst="rect">
            <a:avLst/>
          </a:prstGeom>
          <a:noFill/>
          <a:ln/>
        </p:spPr>
        <p:txBody>
          <a:bodyPr wrap="square" lIns="0" tIns="0" rIns="0" bIns="0" rtlCol="0" anchor="ctr"/>
          <a:lstStyle/>
          <a:p>
            <a:pPr indent="0" marL="0">
              <a:lnSpc>
                <a:spcPts val="1250"/>
              </a:lnSpc>
              <a:buNone/>
            </a:pPr>
            <a:r>
              <a:rPr lang="en-US" sz="950" dirty="0">
                <a:solidFill>
                  <a:srgbClr val="5A6D7C"/>
                </a:solidFill>
                <a:latin typeface="Calibri" pitchFamily="34" charset="0"/>
                <a:ea typeface="Calibri" pitchFamily="34" charset="-122"/>
                <a:cs typeface="Calibri" pitchFamily="34" charset="-120"/>
              </a:rPr>
              <a:t>Reserva sobre el acto médico, derecho a información veraz, y límites a métodos comerciales agresivos en la reactivación.</a:t>
            </a:r>
            <a:endParaRPr lang="en-US" sz="950" dirty="0"/>
          </a:p>
        </p:txBody>
      </p:sp>
      <p:sp>
        <p:nvSpPr>
          <p:cNvPr id="14" name="Text 12"/>
          <p:cNvSpPr/>
          <p:nvPr/>
        </p:nvSpPr>
        <p:spPr>
          <a:xfrm>
            <a:off x="6263640" y="1993392"/>
            <a:ext cx="5349240" cy="237744"/>
          </a:xfrm>
          <a:prstGeom prst="rect">
            <a:avLst/>
          </a:prstGeom>
          <a:noFill/>
          <a:ln/>
        </p:spPr>
        <p:txBody>
          <a:bodyPr wrap="square" lIns="0" tIns="0" rIns="0" bIns="0" rtlCol="0" anchor="ctr"/>
          <a:lstStyle/>
          <a:p>
            <a:pPr indent="0" marL="0">
              <a:buNone/>
            </a:pPr>
            <a:r>
              <a:rPr lang="en-US" sz="1000" b="1" spc="120" kern="0" dirty="0">
                <a:solidFill>
                  <a:srgbClr val="046E66"/>
                </a:solidFill>
                <a:latin typeface="Calibri" pitchFamily="34" charset="0"/>
                <a:ea typeface="Calibri" pitchFamily="34" charset="-122"/>
                <a:cs typeface="Calibri" pitchFamily="34" charset="-120"/>
              </a:rPr>
              <a:t>POSTURA DE CUMPLIMIENTO</a:t>
            </a:r>
            <a:endParaRPr lang="en-US" sz="1000" dirty="0"/>
          </a:p>
        </p:txBody>
      </p:sp>
      <p:sp>
        <p:nvSpPr>
          <p:cNvPr id="15" name="Shape 13"/>
          <p:cNvSpPr/>
          <p:nvPr/>
        </p:nvSpPr>
        <p:spPr>
          <a:xfrm>
            <a:off x="6263640" y="2286000"/>
            <a:ext cx="5349240" cy="1207008"/>
          </a:xfrm>
          <a:prstGeom prst="roundRect">
            <a:avLst>
              <a:gd name="adj" fmla="val 4545"/>
            </a:avLst>
          </a:prstGeom>
          <a:solidFill>
            <a:srgbClr val="0E2A47"/>
          </a:solidFill>
          <a:ln w="12700">
            <a:solidFill>
              <a:srgbClr val="0E2A47"/>
            </a:solidFill>
            <a:prstDash val="solid"/>
          </a:ln>
        </p:spPr>
      </p:sp>
      <p:sp>
        <p:nvSpPr>
          <p:cNvPr id="16" name="Text 14"/>
          <p:cNvSpPr/>
          <p:nvPr/>
        </p:nvSpPr>
        <p:spPr>
          <a:xfrm>
            <a:off x="6428232" y="2414016"/>
            <a:ext cx="1188720"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15</a:t>
            </a:r>
            <a:endParaRPr lang="en-US" sz="2600" dirty="0"/>
          </a:p>
        </p:txBody>
      </p:sp>
      <p:sp>
        <p:nvSpPr>
          <p:cNvPr id="17" name="Text 15"/>
          <p:cNvSpPr/>
          <p:nvPr/>
        </p:nvSpPr>
        <p:spPr>
          <a:xfrm>
            <a:off x="6428232" y="2871216"/>
            <a:ext cx="1188720" cy="502920"/>
          </a:xfrm>
          <a:prstGeom prst="rect">
            <a:avLst/>
          </a:prstGeom>
          <a:noFill/>
          <a:ln/>
        </p:spPr>
        <p:txBody>
          <a:bodyPr wrap="square" lIns="0" tIns="0" rIns="0" bIns="0" rtlCol="0" anchor="ctr"/>
          <a:lstStyle/>
          <a:p>
            <a:pPr algn="ctr" indent="0" marL="0">
              <a:lnSpc>
                <a:spcPts val="1200"/>
              </a:lnSpc>
              <a:buNone/>
            </a:pPr>
            <a:r>
              <a:rPr lang="en-US" sz="950" dirty="0">
                <a:solidFill>
                  <a:srgbClr val="C6D6E2"/>
                </a:solidFill>
                <a:latin typeface="Calibri" pitchFamily="34" charset="0"/>
                <a:ea typeface="Calibri" pitchFamily="34" charset="-122"/>
                <a:cs typeface="Calibri" pitchFamily="34" charset="-120"/>
              </a:rPr>
              <a:t>riesgos</a:t>
            </a:r>
            <a:endParaRPr lang="en-US" sz="950" dirty="0"/>
          </a:p>
        </p:txBody>
      </p:sp>
      <p:sp>
        <p:nvSpPr>
          <p:cNvPr id="18" name="Text 16"/>
          <p:cNvSpPr/>
          <p:nvPr/>
        </p:nvSpPr>
        <p:spPr>
          <a:xfrm>
            <a:off x="7690104" y="2414016"/>
            <a:ext cx="1188720"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14</a:t>
            </a:r>
            <a:endParaRPr lang="en-US" sz="2600" dirty="0"/>
          </a:p>
        </p:txBody>
      </p:sp>
      <p:sp>
        <p:nvSpPr>
          <p:cNvPr id="19" name="Text 17"/>
          <p:cNvSpPr/>
          <p:nvPr/>
        </p:nvSpPr>
        <p:spPr>
          <a:xfrm>
            <a:off x="7690104" y="2871216"/>
            <a:ext cx="1188720" cy="502920"/>
          </a:xfrm>
          <a:prstGeom prst="rect">
            <a:avLst/>
          </a:prstGeom>
          <a:noFill/>
          <a:ln/>
        </p:spPr>
        <p:txBody>
          <a:bodyPr wrap="square" lIns="0" tIns="0" rIns="0" bIns="0" rtlCol="0" anchor="ctr"/>
          <a:lstStyle/>
          <a:p>
            <a:pPr algn="ctr" indent="0" marL="0">
              <a:lnSpc>
                <a:spcPts val="1200"/>
              </a:lnSpc>
              <a:buNone/>
            </a:pPr>
            <a:r>
              <a:rPr lang="en-US" sz="950" dirty="0">
                <a:solidFill>
                  <a:srgbClr val="C6D6E2"/>
                </a:solidFill>
                <a:latin typeface="Calibri" pitchFamily="34" charset="0"/>
                <a:ea typeface="Calibri" pitchFamily="34" charset="-122"/>
                <a:cs typeface="Calibri" pitchFamily="34" charset="-120"/>
              </a:rPr>
              <a:t>controles</a:t>
            </a:r>
            <a:endParaRPr lang="en-US" sz="950" dirty="0"/>
          </a:p>
          <a:p>
            <a:pPr algn="ctr" indent="0" marL="0">
              <a:lnSpc>
                <a:spcPts val="1200"/>
              </a:lnSpc>
              <a:buNone/>
            </a:pPr>
            <a:r>
              <a:rPr lang="en-US" sz="950" dirty="0">
                <a:solidFill>
                  <a:srgbClr val="C6D6E2"/>
                </a:solidFill>
                <a:latin typeface="Calibri" pitchFamily="34" charset="0"/>
                <a:ea typeface="Calibri" pitchFamily="34" charset="-122"/>
                <a:cs typeface="Calibri" pitchFamily="34" charset="-120"/>
              </a:rPr>
              <a:t>tecnicos</a:t>
            </a:r>
            <a:endParaRPr lang="en-US" sz="950" dirty="0"/>
          </a:p>
        </p:txBody>
      </p:sp>
      <p:sp>
        <p:nvSpPr>
          <p:cNvPr id="20" name="Text 18"/>
          <p:cNvSpPr/>
          <p:nvPr/>
        </p:nvSpPr>
        <p:spPr>
          <a:xfrm>
            <a:off x="8951976" y="2414016"/>
            <a:ext cx="1188720"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9</a:t>
            </a:r>
            <a:endParaRPr lang="en-US" sz="2600" dirty="0"/>
          </a:p>
        </p:txBody>
      </p:sp>
      <p:sp>
        <p:nvSpPr>
          <p:cNvPr id="21" name="Text 19"/>
          <p:cNvSpPr/>
          <p:nvPr/>
        </p:nvSpPr>
        <p:spPr>
          <a:xfrm>
            <a:off x="8951976" y="2871216"/>
            <a:ext cx="1188720" cy="502920"/>
          </a:xfrm>
          <a:prstGeom prst="rect">
            <a:avLst/>
          </a:prstGeom>
          <a:noFill/>
          <a:ln/>
        </p:spPr>
        <p:txBody>
          <a:bodyPr wrap="square" lIns="0" tIns="0" rIns="0" bIns="0" rtlCol="0" anchor="ctr"/>
          <a:lstStyle/>
          <a:p>
            <a:pPr algn="ctr" indent="0" marL="0">
              <a:lnSpc>
                <a:spcPts val="1200"/>
              </a:lnSpc>
              <a:buNone/>
            </a:pPr>
            <a:r>
              <a:rPr lang="en-US" sz="950" dirty="0">
                <a:solidFill>
                  <a:srgbClr val="C6D6E2"/>
                </a:solidFill>
                <a:latin typeface="Calibri" pitchFamily="34" charset="0"/>
                <a:ea typeface="Calibri" pitchFamily="34" charset="-122"/>
                <a:cs typeface="Calibri" pitchFamily="34" charset="-120"/>
              </a:rPr>
              <a:t>controles</a:t>
            </a:r>
            <a:endParaRPr lang="en-US" sz="950" dirty="0"/>
          </a:p>
          <a:p>
            <a:pPr algn="ctr" indent="0" marL="0">
              <a:lnSpc>
                <a:spcPts val="1200"/>
              </a:lnSpc>
              <a:buNone/>
            </a:pPr>
            <a:r>
              <a:rPr lang="en-US" sz="950" dirty="0">
                <a:solidFill>
                  <a:srgbClr val="C6D6E2"/>
                </a:solidFill>
                <a:latin typeface="Calibri" pitchFamily="34" charset="0"/>
                <a:ea typeface="Calibri" pitchFamily="34" charset="-122"/>
                <a:cs typeface="Calibri" pitchFamily="34" charset="-120"/>
              </a:rPr>
              <a:t>organizativos</a:t>
            </a:r>
            <a:endParaRPr lang="en-US" sz="950" dirty="0"/>
          </a:p>
        </p:txBody>
      </p:sp>
      <p:sp>
        <p:nvSpPr>
          <p:cNvPr id="22" name="Text 20"/>
          <p:cNvSpPr/>
          <p:nvPr/>
        </p:nvSpPr>
        <p:spPr>
          <a:xfrm>
            <a:off x="10213848" y="2414016"/>
            <a:ext cx="1188720" cy="457200"/>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10</a:t>
            </a:r>
            <a:endParaRPr lang="en-US" sz="2600" dirty="0"/>
          </a:p>
        </p:txBody>
      </p:sp>
      <p:sp>
        <p:nvSpPr>
          <p:cNvPr id="23" name="Text 21"/>
          <p:cNvSpPr/>
          <p:nvPr/>
        </p:nvSpPr>
        <p:spPr>
          <a:xfrm>
            <a:off x="10213848" y="2871216"/>
            <a:ext cx="1188720" cy="502920"/>
          </a:xfrm>
          <a:prstGeom prst="rect">
            <a:avLst/>
          </a:prstGeom>
          <a:noFill/>
          <a:ln/>
        </p:spPr>
        <p:txBody>
          <a:bodyPr wrap="square" lIns="0" tIns="0" rIns="0" bIns="0" rtlCol="0" anchor="ctr"/>
          <a:lstStyle/>
          <a:p>
            <a:pPr algn="ctr" indent="0" marL="0">
              <a:lnSpc>
                <a:spcPts val="1200"/>
              </a:lnSpc>
              <a:buNone/>
            </a:pPr>
            <a:r>
              <a:rPr lang="en-US" sz="950" dirty="0">
                <a:solidFill>
                  <a:srgbClr val="C6D6E2"/>
                </a:solidFill>
                <a:latin typeface="Calibri" pitchFamily="34" charset="0"/>
                <a:ea typeface="Calibri" pitchFamily="34" charset="-122"/>
                <a:cs typeface="Calibri" pitchFamily="34" charset="-120"/>
              </a:rPr>
              <a:t>indicadores</a:t>
            </a:r>
            <a:endParaRPr lang="en-US" sz="950" dirty="0"/>
          </a:p>
        </p:txBody>
      </p:sp>
      <p:sp>
        <p:nvSpPr>
          <p:cNvPr id="24" name="Shape 22"/>
          <p:cNvSpPr/>
          <p:nvPr/>
        </p:nvSpPr>
        <p:spPr>
          <a:xfrm>
            <a:off x="6263640" y="3602736"/>
            <a:ext cx="5349240" cy="1481328"/>
          </a:xfrm>
          <a:prstGeom prst="roundRect">
            <a:avLst>
              <a:gd name="adj" fmla="val 3704"/>
            </a:avLst>
          </a:prstGeom>
          <a:solidFill>
            <a:srgbClr val="FBEDEC"/>
          </a:solidFill>
          <a:ln w="12700">
            <a:solidFill>
              <a:srgbClr val="EFCFCB"/>
            </a:solidFill>
            <a:prstDash val="solid"/>
          </a:ln>
        </p:spPr>
      </p:sp>
      <p:sp>
        <p:nvSpPr>
          <p:cNvPr id="25" name="Text 23"/>
          <p:cNvSpPr/>
          <p:nvPr/>
        </p:nvSpPr>
        <p:spPr>
          <a:xfrm>
            <a:off x="6537960" y="3767328"/>
            <a:ext cx="4800600" cy="256032"/>
          </a:xfrm>
          <a:prstGeom prst="rect">
            <a:avLst/>
          </a:prstGeom>
          <a:noFill/>
          <a:ln/>
        </p:spPr>
        <p:txBody>
          <a:bodyPr wrap="square" lIns="0" tIns="0" rIns="0" bIns="0" rtlCol="0" anchor="ctr"/>
          <a:lstStyle/>
          <a:p>
            <a:pPr indent="0" marL="0">
              <a:buNone/>
            </a:pPr>
            <a:r>
              <a:rPr lang="en-US" sz="1200" b="1" dirty="0">
                <a:solidFill>
                  <a:srgbClr val="B5352C"/>
                </a:solidFill>
                <a:latin typeface="Calibri" pitchFamily="34" charset="0"/>
                <a:ea typeface="Calibri" pitchFamily="34" charset="-122"/>
                <a:cs typeface="Calibri" pitchFamily="34" charset="-120"/>
              </a:rPr>
              <a:t>La decisión de secuencia más importante</a:t>
            </a:r>
            <a:endParaRPr lang="en-US" sz="1200" dirty="0"/>
          </a:p>
        </p:txBody>
      </p:sp>
      <p:sp>
        <p:nvSpPr>
          <p:cNvPr id="26" name="Text 24"/>
          <p:cNvSpPr/>
          <p:nvPr/>
        </p:nvSpPr>
        <p:spPr>
          <a:xfrm>
            <a:off x="6537960" y="4059936"/>
            <a:ext cx="4800600" cy="932688"/>
          </a:xfrm>
          <a:prstGeom prst="rect">
            <a:avLst/>
          </a:prstGeom>
          <a:noFill/>
          <a:ln/>
        </p:spPr>
        <p:txBody>
          <a:bodyPr wrap="square" lIns="0" tIns="0" rIns="0" bIns="0" rtlCol="0" anchor="ctr"/>
          <a:lstStyle/>
          <a:p>
            <a:pPr indent="0" marL="0">
              <a:lnSpc>
                <a:spcPts val="1400"/>
              </a:lnSpc>
              <a:buNone/>
            </a:pPr>
            <a:r>
              <a:rPr lang="en-US" sz="1050" dirty="0">
                <a:solidFill>
                  <a:srgbClr val="6E413C"/>
                </a:solidFill>
                <a:latin typeface="Calibri" pitchFamily="34" charset="0"/>
                <a:ea typeface="Calibri" pitchFamily="34" charset="-122"/>
                <a:cs typeface="Calibri" pitchFamily="34" charset="-120"/>
              </a:rPr>
              <a:t>La auditoría de equidad del reconocimiento del habla precede a la activación del canal de voz y es bloqueante. El orden inverso significa exponer a pacientes reales a un sesgo de magnitud desconocida, en un servicio de salud, sin forma de detectarlo en las métricas comerciales.</a:t>
            </a:r>
            <a:endParaRPr lang="en-US" sz="1050" dirty="0"/>
          </a:p>
        </p:txBody>
      </p:sp>
      <p:sp>
        <p:nvSpPr>
          <p:cNvPr id="27" name="Shape 25"/>
          <p:cNvSpPr/>
          <p:nvPr/>
        </p:nvSpPr>
        <p:spPr>
          <a:xfrm>
            <a:off x="6263640" y="5193792"/>
            <a:ext cx="5349240" cy="914400"/>
          </a:xfrm>
          <a:prstGeom prst="roundRect">
            <a:avLst>
              <a:gd name="adj" fmla="val 6000"/>
            </a:avLst>
          </a:prstGeom>
          <a:solidFill>
            <a:srgbClr val="FFFFFF"/>
          </a:solidFill>
          <a:ln w="12700">
            <a:solidFill>
              <a:srgbClr val="C9D8E3"/>
            </a:solidFill>
            <a:prstDash val="solid"/>
          </a:ln>
        </p:spPr>
      </p:sp>
      <p:sp>
        <p:nvSpPr>
          <p:cNvPr id="28" name="Text 26"/>
          <p:cNvSpPr/>
          <p:nvPr/>
        </p:nvSpPr>
        <p:spPr>
          <a:xfrm>
            <a:off x="6537960" y="5193792"/>
            <a:ext cx="4800600" cy="914400"/>
          </a:xfrm>
          <a:prstGeom prst="rect">
            <a:avLst/>
          </a:prstGeom>
          <a:noFill/>
          <a:ln/>
        </p:spPr>
        <p:txBody>
          <a:bodyPr wrap="square" lIns="0" tIns="0" rIns="0" bIns="0" rtlCol="0" anchor="ctr"/>
          <a:lstStyle/>
          <a:p>
            <a:pPr indent="0" marL="0">
              <a:lnSpc>
                <a:spcPts val="1400"/>
              </a:lnSpc>
              <a:buNone/>
            </a:pPr>
            <a:r>
              <a:rPr lang="en-US" sz="1050" dirty="0">
                <a:solidFill>
                  <a:srgbClr val="22323F"/>
                </a:solidFill>
                <a:latin typeface="Calibri" pitchFamily="34" charset="0"/>
                <a:ea typeface="Calibri" pitchFamily="34" charset="-122"/>
                <a:cs typeface="Calibri" pitchFamily="34" charset="-120"/>
              </a:rPr>
              <a:t>Gobernanza proporcional: cinco cargos ocupados por la misma persona no producen supervisión. La responsabilidad se distribuye entre Recepción-IA, la clínica —titular de los datos y aprobadora del contenido clínico— y la revisión legal externa.</a:t>
            </a:r>
            <a:endParaRPr lang="en-US" sz="1050" dirty="0"/>
          </a:p>
        </p:txBody>
      </p:sp>
      <p:sp>
        <p:nvSpPr>
          <p:cNvPr id="29" name="Shape 27"/>
          <p:cNvSpPr/>
          <p:nvPr/>
        </p:nvSpPr>
        <p:spPr>
          <a:xfrm>
            <a:off x="548640" y="5193792"/>
            <a:ext cx="5349240" cy="914400"/>
          </a:xfrm>
          <a:prstGeom prst="roundRect">
            <a:avLst>
              <a:gd name="adj" fmla="val 6000"/>
            </a:avLst>
          </a:prstGeom>
          <a:solidFill>
            <a:srgbClr val="EAF1F6"/>
          </a:solidFill>
          <a:ln w="12700">
            <a:solidFill>
              <a:srgbClr val="C9D8E3"/>
            </a:solidFill>
            <a:prstDash val="solid"/>
          </a:ln>
        </p:spPr>
      </p:sp>
      <p:sp>
        <p:nvSpPr>
          <p:cNvPr id="30" name="Text 28"/>
          <p:cNvSpPr/>
          <p:nvPr/>
        </p:nvSpPr>
        <p:spPr>
          <a:xfrm>
            <a:off x="822960" y="5193792"/>
            <a:ext cx="4800600" cy="914400"/>
          </a:xfrm>
          <a:prstGeom prst="rect">
            <a:avLst/>
          </a:prstGeom>
          <a:noFill/>
          <a:ln/>
        </p:spPr>
        <p:txBody>
          <a:bodyPr wrap="square" lIns="0" tIns="0" rIns="0" bIns="0" rtlCol="0" anchor="ctr"/>
          <a:lstStyle/>
          <a:p>
            <a:pPr indent="0" marL="0">
              <a:lnSpc>
                <a:spcPts val="1400"/>
              </a:lnSpc>
              <a:buNone/>
            </a:pPr>
            <a:r>
              <a:rPr lang="en-US" sz="1050" dirty="0">
                <a:solidFill>
                  <a:srgbClr val="22323F"/>
                </a:solidFill>
                <a:latin typeface="Calibri" pitchFamily="34" charset="0"/>
                <a:ea typeface="Calibri" pitchFamily="34" charset="-122"/>
                <a:cs typeface="Calibri" pitchFamily="34" charset="-120"/>
              </a:rPr>
              <a:t>Se adopta cumplimiento anticipado: el sistema no califica como de alto riesgo por su función diseñada, pero se aplican voluntariamente las obligaciones propias de esa categoría.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82A"/>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algn="l" indent="0" marL="0">
              <a:buNone/>
            </a:pPr>
            <a:r>
              <a:rPr lang="en-US" sz="1100" b="1" spc="220" kern="0" dirty="0">
                <a:solidFill>
                  <a:srgbClr val="00A896"/>
                </a:solidFill>
                <a:latin typeface="Calibri" pitchFamily="34" charset="0"/>
                <a:ea typeface="Calibri" pitchFamily="34" charset="-122"/>
                <a:cs typeface="Calibri" pitchFamily="34" charset="-120"/>
              </a:rPr>
              <a:t>09 · DEL DISEÑO A LA OPERACIÓN</a:t>
            </a:r>
            <a:endParaRPr lang="en-US" sz="1100" dirty="0"/>
          </a:p>
        </p:txBody>
      </p:sp>
      <p:sp>
        <p:nvSpPr>
          <p:cNvPr id="3" name="Text 1"/>
          <p:cNvSpPr/>
          <p:nvPr/>
        </p:nvSpPr>
        <p:spPr>
          <a:xfrm>
            <a:off x="548640" y="749808"/>
            <a:ext cx="11064240" cy="1051560"/>
          </a:xfrm>
          <a:prstGeom prst="rect">
            <a:avLst/>
          </a:prstGeom>
          <a:noFill/>
          <a:ln/>
        </p:spPr>
        <p:txBody>
          <a:bodyPr wrap="square" lIns="0" tIns="0" rIns="0" bIns="0" rtlCol="0" anchor="t"/>
          <a:lstStyle/>
          <a:p>
            <a:pPr indent="0" marL="0">
              <a:lnSpc>
                <a:spcPts val="3200"/>
              </a:lnSpc>
              <a:buNone/>
            </a:pPr>
            <a:r>
              <a:rPr lang="en-US" sz="2600" b="1" dirty="0">
                <a:solidFill>
                  <a:srgbClr val="FFFFFF"/>
                </a:solidFill>
                <a:latin typeface="Cambria" pitchFamily="34" charset="0"/>
                <a:ea typeface="Cambria" pitchFamily="34" charset="-122"/>
                <a:cs typeface="Cambria" pitchFamily="34" charset="-120"/>
              </a:rPr>
              <a:t>Una secuencia con puertas de validación que no pueden omitirse</a:t>
            </a:r>
            <a:endParaRPr lang="en-US" sz="2600" dirty="0"/>
          </a:p>
        </p:txBody>
      </p:sp>
      <p:sp>
        <p:nvSpPr>
          <p:cNvPr id="4" name="Shape 2"/>
          <p:cNvSpPr/>
          <p:nvPr/>
        </p:nvSpPr>
        <p:spPr>
          <a:xfrm>
            <a:off x="548640" y="2139696"/>
            <a:ext cx="1463040" cy="1097280"/>
          </a:xfrm>
          <a:prstGeom prst="roundRect">
            <a:avLst>
              <a:gd name="adj" fmla="val 5000"/>
            </a:avLst>
          </a:prstGeom>
          <a:solidFill>
            <a:srgbClr val="0E2A47"/>
          </a:solidFill>
          <a:ln w="12700">
            <a:solidFill>
              <a:srgbClr val="2A4A68"/>
            </a:solidFill>
            <a:prstDash val="solid"/>
          </a:ln>
        </p:spPr>
      </p:sp>
      <p:sp>
        <p:nvSpPr>
          <p:cNvPr id="5" name="Text 3"/>
          <p:cNvSpPr/>
          <p:nvPr/>
        </p:nvSpPr>
        <p:spPr>
          <a:xfrm>
            <a:off x="548640" y="2267712"/>
            <a:ext cx="1463040" cy="310896"/>
          </a:xfrm>
          <a:prstGeom prst="rect">
            <a:avLst/>
          </a:prstGeom>
          <a:noFill/>
          <a:ln/>
        </p:spPr>
        <p:txBody>
          <a:bodyPr wrap="square" lIns="0" tIns="0" rIns="0" bIns="0"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F0</a:t>
            </a:r>
            <a:endParaRPr lang="en-US" sz="1800" dirty="0"/>
          </a:p>
        </p:txBody>
      </p:sp>
      <p:sp>
        <p:nvSpPr>
          <p:cNvPr id="6" name="Text 4"/>
          <p:cNvSpPr/>
          <p:nvPr/>
        </p:nvSpPr>
        <p:spPr>
          <a:xfrm>
            <a:off x="6217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Preparación</a:t>
            </a:r>
            <a:endParaRPr lang="en-US" sz="900" dirty="0"/>
          </a:p>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legal y datos</a:t>
            </a:r>
            <a:endParaRPr lang="en-US" sz="900" dirty="0"/>
          </a:p>
        </p:txBody>
      </p:sp>
      <p:sp>
        <p:nvSpPr>
          <p:cNvPr id="7" name="Shape 5"/>
          <p:cNvSpPr/>
          <p:nvPr/>
        </p:nvSpPr>
        <p:spPr>
          <a:xfrm>
            <a:off x="2039112" y="2688336"/>
            <a:ext cx="82296" cy="0"/>
          </a:xfrm>
          <a:prstGeom prst="line">
            <a:avLst/>
          </a:prstGeom>
          <a:noFill/>
          <a:ln w="25400">
            <a:solidFill>
              <a:srgbClr val="3F6484"/>
            </a:solidFill>
            <a:prstDash val="solid"/>
          </a:ln>
        </p:spPr>
      </p:sp>
      <p:sp>
        <p:nvSpPr>
          <p:cNvPr id="8" name="Shape 6"/>
          <p:cNvSpPr/>
          <p:nvPr/>
        </p:nvSpPr>
        <p:spPr>
          <a:xfrm>
            <a:off x="2148840" y="2139696"/>
            <a:ext cx="1463040" cy="1097280"/>
          </a:xfrm>
          <a:prstGeom prst="roundRect">
            <a:avLst>
              <a:gd name="adj" fmla="val 5000"/>
            </a:avLst>
          </a:prstGeom>
          <a:solidFill>
            <a:srgbClr val="0E2A47"/>
          </a:solidFill>
          <a:ln w="12700">
            <a:solidFill>
              <a:srgbClr val="2A4A68"/>
            </a:solidFill>
            <a:prstDash val="solid"/>
          </a:ln>
        </p:spPr>
      </p:sp>
      <p:sp>
        <p:nvSpPr>
          <p:cNvPr id="9" name="Text 7"/>
          <p:cNvSpPr/>
          <p:nvPr/>
        </p:nvSpPr>
        <p:spPr>
          <a:xfrm>
            <a:off x="2148840" y="2267712"/>
            <a:ext cx="1463040" cy="310896"/>
          </a:xfrm>
          <a:prstGeom prst="rect">
            <a:avLst/>
          </a:prstGeom>
          <a:noFill/>
          <a:ln/>
        </p:spPr>
        <p:txBody>
          <a:bodyPr wrap="square" lIns="0" tIns="0" rIns="0" bIns="0"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F1</a:t>
            </a:r>
            <a:endParaRPr lang="en-US" sz="1800" dirty="0"/>
          </a:p>
        </p:txBody>
      </p:sp>
      <p:sp>
        <p:nvSpPr>
          <p:cNvPr id="10" name="Text 8"/>
          <p:cNvSpPr/>
          <p:nvPr/>
        </p:nvSpPr>
        <p:spPr>
          <a:xfrm>
            <a:off x="22219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Núcleo y</a:t>
            </a:r>
            <a:endParaRPr lang="en-US" sz="900" dirty="0"/>
          </a:p>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canal de texto</a:t>
            </a:r>
            <a:endParaRPr lang="en-US" sz="900" dirty="0"/>
          </a:p>
        </p:txBody>
      </p:sp>
      <p:sp>
        <p:nvSpPr>
          <p:cNvPr id="11" name="Shape 9"/>
          <p:cNvSpPr/>
          <p:nvPr/>
        </p:nvSpPr>
        <p:spPr>
          <a:xfrm>
            <a:off x="3639312" y="2688336"/>
            <a:ext cx="82296" cy="0"/>
          </a:xfrm>
          <a:prstGeom prst="line">
            <a:avLst/>
          </a:prstGeom>
          <a:noFill/>
          <a:ln w="25400">
            <a:solidFill>
              <a:srgbClr val="3F6484"/>
            </a:solidFill>
            <a:prstDash val="solid"/>
          </a:ln>
        </p:spPr>
      </p:sp>
      <p:sp>
        <p:nvSpPr>
          <p:cNvPr id="12" name="Shape 10"/>
          <p:cNvSpPr/>
          <p:nvPr/>
        </p:nvSpPr>
        <p:spPr>
          <a:xfrm>
            <a:off x="3749040" y="2139696"/>
            <a:ext cx="1463040" cy="1097280"/>
          </a:xfrm>
          <a:prstGeom prst="roundRect">
            <a:avLst>
              <a:gd name="adj" fmla="val 5000"/>
            </a:avLst>
          </a:prstGeom>
          <a:solidFill>
            <a:srgbClr val="0E2A47"/>
          </a:solidFill>
          <a:ln w="12700">
            <a:solidFill>
              <a:srgbClr val="2A4A68"/>
            </a:solidFill>
            <a:prstDash val="solid"/>
          </a:ln>
        </p:spPr>
      </p:sp>
      <p:sp>
        <p:nvSpPr>
          <p:cNvPr id="13" name="Text 11"/>
          <p:cNvSpPr/>
          <p:nvPr/>
        </p:nvSpPr>
        <p:spPr>
          <a:xfrm>
            <a:off x="3749040" y="2267712"/>
            <a:ext cx="1463040" cy="310896"/>
          </a:xfrm>
          <a:prstGeom prst="rect">
            <a:avLst/>
          </a:prstGeom>
          <a:noFill/>
          <a:ln/>
        </p:spPr>
        <p:txBody>
          <a:bodyPr wrap="square" lIns="0" tIns="0" rIns="0" bIns="0"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F2</a:t>
            </a:r>
            <a:endParaRPr lang="en-US" sz="1800" dirty="0"/>
          </a:p>
        </p:txBody>
      </p:sp>
      <p:sp>
        <p:nvSpPr>
          <p:cNvPr id="14" name="Text 12"/>
          <p:cNvSpPr/>
          <p:nvPr/>
        </p:nvSpPr>
        <p:spPr>
          <a:xfrm>
            <a:off x="38221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Piloto en</a:t>
            </a:r>
            <a:endParaRPr lang="en-US" sz="900" dirty="0"/>
          </a:p>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una clínica</a:t>
            </a:r>
            <a:endParaRPr lang="en-US" sz="900" dirty="0"/>
          </a:p>
        </p:txBody>
      </p:sp>
      <p:sp>
        <p:nvSpPr>
          <p:cNvPr id="15" name="Shape 13"/>
          <p:cNvSpPr/>
          <p:nvPr/>
        </p:nvSpPr>
        <p:spPr>
          <a:xfrm>
            <a:off x="5239512" y="2688336"/>
            <a:ext cx="82296" cy="0"/>
          </a:xfrm>
          <a:prstGeom prst="line">
            <a:avLst/>
          </a:prstGeom>
          <a:noFill/>
          <a:ln w="25400">
            <a:solidFill>
              <a:srgbClr val="3F6484"/>
            </a:solidFill>
            <a:prstDash val="solid"/>
          </a:ln>
        </p:spPr>
      </p:sp>
      <p:sp>
        <p:nvSpPr>
          <p:cNvPr id="16" name="Shape 14"/>
          <p:cNvSpPr/>
          <p:nvPr/>
        </p:nvSpPr>
        <p:spPr>
          <a:xfrm>
            <a:off x="5349240" y="2139696"/>
            <a:ext cx="1463040" cy="1097280"/>
          </a:xfrm>
          <a:prstGeom prst="roundRect">
            <a:avLst>
              <a:gd name="adj" fmla="val 5000"/>
            </a:avLst>
          </a:prstGeom>
          <a:solidFill>
            <a:srgbClr val="00A896"/>
          </a:solidFill>
          <a:ln w="12700">
            <a:solidFill>
              <a:srgbClr val="00A896"/>
            </a:solidFill>
            <a:prstDash val="solid"/>
          </a:ln>
        </p:spPr>
      </p:sp>
      <p:sp>
        <p:nvSpPr>
          <p:cNvPr id="17" name="Text 15"/>
          <p:cNvSpPr/>
          <p:nvPr/>
        </p:nvSpPr>
        <p:spPr>
          <a:xfrm>
            <a:off x="5349240" y="2267712"/>
            <a:ext cx="1463040" cy="310896"/>
          </a:xfrm>
          <a:prstGeom prst="rect">
            <a:avLst/>
          </a:prstGeom>
          <a:noFill/>
          <a:ln/>
        </p:spPr>
        <p:txBody>
          <a:bodyPr wrap="square" lIns="0" tIns="0" rIns="0" bIns="0" rtlCol="0" anchor="ctr"/>
          <a:lstStyle/>
          <a:p>
            <a:pPr algn="ctr" indent="0" marL="0">
              <a:buNone/>
            </a:pPr>
            <a:r>
              <a:rPr lang="en-US" sz="1800" b="1" dirty="0">
                <a:solidFill>
                  <a:srgbClr val="07182A"/>
                </a:solidFill>
                <a:latin typeface="Cambria" pitchFamily="34" charset="0"/>
                <a:ea typeface="Cambria" pitchFamily="34" charset="-122"/>
                <a:cs typeface="Cambria" pitchFamily="34" charset="-120"/>
              </a:rPr>
              <a:t>F3</a:t>
            </a:r>
            <a:endParaRPr lang="en-US" sz="1800" dirty="0"/>
          </a:p>
        </p:txBody>
      </p:sp>
      <p:sp>
        <p:nvSpPr>
          <p:cNvPr id="18" name="Text 16"/>
          <p:cNvSpPr/>
          <p:nvPr/>
        </p:nvSpPr>
        <p:spPr>
          <a:xfrm>
            <a:off x="54223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07182A"/>
                </a:solidFill>
                <a:latin typeface="Calibri" pitchFamily="34" charset="0"/>
                <a:ea typeface="Calibri" pitchFamily="34" charset="-122"/>
                <a:cs typeface="Calibri" pitchFamily="34" charset="-120"/>
              </a:rPr>
              <a:t>Auditoría de</a:t>
            </a:r>
            <a:endParaRPr lang="en-US" sz="900" dirty="0"/>
          </a:p>
          <a:p>
            <a:pPr algn="ctr" indent="0" marL="0">
              <a:lnSpc>
                <a:spcPts val="1200"/>
              </a:lnSpc>
              <a:buNone/>
            </a:pPr>
            <a:r>
              <a:rPr lang="en-US" sz="900" dirty="0">
                <a:solidFill>
                  <a:srgbClr val="07182A"/>
                </a:solidFill>
                <a:latin typeface="Calibri" pitchFamily="34" charset="0"/>
                <a:ea typeface="Calibri" pitchFamily="34" charset="-122"/>
                <a:cs typeface="Calibri" pitchFamily="34" charset="-120"/>
              </a:rPr>
              <a:t>equidad de voz</a:t>
            </a:r>
            <a:endParaRPr lang="en-US" sz="900" dirty="0"/>
          </a:p>
        </p:txBody>
      </p:sp>
      <p:sp>
        <p:nvSpPr>
          <p:cNvPr id="19" name="Shape 17"/>
          <p:cNvSpPr/>
          <p:nvPr/>
        </p:nvSpPr>
        <p:spPr>
          <a:xfrm>
            <a:off x="6839712" y="2688336"/>
            <a:ext cx="82296" cy="0"/>
          </a:xfrm>
          <a:prstGeom prst="line">
            <a:avLst/>
          </a:prstGeom>
          <a:noFill/>
          <a:ln w="25400">
            <a:solidFill>
              <a:srgbClr val="3F6484"/>
            </a:solidFill>
            <a:prstDash val="solid"/>
          </a:ln>
        </p:spPr>
      </p:sp>
      <p:sp>
        <p:nvSpPr>
          <p:cNvPr id="20" name="Shape 18"/>
          <p:cNvSpPr/>
          <p:nvPr/>
        </p:nvSpPr>
        <p:spPr>
          <a:xfrm>
            <a:off x="6949440" y="2139696"/>
            <a:ext cx="1463040" cy="1097280"/>
          </a:xfrm>
          <a:prstGeom prst="roundRect">
            <a:avLst>
              <a:gd name="adj" fmla="val 5000"/>
            </a:avLst>
          </a:prstGeom>
          <a:solidFill>
            <a:srgbClr val="0E2A47"/>
          </a:solidFill>
          <a:ln w="12700">
            <a:solidFill>
              <a:srgbClr val="2A4A68"/>
            </a:solidFill>
            <a:prstDash val="solid"/>
          </a:ln>
        </p:spPr>
      </p:sp>
      <p:sp>
        <p:nvSpPr>
          <p:cNvPr id="21" name="Text 19"/>
          <p:cNvSpPr/>
          <p:nvPr/>
        </p:nvSpPr>
        <p:spPr>
          <a:xfrm>
            <a:off x="6949440" y="2267712"/>
            <a:ext cx="1463040" cy="310896"/>
          </a:xfrm>
          <a:prstGeom prst="rect">
            <a:avLst/>
          </a:prstGeom>
          <a:noFill/>
          <a:ln/>
        </p:spPr>
        <p:txBody>
          <a:bodyPr wrap="square" lIns="0" tIns="0" rIns="0" bIns="0"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F4</a:t>
            </a:r>
            <a:endParaRPr lang="en-US" sz="1800" dirty="0"/>
          </a:p>
        </p:txBody>
      </p:sp>
      <p:sp>
        <p:nvSpPr>
          <p:cNvPr id="22" name="Text 20"/>
          <p:cNvSpPr/>
          <p:nvPr/>
        </p:nvSpPr>
        <p:spPr>
          <a:xfrm>
            <a:off x="70225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Capa de</a:t>
            </a:r>
            <a:endParaRPr lang="en-US" sz="900" dirty="0"/>
          </a:p>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voz</a:t>
            </a:r>
            <a:endParaRPr lang="en-US" sz="900" dirty="0"/>
          </a:p>
        </p:txBody>
      </p:sp>
      <p:sp>
        <p:nvSpPr>
          <p:cNvPr id="23" name="Shape 21"/>
          <p:cNvSpPr/>
          <p:nvPr/>
        </p:nvSpPr>
        <p:spPr>
          <a:xfrm>
            <a:off x="8439912" y="2688336"/>
            <a:ext cx="82296" cy="0"/>
          </a:xfrm>
          <a:prstGeom prst="line">
            <a:avLst/>
          </a:prstGeom>
          <a:noFill/>
          <a:ln w="25400">
            <a:solidFill>
              <a:srgbClr val="3F6484"/>
            </a:solidFill>
            <a:prstDash val="solid"/>
          </a:ln>
        </p:spPr>
      </p:sp>
      <p:sp>
        <p:nvSpPr>
          <p:cNvPr id="24" name="Shape 22"/>
          <p:cNvSpPr/>
          <p:nvPr/>
        </p:nvSpPr>
        <p:spPr>
          <a:xfrm>
            <a:off x="8549640" y="2139696"/>
            <a:ext cx="1463040" cy="1097280"/>
          </a:xfrm>
          <a:prstGeom prst="roundRect">
            <a:avLst>
              <a:gd name="adj" fmla="val 5000"/>
            </a:avLst>
          </a:prstGeom>
          <a:solidFill>
            <a:srgbClr val="0E2A47"/>
          </a:solidFill>
          <a:ln w="12700">
            <a:solidFill>
              <a:srgbClr val="2A4A68"/>
            </a:solidFill>
            <a:prstDash val="solid"/>
          </a:ln>
        </p:spPr>
      </p:sp>
      <p:sp>
        <p:nvSpPr>
          <p:cNvPr id="25" name="Text 23"/>
          <p:cNvSpPr/>
          <p:nvPr/>
        </p:nvSpPr>
        <p:spPr>
          <a:xfrm>
            <a:off x="8549640" y="2267712"/>
            <a:ext cx="1463040" cy="310896"/>
          </a:xfrm>
          <a:prstGeom prst="rect">
            <a:avLst/>
          </a:prstGeom>
          <a:noFill/>
          <a:ln/>
        </p:spPr>
        <p:txBody>
          <a:bodyPr wrap="square" lIns="0" tIns="0" rIns="0" bIns="0"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F5</a:t>
            </a:r>
            <a:endParaRPr lang="en-US" sz="1800" dirty="0"/>
          </a:p>
        </p:txBody>
      </p:sp>
      <p:sp>
        <p:nvSpPr>
          <p:cNvPr id="26" name="Text 24"/>
          <p:cNvSpPr/>
          <p:nvPr/>
        </p:nvSpPr>
        <p:spPr>
          <a:xfrm>
            <a:off x="86227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Estandari-</a:t>
            </a:r>
            <a:endParaRPr lang="en-US" sz="900" dirty="0"/>
          </a:p>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zación</a:t>
            </a:r>
            <a:endParaRPr lang="en-US" sz="900" dirty="0"/>
          </a:p>
        </p:txBody>
      </p:sp>
      <p:sp>
        <p:nvSpPr>
          <p:cNvPr id="27" name="Shape 25"/>
          <p:cNvSpPr/>
          <p:nvPr/>
        </p:nvSpPr>
        <p:spPr>
          <a:xfrm>
            <a:off x="10040112" y="2688336"/>
            <a:ext cx="82296" cy="0"/>
          </a:xfrm>
          <a:prstGeom prst="line">
            <a:avLst/>
          </a:prstGeom>
          <a:noFill/>
          <a:ln w="25400">
            <a:solidFill>
              <a:srgbClr val="3F6484"/>
            </a:solidFill>
            <a:prstDash val="solid"/>
          </a:ln>
        </p:spPr>
      </p:sp>
      <p:sp>
        <p:nvSpPr>
          <p:cNvPr id="28" name="Shape 26"/>
          <p:cNvSpPr/>
          <p:nvPr/>
        </p:nvSpPr>
        <p:spPr>
          <a:xfrm>
            <a:off x="10149840" y="2139696"/>
            <a:ext cx="1463040" cy="1097280"/>
          </a:xfrm>
          <a:prstGeom prst="roundRect">
            <a:avLst>
              <a:gd name="adj" fmla="val 5000"/>
            </a:avLst>
          </a:prstGeom>
          <a:solidFill>
            <a:srgbClr val="0E2A47"/>
          </a:solidFill>
          <a:ln w="12700">
            <a:solidFill>
              <a:srgbClr val="2A4A68"/>
            </a:solidFill>
            <a:prstDash val="solid"/>
          </a:ln>
        </p:spPr>
      </p:sp>
      <p:sp>
        <p:nvSpPr>
          <p:cNvPr id="29" name="Text 27"/>
          <p:cNvSpPr/>
          <p:nvPr/>
        </p:nvSpPr>
        <p:spPr>
          <a:xfrm>
            <a:off x="10149840" y="2267712"/>
            <a:ext cx="1463040" cy="310896"/>
          </a:xfrm>
          <a:prstGeom prst="rect">
            <a:avLst/>
          </a:prstGeom>
          <a:noFill/>
          <a:ln/>
        </p:spPr>
        <p:txBody>
          <a:bodyPr wrap="square" lIns="0" tIns="0" rIns="0" bIns="0" rtlCol="0" anchor="ctr"/>
          <a:lstStyle/>
          <a:p>
            <a:pPr algn="ctr" indent="0" marL="0">
              <a:buNone/>
            </a:pPr>
            <a:r>
              <a:rPr lang="en-US" sz="1800" b="1" dirty="0">
                <a:solidFill>
                  <a:srgbClr val="00A896"/>
                </a:solidFill>
                <a:latin typeface="Cambria" pitchFamily="34" charset="0"/>
                <a:ea typeface="Cambria" pitchFamily="34" charset="-122"/>
                <a:cs typeface="Cambria" pitchFamily="34" charset="-120"/>
              </a:rPr>
              <a:t>F6</a:t>
            </a:r>
            <a:endParaRPr lang="en-US" sz="1800" dirty="0"/>
          </a:p>
        </p:txBody>
      </p:sp>
      <p:sp>
        <p:nvSpPr>
          <p:cNvPr id="30" name="Text 28"/>
          <p:cNvSpPr/>
          <p:nvPr/>
        </p:nvSpPr>
        <p:spPr>
          <a:xfrm>
            <a:off x="10222992" y="2596896"/>
            <a:ext cx="1316736" cy="566928"/>
          </a:xfrm>
          <a:prstGeom prst="rect">
            <a:avLst/>
          </a:prstGeom>
          <a:noFill/>
          <a:ln/>
        </p:spPr>
        <p:txBody>
          <a:bodyPr wrap="square" lIns="0" tIns="0" rIns="0" bIns="0" rtlCol="0" anchor="ctr"/>
          <a:lstStyle/>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Escala y</a:t>
            </a:r>
            <a:endParaRPr lang="en-US" sz="900" dirty="0"/>
          </a:p>
          <a:p>
            <a:pPr algn="ctr" indent="0" marL="0">
              <a:lnSpc>
                <a:spcPts val="1200"/>
              </a:lnSpc>
              <a:buNone/>
            </a:pPr>
            <a:r>
              <a:rPr lang="en-US" sz="900" dirty="0">
                <a:solidFill>
                  <a:srgbClr val="C6D6E2"/>
                </a:solidFill>
                <a:latin typeface="Calibri" pitchFamily="34" charset="0"/>
                <a:ea typeface="Calibri" pitchFamily="34" charset="-122"/>
                <a:cs typeface="Calibri" pitchFamily="34" charset="-120"/>
              </a:rPr>
              <a:t>revisión</a:t>
            </a:r>
            <a:endParaRPr lang="en-US" sz="900" dirty="0"/>
          </a:p>
        </p:txBody>
      </p:sp>
      <p:sp>
        <p:nvSpPr>
          <p:cNvPr id="31" name="Text 29"/>
          <p:cNvSpPr/>
          <p:nvPr/>
        </p:nvSpPr>
        <p:spPr>
          <a:xfrm>
            <a:off x="548640" y="3346704"/>
            <a:ext cx="11064240" cy="274320"/>
          </a:xfrm>
          <a:prstGeom prst="rect">
            <a:avLst/>
          </a:prstGeom>
          <a:noFill/>
          <a:ln/>
        </p:spPr>
        <p:txBody>
          <a:bodyPr wrap="square" lIns="0" tIns="0" rIns="0" bIns="0" rtlCol="0" anchor="ctr"/>
          <a:lstStyle/>
          <a:p>
            <a:pPr indent="0" marL="0">
              <a:buNone/>
            </a:pPr>
            <a:r>
              <a:rPr lang="en-US" sz="1100" i="1" dirty="0">
                <a:solidFill>
                  <a:srgbClr val="8FA8BC"/>
                </a:solidFill>
                <a:latin typeface="Calibri" pitchFamily="34" charset="0"/>
                <a:ea typeface="Calibri" pitchFamily="34" charset="-122"/>
                <a:cs typeface="Calibri" pitchFamily="34" charset="-120"/>
              </a:rPr>
              <a:t>Se despliega primero el canal de menor riesgo. La voz se activa cuando el núcleo está validado y la auditoría de equidad (F3) está cerrada.</a:t>
            </a:r>
            <a:endParaRPr lang="en-US" sz="1100" dirty="0"/>
          </a:p>
        </p:txBody>
      </p:sp>
      <p:sp>
        <p:nvSpPr>
          <p:cNvPr id="32" name="Shape 30"/>
          <p:cNvSpPr/>
          <p:nvPr/>
        </p:nvSpPr>
        <p:spPr>
          <a:xfrm>
            <a:off x="548640" y="3803904"/>
            <a:ext cx="3474720" cy="1298448"/>
          </a:xfrm>
          <a:prstGeom prst="roundRect">
            <a:avLst>
              <a:gd name="adj" fmla="val 4225"/>
            </a:avLst>
          </a:prstGeom>
          <a:solidFill>
            <a:srgbClr val="0E2A47"/>
          </a:solidFill>
          <a:ln w="12700">
            <a:solidFill>
              <a:srgbClr val="2A4A68"/>
            </a:solidFill>
            <a:prstDash val="solid"/>
          </a:ln>
        </p:spPr>
      </p:sp>
      <p:sp>
        <p:nvSpPr>
          <p:cNvPr id="33" name="Text 31"/>
          <p:cNvSpPr/>
          <p:nvPr/>
        </p:nvSpPr>
        <p:spPr>
          <a:xfrm>
            <a:off x="777240" y="3950208"/>
            <a:ext cx="3017520" cy="274320"/>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Eficiencia</a:t>
            </a:r>
            <a:endParaRPr lang="en-US" sz="1250" dirty="0"/>
          </a:p>
        </p:txBody>
      </p:sp>
      <p:sp>
        <p:nvSpPr>
          <p:cNvPr id="34" name="Text 32"/>
          <p:cNvSpPr/>
          <p:nvPr/>
        </p:nvSpPr>
        <p:spPr>
          <a:xfrm>
            <a:off x="777240" y="4242816"/>
            <a:ext cx="3017520" cy="731520"/>
          </a:xfrm>
          <a:prstGeom prst="rect">
            <a:avLst/>
          </a:prstGeom>
          <a:noFill/>
          <a:ln/>
        </p:spPr>
        <p:txBody>
          <a:bodyPr wrap="square" lIns="0" tIns="0" rIns="0" bIns="0" rtlCol="0" anchor="ctr"/>
          <a:lstStyle/>
          <a:p>
            <a:pPr indent="0" marL="0">
              <a:lnSpc>
                <a:spcPts val="1400"/>
              </a:lnSpc>
              <a:buNone/>
            </a:pPr>
            <a:r>
              <a:rPr lang="en-US" sz="1050" dirty="0">
                <a:solidFill>
                  <a:srgbClr val="C6D6E2"/>
                </a:solidFill>
                <a:latin typeface="Calibri" pitchFamily="34" charset="0"/>
                <a:ea typeface="Calibri" pitchFamily="34" charset="-122"/>
                <a:cs typeface="Calibri" pitchFamily="34" charset="-120"/>
              </a:rPr>
              <a:t>La latencia pasa de horas a segundos en ambos canales, y la confirmación sistemática recupera capacidad instalada ya pagada.</a:t>
            </a:r>
            <a:endParaRPr lang="en-US" sz="1050" dirty="0"/>
          </a:p>
        </p:txBody>
      </p:sp>
      <p:sp>
        <p:nvSpPr>
          <p:cNvPr id="35" name="Shape 33"/>
          <p:cNvSpPr/>
          <p:nvPr/>
        </p:nvSpPr>
        <p:spPr>
          <a:xfrm>
            <a:off x="4343400" y="3803904"/>
            <a:ext cx="3474720" cy="1298448"/>
          </a:xfrm>
          <a:prstGeom prst="roundRect">
            <a:avLst>
              <a:gd name="adj" fmla="val 4225"/>
            </a:avLst>
          </a:prstGeom>
          <a:solidFill>
            <a:srgbClr val="0E2A47"/>
          </a:solidFill>
          <a:ln w="12700">
            <a:solidFill>
              <a:srgbClr val="2A4A68"/>
            </a:solidFill>
            <a:prstDash val="solid"/>
          </a:ln>
        </p:spPr>
      </p:sp>
      <p:sp>
        <p:nvSpPr>
          <p:cNvPr id="36" name="Text 34"/>
          <p:cNvSpPr/>
          <p:nvPr/>
        </p:nvSpPr>
        <p:spPr>
          <a:xfrm>
            <a:off x="4572000" y="3950208"/>
            <a:ext cx="3017520" cy="274320"/>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Costo y escala</a:t>
            </a:r>
            <a:endParaRPr lang="en-US" sz="1250" dirty="0"/>
          </a:p>
        </p:txBody>
      </p:sp>
      <p:sp>
        <p:nvSpPr>
          <p:cNvPr id="37" name="Text 35"/>
          <p:cNvSpPr/>
          <p:nvPr/>
        </p:nvSpPr>
        <p:spPr>
          <a:xfrm>
            <a:off x="4572000" y="4242816"/>
            <a:ext cx="3017520" cy="731520"/>
          </a:xfrm>
          <a:prstGeom prst="rect">
            <a:avLst/>
          </a:prstGeom>
          <a:noFill/>
          <a:ln/>
        </p:spPr>
        <p:txBody>
          <a:bodyPr wrap="square" lIns="0" tIns="0" rIns="0" bIns="0" rtlCol="0" anchor="ctr"/>
          <a:lstStyle/>
          <a:p>
            <a:pPr indent="0" marL="0">
              <a:lnSpc>
                <a:spcPts val="1400"/>
              </a:lnSpc>
              <a:buNone/>
            </a:pPr>
            <a:r>
              <a:rPr lang="en-US" sz="1050" dirty="0">
                <a:solidFill>
                  <a:srgbClr val="C6D6E2"/>
                </a:solidFill>
                <a:latin typeface="Calibri" pitchFamily="34" charset="0"/>
                <a:ea typeface="Calibri" pitchFamily="34" charset="-122"/>
                <a:cs typeface="Calibri" pitchFamily="34" charset="-120"/>
              </a:rPr>
              <a:t>Se amplía la capacidad de atención sin incorporar personal; atender diez o cien contactos simultáneos es el mismo sistema.</a:t>
            </a:r>
            <a:endParaRPr lang="en-US" sz="1050" dirty="0"/>
          </a:p>
        </p:txBody>
      </p:sp>
      <p:sp>
        <p:nvSpPr>
          <p:cNvPr id="38" name="Shape 36"/>
          <p:cNvSpPr/>
          <p:nvPr/>
        </p:nvSpPr>
        <p:spPr>
          <a:xfrm>
            <a:off x="8138160" y="3803904"/>
            <a:ext cx="3474720" cy="1298448"/>
          </a:xfrm>
          <a:prstGeom prst="roundRect">
            <a:avLst>
              <a:gd name="adj" fmla="val 4225"/>
            </a:avLst>
          </a:prstGeom>
          <a:solidFill>
            <a:srgbClr val="0E2A47"/>
          </a:solidFill>
          <a:ln w="12700">
            <a:solidFill>
              <a:srgbClr val="2A4A68"/>
            </a:solidFill>
            <a:prstDash val="solid"/>
          </a:ln>
        </p:spPr>
      </p:sp>
      <p:sp>
        <p:nvSpPr>
          <p:cNvPr id="39" name="Text 37"/>
          <p:cNvSpPr/>
          <p:nvPr/>
        </p:nvSpPr>
        <p:spPr>
          <a:xfrm>
            <a:off x="8366760" y="3950208"/>
            <a:ext cx="3017520" cy="274320"/>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Decisión gerencial</a:t>
            </a:r>
            <a:endParaRPr lang="en-US" sz="1250" dirty="0"/>
          </a:p>
        </p:txBody>
      </p:sp>
      <p:sp>
        <p:nvSpPr>
          <p:cNvPr id="40" name="Text 38"/>
          <p:cNvSpPr/>
          <p:nvPr/>
        </p:nvSpPr>
        <p:spPr>
          <a:xfrm>
            <a:off x="8366760" y="4242816"/>
            <a:ext cx="3017520" cy="731520"/>
          </a:xfrm>
          <a:prstGeom prst="rect">
            <a:avLst/>
          </a:prstGeom>
          <a:noFill/>
          <a:ln/>
        </p:spPr>
        <p:txBody>
          <a:bodyPr wrap="square" lIns="0" tIns="0" rIns="0" bIns="0" rtlCol="0" anchor="ctr"/>
          <a:lstStyle/>
          <a:p>
            <a:pPr indent="0" marL="0">
              <a:lnSpc>
                <a:spcPts val="1400"/>
              </a:lnSpc>
              <a:buNone/>
            </a:pPr>
            <a:r>
              <a:rPr lang="en-US" sz="1050" dirty="0">
                <a:solidFill>
                  <a:srgbClr val="C6D6E2"/>
                </a:solidFill>
                <a:latin typeface="Calibri" pitchFamily="34" charset="0"/>
                <a:ea typeface="Calibri" pitchFamily="34" charset="-122"/>
                <a:cs typeface="Calibri" pitchFamily="34" charset="-120"/>
              </a:rPr>
              <a:t>El sistema no produce texto: produce un indicador que la dirección contrasta con su propia agenda.</a:t>
            </a:r>
            <a:endParaRPr lang="en-US" sz="1050" dirty="0"/>
          </a:p>
        </p:txBody>
      </p:sp>
      <p:sp>
        <p:nvSpPr>
          <p:cNvPr id="41" name="Text 39"/>
          <p:cNvSpPr/>
          <p:nvPr/>
        </p:nvSpPr>
        <p:spPr>
          <a:xfrm>
            <a:off x="548640" y="5230368"/>
            <a:ext cx="11064240" cy="457200"/>
          </a:xfrm>
          <a:prstGeom prst="rect">
            <a:avLst/>
          </a:prstGeom>
          <a:noFill/>
          <a:ln/>
        </p:spPr>
        <p:txBody>
          <a:bodyPr wrap="square" lIns="0" tIns="0" rIns="0" bIns="0" rtlCol="0" anchor="ctr"/>
          <a:lstStyle/>
          <a:p>
            <a:pPr indent="0" marL="0">
              <a:lnSpc>
                <a:spcPts val="1400"/>
              </a:lnSpc>
              <a:buNone/>
            </a:pPr>
            <a:r>
              <a:rPr lang="en-US" sz="1050" dirty="0">
                <a:solidFill>
                  <a:srgbClr val="7A93A8"/>
                </a:solidFill>
                <a:latin typeface="Calibri" pitchFamily="34" charset="0"/>
                <a:ea typeface="Calibri" pitchFamily="34" charset="-122"/>
                <a:cs typeface="Calibri" pitchFamily="34" charset="-120"/>
              </a:rPr>
              <a:t>No se presentan cifras de retorno proyectadas: usar el dato de quien vende la solución para justificar la solución es un razonamiento circular. La cuantificación se obtiene en el piloto, midiendo con la agenda de la clínica antes y después.</a:t>
            </a:r>
            <a:endParaRPr lang="en-US" sz="1050" dirty="0"/>
          </a:p>
        </p:txBody>
      </p:sp>
      <p:sp>
        <p:nvSpPr>
          <p:cNvPr id="42" name="Shape 40"/>
          <p:cNvSpPr/>
          <p:nvPr/>
        </p:nvSpPr>
        <p:spPr>
          <a:xfrm>
            <a:off x="548640" y="5870448"/>
            <a:ext cx="11064240" cy="0"/>
          </a:xfrm>
          <a:prstGeom prst="line">
            <a:avLst/>
          </a:prstGeom>
          <a:noFill/>
          <a:ln w="12700">
            <a:solidFill>
              <a:srgbClr val="2A4A68"/>
            </a:solidFill>
            <a:prstDash val="solid"/>
          </a:ln>
        </p:spPr>
      </p:sp>
      <p:sp>
        <p:nvSpPr>
          <p:cNvPr id="43" name="Text 41"/>
          <p:cNvSpPr/>
          <p:nvPr/>
        </p:nvSpPr>
        <p:spPr>
          <a:xfrm>
            <a:off x="548640" y="5989320"/>
            <a:ext cx="731520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El sistema vende citas, no medicina.</a:t>
            </a:r>
            <a:endParaRPr lang="en-US" sz="2400" dirty="0"/>
          </a:p>
        </p:txBody>
      </p:sp>
      <p:sp>
        <p:nvSpPr>
          <p:cNvPr id="44" name="Text 42"/>
          <p:cNvSpPr/>
          <p:nvPr/>
        </p:nvSpPr>
        <p:spPr>
          <a:xfrm>
            <a:off x="8686800" y="6053328"/>
            <a:ext cx="2926080" cy="384048"/>
          </a:xfrm>
          <a:prstGeom prst="rect">
            <a:avLst/>
          </a:prstGeom>
          <a:noFill/>
          <a:ln/>
        </p:spPr>
        <p:txBody>
          <a:bodyPr wrap="square" lIns="0" tIns="0" rIns="0" bIns="0" rtlCol="0" anchor="ctr"/>
          <a:lstStyle/>
          <a:p>
            <a:pPr algn="r" indent="0" marL="0">
              <a:buNone/>
            </a:pPr>
            <a:r>
              <a:rPr lang="en-US" sz="1700" i="1" dirty="0">
                <a:solidFill>
                  <a:srgbClr val="00A896"/>
                </a:solidFill>
                <a:latin typeface="Cambria" pitchFamily="34" charset="0"/>
                <a:ea typeface="Cambria" pitchFamily="34" charset="-122"/>
                <a:cs typeface="Cambria" pitchFamily="34" charset="-120"/>
              </a:rPr>
              <a:t>Gracias.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Recepción-IA</dc:title>
  <dc:subject>PptxGenJS Presentation</dc:subject>
  <dc:creator>Auccapuclla García, Chirstiann Miguel · Cayao Fernández, Abner</dc:creator>
  <cp:lastModifiedBy>Auccapuclla García, Chirstiann Miguel · Cayao Fernández, Abner</cp:lastModifiedBy>
  <cp:revision>1</cp:revision>
  <dcterms:created xsi:type="dcterms:W3CDTF">2026-08-04T20:58:57Z</dcterms:created>
  <dcterms:modified xsi:type="dcterms:W3CDTF">2026-08-04T20:58:57Z</dcterms:modified>
</cp:coreProperties>
</file>